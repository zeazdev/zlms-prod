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8" r:id="rId3"/>
    <p:sldId id="270" r:id="rId4"/>
    <p:sldId id="273" r:id="rId5"/>
    <p:sldId id="277" r:id="rId6"/>
    <p:sldId id="278" r:id="rId7"/>
    <p:sldId id="303" r:id="rId8"/>
    <p:sldId id="301" r:id="rId9"/>
    <p:sldId id="300" r:id="rId10"/>
    <p:sldId id="302" r:id="rId11"/>
    <p:sldId id="265" r:id="rId12"/>
    <p:sldId id="276" r:id="rId13"/>
    <p:sldId id="284" r:id="rId14"/>
    <p:sldId id="286" r:id="rId15"/>
    <p:sldId id="296" r:id="rId16"/>
    <p:sldId id="290" r:id="rId17"/>
    <p:sldId id="289" r:id="rId18"/>
    <p:sldId id="308" r:id="rId19"/>
    <p:sldId id="304" r:id="rId20"/>
    <p:sldId id="305" r:id="rId21"/>
    <p:sldId id="306" r:id="rId22"/>
    <p:sldId id="307" r:id="rId23"/>
    <p:sldId id="291" r:id="rId24"/>
    <p:sldId id="292" r:id="rId25"/>
    <p:sldId id="297" r:id="rId26"/>
    <p:sldId id="298" r:id="rId27"/>
    <p:sldId id="299" r:id="rId28"/>
    <p:sldId id="285" r:id="rId29"/>
    <p:sldId id="287" r:id="rId30"/>
    <p:sldId id="288" r:id="rId31"/>
    <p:sldId id="279" r:id="rId32"/>
    <p:sldId id="293" r:id="rId33"/>
    <p:sldId id="281" r:id="rId34"/>
    <p:sldId id="282" r:id="rId35"/>
    <p:sldId id="274" r:id="rId36"/>
    <p:sldId id="275" r:id="rId37"/>
    <p:sldId id="295" r:id="rId38"/>
    <p:sldId id="28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97103C-830D-4A85-9235-373ECBC37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2" y="1295400"/>
            <a:ext cx="8915399" cy="2262781"/>
          </a:xfrm>
        </p:spPr>
        <p:txBody>
          <a:bodyPr>
            <a:normAutofit/>
          </a:bodyPr>
          <a:lstStyle/>
          <a:p>
            <a:r>
              <a:rPr lang="th-TH" sz="6000" b="1" dirty="0">
                <a:cs typeface="TH Sarabun New" panose="020B0500040200020003"/>
              </a:rPr>
              <a:t>ระบบเทคโนโลยีบริหารจัดการเรียนรู้ของกองบัญชาการ</a:t>
            </a:r>
            <a:r>
              <a:rPr lang="th-TH" sz="6000" b="1" dirty="0" smtClean="0">
                <a:cs typeface="TH Sarabun New" panose="020B0500040200020003"/>
              </a:rPr>
              <a:t>ศึกษา (</a:t>
            </a:r>
            <a:r>
              <a:rPr lang="en-US" sz="6000" b="1" dirty="0" smtClean="0">
                <a:cs typeface="TH Sarabun New" panose="020B0500040200020003"/>
              </a:rPr>
              <a:t>LMS</a:t>
            </a:r>
            <a:r>
              <a:rPr lang="th-TH" sz="6000" b="1" dirty="0" smtClean="0">
                <a:cs typeface="TH Sarabun New" panose="020B0500040200020003"/>
              </a:rPr>
              <a:t>)</a:t>
            </a:r>
            <a:endParaRPr lang="en-US" sz="6000" b="1" dirty="0">
              <a:latin typeface="TH Sarabun New" panose="020B0500040200020003" pitchFamily="34" charset="-34"/>
              <a:cs typeface="TH Sarabun New" panose="020B0500040200020003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8162996-86D5-436A-92E2-54C3C004D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441" y="4843655"/>
            <a:ext cx="5588502" cy="143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85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D57901-0EA3-4845-860E-C9DA0FCEC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th-TH" sz="4400" b="1" dirty="0"/>
              <a:t>ระบบเทคโนโลยีบริหารจัดการเรียนรู้ของกองบัญชาการศึกษา</a:t>
            </a:r>
            <a:endParaRPr lang="en-US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B858DF-DA11-4F52-9603-787EAA0D2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h-TH" sz="2800" dirty="0"/>
              <a:t>ระบบบริหารจัดการข้อมูลทะเบียนสมาชิก</a:t>
            </a:r>
          </a:p>
          <a:p>
            <a:r>
              <a:rPr lang="th-TH" sz="2800" dirty="0"/>
              <a:t>ระบบบริหารจัดการหลักสูตรและโครงการฝึกอบรม</a:t>
            </a:r>
          </a:p>
          <a:p>
            <a:r>
              <a:rPr lang="th-TH" sz="2800" dirty="0"/>
              <a:t>ระบบคลังข้อสอบ</a:t>
            </a:r>
          </a:p>
          <a:p>
            <a:r>
              <a:rPr lang="th-TH" sz="2800" dirty="0"/>
              <a:t>ระบบประเมินและวัดผลความรู้</a:t>
            </a:r>
            <a:endParaRPr lang="en-US" sz="2800" dirty="0"/>
          </a:p>
          <a:p>
            <a:r>
              <a:rPr lang="th-TH" sz="2800" dirty="0"/>
              <a:t>ระบบการออกใบประกาศนียบัตร</a:t>
            </a:r>
          </a:p>
          <a:p>
            <a:r>
              <a:rPr lang="th-TH" sz="2800" dirty="0"/>
              <a:t>ระบบประเมินคุณภาพการศึกษา</a:t>
            </a:r>
          </a:p>
          <a:p>
            <a:r>
              <a:rPr lang="th-TH" sz="2800" dirty="0"/>
              <a:t>ระบบจัดการหนังสืออิเล็กทรอนิกส์</a:t>
            </a:r>
            <a:endParaRPr lang="en-US" sz="2800" dirty="0"/>
          </a:p>
          <a:p>
            <a:r>
              <a:rPr lang="th-TH" sz="2800" dirty="0"/>
              <a:t>ระบบจัดการสื่อภาพเคลื่อนไหว</a:t>
            </a:r>
            <a:endParaRPr lang="en-US" sz="2800" dirty="0"/>
          </a:p>
          <a:p>
            <a:pPr marL="0" indent="0">
              <a:buNone/>
            </a:pPr>
            <a:endParaRPr lang="en-US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04191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4400" b="1" dirty="0"/>
              <a:t>ระบบเทคโนโลยีบริหารจัดการเรียนรู้ของกองบัญชาการศึกษา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2600" dirty="0"/>
              <a:t>ระบบจัดการองค์ความรู้ (</a:t>
            </a:r>
            <a:r>
              <a:rPr lang="en-US" sz="2600" dirty="0"/>
              <a:t>Knowledge Management</a:t>
            </a:r>
            <a:r>
              <a:rPr lang="th-TH" sz="2600" dirty="0"/>
              <a:t>)</a:t>
            </a:r>
          </a:p>
          <a:p>
            <a:r>
              <a:rPr lang="th-TH" sz="2600" dirty="0"/>
              <a:t>ระบบตรวจสอบสถานะเครื่องคอมพิวเตอร์ของผู้เรียน</a:t>
            </a:r>
            <a:endParaRPr lang="en-US" sz="26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64683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 smtClean="0"/>
              <a:t>แผนการอบรม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 smtClean="0"/>
              <a:t>เรียนรู้ภาพรวมระบบ </a:t>
            </a:r>
            <a:r>
              <a:rPr lang="en-US" dirty="0" smtClean="0"/>
              <a:t>LMS</a:t>
            </a:r>
          </a:p>
          <a:p>
            <a:r>
              <a:rPr lang="th-TH" dirty="0" smtClean="0"/>
              <a:t>การสร้างผู้ใช้งาน</a:t>
            </a:r>
          </a:p>
          <a:p>
            <a:r>
              <a:rPr lang="th-TH" dirty="0" smtClean="0"/>
              <a:t>การบริหารจัดการข้อมูลการประกันผ่านระบบ</a:t>
            </a:r>
            <a:r>
              <a:rPr lang="en-US" dirty="0" smtClean="0"/>
              <a:t> LMS</a:t>
            </a:r>
          </a:p>
          <a:p>
            <a:r>
              <a:rPr lang="th-TH" dirty="0" smtClean="0"/>
              <a:t>การบันทึกข้อมูล ผ่านระบบ </a:t>
            </a:r>
            <a:r>
              <a:rPr lang="en-US" dirty="0" smtClean="0"/>
              <a:t>LMS</a:t>
            </a:r>
            <a:endParaRPr lang="th-TH" dirty="0" smtClean="0"/>
          </a:p>
          <a:p>
            <a:r>
              <a:rPr lang="th-TH" dirty="0" smtClean="0"/>
              <a:t>การให้คะแนนประเมิณตนเอง</a:t>
            </a:r>
          </a:p>
          <a:p>
            <a:r>
              <a:rPr lang="th-TH" dirty="0" smtClean="0"/>
              <a:t>การดูผลจากผู้ประเมิณ</a:t>
            </a:r>
          </a:p>
          <a:p>
            <a:endParaRPr lang="th-TH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297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6319" y="0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th-TH" dirty="0"/>
              <a:t>ภาพรวมระบบ </a:t>
            </a:r>
            <a:r>
              <a:rPr lang="en-US" dirty="0"/>
              <a:t>LMS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396" y="795728"/>
            <a:ext cx="7364626" cy="5597117"/>
          </a:xfrm>
        </p:spPr>
      </p:pic>
    </p:spTree>
    <p:extLst>
      <p:ext uri="{BB962C8B-B14F-4D97-AF65-F5344CB8AC3E}">
        <p14:creationId xmlns:p14="http://schemas.microsoft.com/office/powerpoint/2010/main" val="1636412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6406" y="154553"/>
            <a:ext cx="8911687" cy="1280890"/>
          </a:xfrm>
        </p:spPr>
        <p:txBody>
          <a:bodyPr/>
          <a:lstStyle/>
          <a:p>
            <a:r>
              <a:rPr lang="th-TH" dirty="0"/>
              <a:t>ภาพรวมระบบ </a:t>
            </a:r>
            <a:r>
              <a:rPr lang="en-US" dirty="0"/>
              <a:t>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3309" y="1435443"/>
            <a:ext cx="8915400" cy="3777622"/>
          </a:xfrm>
        </p:spPr>
        <p:txBody>
          <a:bodyPr/>
          <a:lstStyle/>
          <a:p>
            <a:r>
              <a:rPr lang="th-TH" dirty="0" smtClean="0"/>
              <a:t>การสร้าง </a:t>
            </a:r>
            <a:r>
              <a:rPr lang="en-US" dirty="0" smtClean="0"/>
              <a:t>Courseware</a:t>
            </a:r>
          </a:p>
          <a:p>
            <a:r>
              <a:rPr lang="th-TH" dirty="0" smtClean="0"/>
              <a:t>การสร้างข้อสอบ</a:t>
            </a:r>
          </a:p>
          <a:p>
            <a:r>
              <a:rPr lang="th-TH" dirty="0" smtClean="0"/>
              <a:t>แบบทดสอบ</a:t>
            </a:r>
            <a:endParaRPr lang="en-US" dirty="0" smtClean="0"/>
          </a:p>
          <a:p>
            <a:r>
              <a:rPr lang="th-TH" dirty="0" smtClean="0"/>
              <a:t>แผนการสอน</a:t>
            </a:r>
          </a:p>
          <a:p>
            <a:r>
              <a:rPr lang="th-TH" dirty="0" smtClean="0"/>
              <a:t>เอกสารประกอบการเรียน</a:t>
            </a:r>
          </a:p>
          <a:p>
            <a:r>
              <a:rPr lang="th-TH" dirty="0" smtClean="0"/>
              <a:t>แหล่งค้นคว้าเพิ่มเติม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14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3980"/>
            <a:ext cx="8911687" cy="1280890"/>
          </a:xfrm>
        </p:spPr>
        <p:txBody>
          <a:bodyPr/>
          <a:lstStyle/>
          <a:p>
            <a:r>
              <a:rPr lang="th-TH" dirty="0" smtClean="0"/>
              <a:t>ระบบประเมิณตนเองผ่านระบบ </a:t>
            </a:r>
            <a:r>
              <a:rPr lang="en-US" dirty="0" smtClean="0"/>
              <a:t>LMS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7513" y="1328643"/>
            <a:ext cx="5606833" cy="483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1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ทางเข้า </a:t>
            </a:r>
            <a:r>
              <a:rPr lang="en-US" dirty="0" smtClean="0"/>
              <a:t>WEB LMS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dirty="0" smtClean="0"/>
              <a:t>WWW.PEB-LMS.COM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603004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147765"/>
              </p:ext>
            </p:extLst>
          </p:nvPr>
        </p:nvGraphicFramePr>
        <p:xfrm>
          <a:off x="2636108" y="164768"/>
          <a:ext cx="7809470" cy="6555465"/>
        </p:xfrm>
        <a:graphic>
          <a:graphicData uri="http://schemas.openxmlformats.org/drawingml/2006/table">
            <a:tbl>
              <a:tblPr/>
              <a:tblGrid>
                <a:gridCol w="2557487"/>
                <a:gridCol w="1671499"/>
                <a:gridCol w="3580484"/>
              </a:tblGrid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UserName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Password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ชื่อหน่วย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QA_training1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ศูนย์ฝึกอบรมตำรวจภูธรภาค 1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QA_training2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ศูนย์ฝึกอบรมตำรวจภูธรภาค 2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QA_training3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ศูนย์ฝึกอบรมตำรวจภูธรภาค 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QA_training4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ศูนย์ฝึกอบรมตำรวจภูธรภาค 4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QA_training5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ศูนย์ฝึกอบรมตำรวจภูธรภาค 5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QA_training6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ศูนย์ฝึกอบรมตำรวจภูธรภาค 6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QA_training7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ศูนย์ฝึกอบรมตำรวจภูธรภาค 7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QA_training8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ศูนย์ฝึกอบรมตำรวจภูธรภาค 8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QA_training9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ศูนย์ฝึกอบรมตำรวจภูธรภาค 9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QA_Central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กองบังคับการฝึกอบรมตำรวจกลาง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QA_Sub-Division1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กองกำกับการ ๑ กองบังคับการฝึกพิเศษ 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QA_Sub-Division2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กองกำกับการ ๒ กองบังคับการฝึกพิเศษ 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QA_Sub-Division3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กองกำกับการ ๓ กองบังคับการฝึกพิเศษ 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QA_Sub-Division4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กองกำกับการ ๔  กองบังคับการฝึกพิเศษ 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QA_Sub-Division5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กองกำกับการ ๕ กองบังคับการฝึกพิเศษ 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QA_Sub-Division6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กองกำกับการ ๖ กองบังคับการฝึกพิเศษ 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QA_Sub-Division7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กองกำกับการ ๗ กองบังคับการฝึกพิเศษ 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QA_Sub-Division8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กองกำกับการ ๘ กองบังคับการฝึกพิเศษ 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QA_Sub-Division9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กองกำกับการ ๙ กองบังคับการฝึกพิเศษ 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92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QA_Sub-Division4_Air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QA_123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กองกำกับการ ๔ กองบังคับการสนับสนุนทางอากาศ </a:t>
                      </a:r>
                    </a:p>
                  </a:txBody>
                  <a:tcPr marL="7365" marR="7365" marT="73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608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หน้า </a:t>
            </a:r>
            <a:r>
              <a:rPr lang="en-US" dirty="0" smtClean="0"/>
              <a:t>Login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027" y="2133600"/>
            <a:ext cx="5305771" cy="3778250"/>
          </a:xfrm>
        </p:spPr>
      </p:pic>
    </p:spTree>
    <p:extLst>
      <p:ext uri="{BB962C8B-B14F-4D97-AF65-F5344CB8AC3E}">
        <p14:creationId xmlns:p14="http://schemas.microsoft.com/office/powerpoint/2010/main" val="611968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D57901-0EA3-4845-860E-C9DA0FCEC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th-TH" sz="4400" b="1" dirty="0"/>
              <a:t>ระบบประกันคุณภาพ</a:t>
            </a:r>
            <a:r>
              <a:rPr lang="th-TH" sz="4400" b="1" dirty="0" smtClean="0"/>
              <a:t>การศึกษา </a:t>
            </a:r>
            <a:r>
              <a:rPr lang="en-US" sz="4400" b="1" dirty="0" smtClean="0"/>
              <a:t>(LMS)</a:t>
            </a:r>
            <a:endParaRPr lang="en-US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B858DF-DA11-4F52-9603-787EAA0D2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3600" dirty="0" smtClean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การประเมิณตนเอง</a:t>
            </a:r>
            <a:endParaRPr lang="en-US" sz="3600" dirty="0" smtClean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3600" dirty="0" smtClean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การแนบเอกสารส่งผู้ประเมิณ</a:t>
            </a:r>
          </a:p>
          <a:p>
            <a:r>
              <a:rPr lang="th-TH" sz="3600" dirty="0" smtClean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การสร้างแบบสอบถาม</a:t>
            </a:r>
            <a:endParaRPr lang="en-US" sz="3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4544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3984" y="105126"/>
            <a:ext cx="8911687" cy="1280890"/>
          </a:xfrm>
        </p:spPr>
        <p:txBody>
          <a:bodyPr>
            <a:normAutofit/>
          </a:bodyPr>
          <a:lstStyle/>
          <a:p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การประเมิณ</a:t>
            </a:r>
            <a:r>
              <a:rPr lang="th-TH" sz="4800" dirty="0" smtClean="0">
                <a:latin typeface="TH Sarabun New" panose="020B0500040200020003" pitchFamily="34" charset="-34"/>
                <a:cs typeface="TH Sarabun New" panose="020B0500040200020003" pitchFamily="34" charset="-34"/>
              </a:rPr>
              <a:t>ตนเอง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3984" y="1227438"/>
            <a:ext cx="8915400" cy="4983892"/>
          </a:xfrm>
        </p:spPr>
        <p:txBody>
          <a:bodyPr/>
          <a:lstStyle/>
          <a:p>
            <a:r>
              <a:rPr lang="th-TH" dirty="0" smtClean="0"/>
              <a:t>ผู้ประเมิณสามารถสร้างหัวข้อประเมิณผ่านทางระบบ</a:t>
            </a:r>
          </a:p>
          <a:p>
            <a:r>
              <a:rPr lang="th-TH" dirty="0" smtClean="0"/>
              <a:t>ผู้ถูกประเมิณใส่ผลการดำเนินงานเพื่อประเมิณตนเองตามหัวข้อที่ถูกกำหนดไว้</a:t>
            </a:r>
          </a:p>
          <a:p>
            <a:r>
              <a:rPr lang="th-TH" dirty="0"/>
              <a:t>ผู้ถูก</a:t>
            </a:r>
            <a:r>
              <a:rPr lang="th-TH" dirty="0" smtClean="0"/>
              <a:t>ประเมิณทำการ</a:t>
            </a:r>
            <a:r>
              <a:rPr lang="th-TH" dirty="0"/>
              <a:t>ประเมิณ</a:t>
            </a:r>
            <a:r>
              <a:rPr lang="th-TH" dirty="0" smtClean="0"/>
              <a:t>ตนเองโดยใส่คะแนนประเมิณในโปรแกรม</a:t>
            </a:r>
          </a:p>
          <a:p>
            <a:r>
              <a:rPr lang="th-TH" dirty="0" smtClean="0"/>
              <a:t>ผู้ประเมิณตรวจสอบการประเมิณตนเองและให้คะแนนของผู้ประเมิณ</a:t>
            </a:r>
          </a:p>
          <a:p>
            <a:r>
              <a:rPr lang="th-TH" dirty="0"/>
              <a:t>ผู้ถูก</a:t>
            </a:r>
            <a:r>
              <a:rPr lang="th-TH" dirty="0" smtClean="0"/>
              <a:t>ประเมิณสามารถดูคะแนนได้ทางระบบ </a:t>
            </a:r>
            <a:r>
              <a:rPr lang="en-US" dirty="0" smtClean="0"/>
              <a:t>Online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58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0547" y="96888"/>
            <a:ext cx="8911687" cy="1280890"/>
          </a:xfrm>
        </p:spPr>
        <p:txBody>
          <a:bodyPr>
            <a:normAutofit/>
          </a:bodyPr>
          <a:lstStyle/>
          <a:p>
            <a:r>
              <a:rPr lang="th-TH" dirty="0"/>
              <a:t>การศึกษาอบรมหลักสูตรประจำ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865" y="831850"/>
            <a:ext cx="10022395" cy="5774896"/>
          </a:xfrm>
        </p:spPr>
      </p:pic>
    </p:spTree>
    <p:extLst>
      <p:ext uri="{BB962C8B-B14F-4D97-AF65-F5344CB8AC3E}">
        <p14:creationId xmlns:p14="http://schemas.microsoft.com/office/powerpoint/2010/main" val="288718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800" y="96889"/>
            <a:ext cx="8911687" cy="1280890"/>
          </a:xfrm>
        </p:spPr>
        <p:txBody>
          <a:bodyPr/>
          <a:lstStyle/>
          <a:p>
            <a:r>
              <a:rPr lang="th-TH" dirty="0"/>
              <a:t>หลักสูตรประจำ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962" y="1223111"/>
            <a:ext cx="7685903" cy="5678439"/>
          </a:xfrm>
        </p:spPr>
      </p:pic>
    </p:spTree>
    <p:extLst>
      <p:ext uri="{BB962C8B-B14F-4D97-AF65-F5344CB8AC3E}">
        <p14:creationId xmlns:p14="http://schemas.microsoft.com/office/powerpoint/2010/main" val="189241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8125" y="96888"/>
            <a:ext cx="8911687" cy="1280890"/>
          </a:xfrm>
        </p:spPr>
        <p:txBody>
          <a:bodyPr/>
          <a:lstStyle/>
          <a:p>
            <a:r>
              <a:rPr lang="th-TH" dirty="0"/>
              <a:t>การบันทึกข้อมูล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4412" y="889686"/>
            <a:ext cx="8915400" cy="5519352"/>
          </a:xfrm>
        </p:spPr>
        <p:txBody>
          <a:bodyPr/>
          <a:lstStyle/>
          <a:p>
            <a:r>
              <a:rPr lang="th-TH" dirty="0" smtClean="0"/>
              <a:t>ระบบสามารถบันทึกรายละเอียดการประเมิณตนเอง</a:t>
            </a:r>
          </a:p>
          <a:p>
            <a:r>
              <a:rPr lang="th-TH" dirty="0" smtClean="0"/>
              <a:t>สามารถ</a:t>
            </a:r>
            <a:r>
              <a:rPr lang="th-TH" dirty="0"/>
              <a:t>แนบไฟล์เพื่อเป็นหลักฐานในการประเมิณได้</a:t>
            </a:r>
          </a:p>
          <a:p>
            <a:r>
              <a:rPr lang="th-TH" dirty="0"/>
              <a:t>ระบบจะช่วยคำนวนคะแนนในกรณีที่ข้อมูลเป็นแบบผลลัพธ์</a:t>
            </a:r>
          </a:p>
          <a:p>
            <a:endParaRPr lang="th-TH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823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9228" y="154554"/>
            <a:ext cx="8911687" cy="1280890"/>
          </a:xfrm>
        </p:spPr>
        <p:txBody>
          <a:bodyPr/>
          <a:lstStyle/>
          <a:p>
            <a:r>
              <a:rPr lang="th-TH" dirty="0" smtClean="0"/>
              <a:t>คะแนนการประเมิณตนเอง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19" y="794999"/>
            <a:ext cx="7663183" cy="5910702"/>
          </a:xfrm>
        </p:spPr>
      </p:pic>
    </p:spTree>
    <p:extLst>
      <p:ext uri="{BB962C8B-B14F-4D97-AF65-F5344CB8AC3E}">
        <p14:creationId xmlns:p14="http://schemas.microsoft.com/office/powerpoint/2010/main" val="225215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4514" y="72175"/>
            <a:ext cx="8911687" cy="1280890"/>
          </a:xfrm>
        </p:spPr>
        <p:txBody>
          <a:bodyPr/>
          <a:lstStyle/>
          <a:p>
            <a:r>
              <a:rPr lang="th-TH" dirty="0" smtClean="0"/>
              <a:t>คะแนนจากผู้ประเมิณ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213" y="1178011"/>
            <a:ext cx="7431528" cy="5541215"/>
          </a:xfrm>
        </p:spPr>
      </p:pic>
    </p:spTree>
    <p:extLst>
      <p:ext uri="{BB962C8B-B14F-4D97-AF65-F5344CB8AC3E}">
        <p14:creationId xmlns:p14="http://schemas.microsoft.com/office/powerpoint/2010/main" val="112199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รูปแบบการบันทึกข้อมูล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/>
              <a:t>ผลลัพธ์</a:t>
            </a:r>
          </a:p>
          <a:p>
            <a:r>
              <a:rPr lang="th-TH" dirty="0"/>
              <a:t>กระบวนการ</a:t>
            </a:r>
            <a:endParaRPr lang="en-US" dirty="0"/>
          </a:p>
          <a:p>
            <a:r>
              <a:rPr lang="th-TH" dirty="0"/>
              <a:t>กระบวนการ + ผลลัพธ์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325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8784" y="162791"/>
            <a:ext cx="8911687" cy="1280890"/>
          </a:xfrm>
        </p:spPr>
        <p:txBody>
          <a:bodyPr/>
          <a:lstStyle/>
          <a:p>
            <a:r>
              <a:rPr lang="th-TH" dirty="0" smtClean="0"/>
              <a:t>การกรอกข้อมูลบันทึกผล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071" y="889687"/>
            <a:ext cx="8915400" cy="5659394"/>
          </a:xfrm>
        </p:spPr>
        <p:txBody>
          <a:bodyPr/>
          <a:lstStyle/>
          <a:p>
            <a:r>
              <a:rPr lang="th-TH" b="1" dirty="0"/>
              <a:t>ตัวบ่งชี้ที่ ๑ ผู้ผ่านการทดสอบตามเกณฑ์มาตรฐานวิชาการ</a:t>
            </a:r>
            <a:endParaRPr lang="en-US" dirty="0"/>
          </a:p>
          <a:p>
            <a:pPr lvl="1"/>
            <a:r>
              <a:rPr lang="th-TH" b="1" dirty="0"/>
              <a:t>ชนิดของตัวบ่งชี้	</a:t>
            </a:r>
            <a:r>
              <a:rPr lang="en-US" dirty="0"/>
              <a:t>:	</a:t>
            </a:r>
            <a:r>
              <a:rPr lang="th-TH" dirty="0" smtClean="0"/>
              <a:t>ผลลัพธ์</a:t>
            </a:r>
          </a:p>
          <a:p>
            <a:r>
              <a:rPr lang="th-TH" b="1" dirty="0"/>
              <a:t>ตัวบ่งชี้ที่ ๒ ความพึงพอใจของผู้บังคับบัญชาหน่วยงานต้นสังกัดและผู้ที่เกี่ยวข้อง</a:t>
            </a:r>
            <a:endParaRPr lang="en-US" dirty="0"/>
          </a:p>
          <a:p>
            <a:pPr lvl="1"/>
            <a:r>
              <a:rPr lang="th-TH" b="1" dirty="0"/>
              <a:t>ชนิดของตัวบ่งชี้ </a:t>
            </a:r>
            <a:r>
              <a:rPr lang="en-US" b="1" dirty="0"/>
              <a:t>	</a:t>
            </a:r>
            <a:r>
              <a:rPr lang="en-US" dirty="0"/>
              <a:t>:	</a:t>
            </a:r>
            <a:r>
              <a:rPr lang="th-TH" dirty="0"/>
              <a:t>กระบวนการ </a:t>
            </a:r>
            <a:r>
              <a:rPr lang="en-US" dirty="0"/>
              <a:t>+ </a:t>
            </a:r>
            <a:r>
              <a:rPr lang="th-TH" dirty="0"/>
              <a:t>ผลลัพธ์</a:t>
            </a:r>
            <a:endParaRPr lang="en-US" dirty="0"/>
          </a:p>
          <a:p>
            <a:r>
              <a:rPr lang="th-TH" b="1" dirty="0"/>
              <a:t>ตัวบ่งชี้ที่  3  ผลการจัดการศึกษาอบรมที่เน้นผู้ศึกษาอบรมเป็นสำคัญ</a:t>
            </a:r>
            <a:endParaRPr lang="en-US" dirty="0"/>
          </a:p>
          <a:p>
            <a:pPr lvl="1"/>
            <a:r>
              <a:rPr lang="th-TH" b="1" dirty="0"/>
              <a:t>ชนิดของตัวบ่งชี้ </a:t>
            </a:r>
            <a:r>
              <a:rPr lang="en-US" b="1" dirty="0"/>
              <a:t>	</a:t>
            </a:r>
            <a:r>
              <a:rPr lang="en-US" dirty="0"/>
              <a:t>:</a:t>
            </a:r>
            <a:r>
              <a:rPr lang="th-TH" dirty="0"/>
              <a:t>	กระบวนการ</a:t>
            </a:r>
            <a:endParaRPr lang="en-US" dirty="0"/>
          </a:p>
          <a:p>
            <a:r>
              <a:rPr lang="th-TH" b="1" dirty="0"/>
              <a:t>ตัวบ่งชี้ที่  4  ความพึงพอใจของผู้ศึกษาอบรมที่มีต่อการจัดการฝึกอบรมตามหลักสูตรการฝึกอบรม</a:t>
            </a:r>
            <a:endParaRPr lang="en-US" dirty="0"/>
          </a:p>
          <a:p>
            <a:pPr lvl="1"/>
            <a:r>
              <a:rPr lang="th-TH" b="1" dirty="0"/>
              <a:t>ชนิดของตัวบ่งชี้ </a:t>
            </a:r>
            <a:r>
              <a:rPr lang="en-US" b="1" dirty="0"/>
              <a:t>	</a:t>
            </a:r>
            <a:r>
              <a:rPr lang="en-US" dirty="0"/>
              <a:t>:	</a:t>
            </a:r>
            <a:r>
              <a:rPr lang="th-TH" dirty="0"/>
              <a:t>ผลลัพธ์</a:t>
            </a:r>
            <a:endParaRPr lang="en-US" dirty="0"/>
          </a:p>
          <a:p>
            <a:endParaRPr lang="th-TH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692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8784" y="162791"/>
            <a:ext cx="8911687" cy="1280890"/>
          </a:xfrm>
        </p:spPr>
        <p:txBody>
          <a:bodyPr/>
          <a:lstStyle/>
          <a:p>
            <a:r>
              <a:rPr lang="th-TH" dirty="0" smtClean="0"/>
              <a:t>การกรอกข้อมูลบันทึกผล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071" y="889687"/>
            <a:ext cx="8915400" cy="5659394"/>
          </a:xfrm>
        </p:spPr>
        <p:txBody>
          <a:bodyPr/>
          <a:lstStyle/>
          <a:p>
            <a:r>
              <a:rPr lang="th-TH" b="1" dirty="0"/>
              <a:t>ตัวบ่งชี้ที่  5  ครู/อาจารย์ และครูฝึก ได้รับการเพิ่มพูนความรู้/ประสบการณ์</a:t>
            </a:r>
            <a:endParaRPr lang="en-US" dirty="0"/>
          </a:p>
          <a:p>
            <a:pPr lvl="1"/>
            <a:r>
              <a:rPr lang="th-TH" b="1" dirty="0"/>
              <a:t>ชนิดของตัวบ่งชี้</a:t>
            </a:r>
            <a:r>
              <a:rPr lang="en-US" dirty="0"/>
              <a:t>	:</a:t>
            </a:r>
            <a:r>
              <a:rPr lang="th-TH" dirty="0"/>
              <a:t>	ผลลัพธ์</a:t>
            </a:r>
            <a:endParaRPr lang="en-US" dirty="0"/>
          </a:p>
          <a:p>
            <a:r>
              <a:rPr lang="th-TH" b="1" dirty="0"/>
              <a:t>ตัวบ่งชี้ที่  6  งานวิจัย หรือนวัตกรรม หรือสิ่งประดิษฐ์</a:t>
            </a:r>
            <a:endParaRPr lang="en-US" dirty="0"/>
          </a:p>
          <a:p>
            <a:pPr lvl="1"/>
            <a:r>
              <a:rPr lang="th-TH" b="1" dirty="0"/>
              <a:t>ชนิดของตัวบ่งชี้ </a:t>
            </a:r>
            <a:r>
              <a:rPr lang="en-US" dirty="0"/>
              <a:t> :</a:t>
            </a:r>
            <a:r>
              <a:rPr lang="th-TH" dirty="0"/>
              <a:t>	กระบวนการ</a:t>
            </a:r>
            <a:endParaRPr lang="en-US" dirty="0"/>
          </a:p>
          <a:p>
            <a:r>
              <a:rPr lang="th-TH" b="1" dirty="0"/>
              <a:t>ตัวบ่งชี้ที่  7  ผลของการดำเนินโครงการบริการทางวิชาการและหรือวิชาชีพที่ตอบสนองความต้องการ พัฒนา และเสริมสร้างความเข้มแข็งของชุมชน สังคม ประเทศ</a:t>
            </a:r>
            <a:endParaRPr lang="en-US" dirty="0"/>
          </a:p>
          <a:p>
            <a:pPr lvl="1"/>
            <a:r>
              <a:rPr lang="th-TH" b="1" dirty="0"/>
              <a:t>ชนิดของตัวบ่งชี้ </a:t>
            </a:r>
            <a:r>
              <a:rPr lang="en-US" b="1" dirty="0"/>
              <a:t>	</a:t>
            </a:r>
            <a:r>
              <a:rPr lang="en-US" dirty="0"/>
              <a:t>:	</a:t>
            </a:r>
            <a:r>
              <a:rPr lang="th-TH" dirty="0"/>
              <a:t>กระบวนการ + ผลลัพธ์</a:t>
            </a:r>
            <a:endParaRPr lang="en-US" dirty="0"/>
          </a:p>
          <a:p>
            <a:r>
              <a:rPr lang="th-TH" b="1" dirty="0"/>
              <a:t>ตัวบ่งชี้ที่  8  ผลการพัฒนาบุคลากรของหน่วยศึกษาอบรม</a:t>
            </a:r>
            <a:endParaRPr lang="en-US" dirty="0"/>
          </a:p>
          <a:p>
            <a:pPr lvl="1"/>
            <a:r>
              <a:rPr lang="th-TH" b="1" dirty="0"/>
              <a:t>ชนิดของตัวบ่งชี้ </a:t>
            </a:r>
            <a:r>
              <a:rPr lang="en-US" b="1" dirty="0"/>
              <a:t>	</a:t>
            </a:r>
            <a:r>
              <a:rPr lang="en-US" dirty="0"/>
              <a:t>:</a:t>
            </a:r>
            <a:r>
              <a:rPr lang="th-TH" dirty="0"/>
              <a:t>	กระบวนการ + ผลลัพธ์</a:t>
            </a:r>
            <a:endParaRPr lang="en-US" dirty="0"/>
          </a:p>
          <a:p>
            <a:endParaRPr lang="th-TH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69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8784" y="162791"/>
            <a:ext cx="8911687" cy="1280890"/>
          </a:xfrm>
        </p:spPr>
        <p:txBody>
          <a:bodyPr/>
          <a:lstStyle/>
          <a:p>
            <a:r>
              <a:rPr lang="th-TH" dirty="0" smtClean="0"/>
              <a:t>การกรอกข้อมูลบันทึกผล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071" y="889687"/>
            <a:ext cx="8915400" cy="5659394"/>
          </a:xfrm>
        </p:spPr>
        <p:txBody>
          <a:bodyPr/>
          <a:lstStyle/>
          <a:p>
            <a:r>
              <a:rPr lang="th-TH" b="1" dirty="0"/>
              <a:t>ตัวบ่งชี้ที่  9  การบริหารความเสี่ยง</a:t>
            </a:r>
            <a:endParaRPr lang="en-US" dirty="0"/>
          </a:p>
          <a:p>
            <a:pPr lvl="1"/>
            <a:r>
              <a:rPr lang="th-TH" b="1" dirty="0"/>
              <a:t>ชนิดของตัวบ่งชี้ </a:t>
            </a:r>
            <a:r>
              <a:rPr lang="en-US" dirty="0"/>
              <a:t>	:</a:t>
            </a:r>
            <a:r>
              <a:rPr lang="th-TH" dirty="0"/>
              <a:t>	กระบวนการ</a:t>
            </a:r>
            <a:endParaRPr lang="en-US" dirty="0"/>
          </a:p>
          <a:p>
            <a:r>
              <a:rPr lang="th-TH" b="1" dirty="0"/>
              <a:t>ตัวบ่งชี้ที่  </a:t>
            </a:r>
            <a:r>
              <a:rPr lang="th-TH" b="1" dirty="0" smtClean="0"/>
              <a:t>๑</a:t>
            </a:r>
            <a:r>
              <a:rPr lang="th-TH" b="1" dirty="0"/>
              <a:t>๐</a:t>
            </a:r>
            <a:r>
              <a:rPr lang="th-TH" b="1" dirty="0" smtClean="0"/>
              <a:t>  </a:t>
            </a:r>
            <a:r>
              <a:rPr lang="th-TH" b="1" dirty="0"/>
              <a:t>ห้องสมุด อุปกรณ์การศึกษา และสภาพแวดล้อมการเรียนรู้ </a:t>
            </a:r>
            <a:endParaRPr lang="en-US" dirty="0"/>
          </a:p>
          <a:p>
            <a:pPr lvl="1"/>
            <a:r>
              <a:rPr lang="th-TH" b="1" dirty="0"/>
              <a:t>ชนิดของตัวบ่งชี้ </a:t>
            </a:r>
            <a:r>
              <a:rPr lang="en-US" b="1" dirty="0"/>
              <a:t>	</a:t>
            </a:r>
            <a:r>
              <a:rPr lang="en-US" dirty="0"/>
              <a:t>:	</a:t>
            </a:r>
            <a:r>
              <a:rPr lang="th-TH" dirty="0"/>
              <a:t>กระบวนการ</a:t>
            </a:r>
            <a:r>
              <a:rPr lang="th-TH" b="1" dirty="0"/>
              <a:t> </a:t>
            </a:r>
            <a:r>
              <a:rPr lang="th-TH" dirty="0"/>
              <a:t>+ ผลลัพธ์</a:t>
            </a:r>
            <a:endParaRPr lang="en-US" dirty="0"/>
          </a:p>
          <a:p>
            <a:r>
              <a:rPr lang="th-TH" b="1" dirty="0"/>
              <a:t>ตัวบ่งชี้ที่  11  การส่งเสริมและสนับสนุนด้านศิลปะและวัฒนธรรม</a:t>
            </a:r>
            <a:endParaRPr lang="en-US" dirty="0"/>
          </a:p>
          <a:p>
            <a:pPr lvl="1"/>
            <a:r>
              <a:rPr lang="th-TH" b="1" dirty="0"/>
              <a:t>ชนิดของตัวบ่งชี้ </a:t>
            </a:r>
            <a:r>
              <a:rPr lang="en-US" b="1" dirty="0"/>
              <a:t>	</a:t>
            </a:r>
            <a:r>
              <a:rPr lang="en-US" dirty="0"/>
              <a:t>:	</a:t>
            </a:r>
            <a:r>
              <a:rPr lang="th-TH" dirty="0"/>
              <a:t>กระบวนการ + ผลลัพธ์</a:t>
            </a:r>
            <a:endParaRPr lang="en-US" dirty="0"/>
          </a:p>
          <a:p>
            <a:r>
              <a:rPr lang="th-TH" b="1" dirty="0"/>
              <a:t>ตัวบ่งชี้ที่  ๑๒  ระบบและกลไกการประกันคุณภาพการศึกษาภายใน</a:t>
            </a:r>
            <a:endParaRPr lang="en-US" dirty="0"/>
          </a:p>
          <a:p>
            <a:r>
              <a:rPr lang="th-TH" b="1" dirty="0"/>
              <a:t>ชนิดของตัวบ่งชี้ </a:t>
            </a:r>
            <a:r>
              <a:rPr lang="en-US" b="1" dirty="0"/>
              <a:t>	</a:t>
            </a:r>
            <a:r>
              <a:rPr lang="en-US" dirty="0"/>
              <a:t>:</a:t>
            </a:r>
            <a:r>
              <a:rPr lang="th-TH" dirty="0"/>
              <a:t>	กระบวนการ</a:t>
            </a:r>
            <a:endParaRPr lang="en-US" dirty="0"/>
          </a:p>
          <a:p>
            <a:pPr marL="0" indent="0">
              <a:buNone/>
            </a:pPr>
            <a:endParaRPr lang="th-TH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774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8784" y="162791"/>
            <a:ext cx="8911687" cy="1280890"/>
          </a:xfrm>
        </p:spPr>
        <p:txBody>
          <a:bodyPr/>
          <a:lstStyle/>
          <a:p>
            <a:r>
              <a:rPr lang="th-TH" dirty="0" smtClean="0"/>
              <a:t>การกรอกข้อมูลบันทึกผล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071" y="889687"/>
            <a:ext cx="8915400" cy="5659394"/>
          </a:xfrm>
        </p:spPr>
        <p:txBody>
          <a:bodyPr/>
          <a:lstStyle/>
          <a:p>
            <a:r>
              <a:rPr lang="th-TH" b="1" dirty="0"/>
              <a:t>ตัวบ่งชี้ที่  </a:t>
            </a:r>
            <a:r>
              <a:rPr lang="th-TH" b="1" dirty="0" smtClean="0"/>
              <a:t>๑๓  </a:t>
            </a:r>
            <a:r>
              <a:rPr lang="th-TH" b="1" dirty="0"/>
              <a:t>อุปกรณ์เครื่องช่วยฝึก</a:t>
            </a:r>
            <a:endParaRPr lang="en-US" dirty="0"/>
          </a:p>
          <a:p>
            <a:pPr lvl="1"/>
            <a:r>
              <a:rPr lang="th-TH" b="1" dirty="0"/>
              <a:t>ชนิดของตัวบ่งชี้ </a:t>
            </a:r>
            <a:r>
              <a:rPr lang="en-US" b="1" dirty="0"/>
              <a:t>	</a:t>
            </a:r>
            <a:r>
              <a:rPr lang="en-US" dirty="0"/>
              <a:t>:</a:t>
            </a:r>
            <a:r>
              <a:rPr lang="th-TH" dirty="0"/>
              <a:t>	กระบวนการ</a:t>
            </a:r>
            <a:endParaRPr lang="en-US" dirty="0"/>
          </a:p>
          <a:p>
            <a:r>
              <a:rPr lang="th-TH" b="1" dirty="0"/>
              <a:t>ตัวบ่งชี้ที่  ๑๔  ความสำเร็จของการพัฒนาผู้ศึกษาอบรมตามอัตลักษณ์ที่หน่วยศึกษาอบรมกำหนด</a:t>
            </a:r>
            <a:endParaRPr lang="en-US" dirty="0"/>
          </a:p>
          <a:p>
            <a:pPr lvl="1"/>
            <a:r>
              <a:rPr lang="th-TH" b="1" dirty="0"/>
              <a:t>ชนิดของตัวบ่งชี้ </a:t>
            </a:r>
            <a:r>
              <a:rPr lang="en-US" b="1" dirty="0"/>
              <a:t>	</a:t>
            </a:r>
            <a:r>
              <a:rPr lang="en-US" dirty="0"/>
              <a:t>:</a:t>
            </a:r>
            <a:r>
              <a:rPr lang="th-TH" dirty="0"/>
              <a:t>	กระบวนการ</a:t>
            </a:r>
            <a:endParaRPr lang="en-US" dirty="0"/>
          </a:p>
          <a:p>
            <a:r>
              <a:rPr lang="th-TH" b="1" dirty="0"/>
              <a:t>ตัวบ่งชี้ที่  ๑๕  เอกลักษณ์หน่วยศึกษาอบรม</a:t>
            </a:r>
            <a:endParaRPr lang="en-US" dirty="0"/>
          </a:p>
          <a:p>
            <a:pPr lvl="1"/>
            <a:r>
              <a:rPr lang="th-TH" b="1" dirty="0"/>
              <a:t>ชนิดของตัวบ่งชี้ </a:t>
            </a:r>
            <a:r>
              <a:rPr lang="en-US" b="1" dirty="0"/>
              <a:t>	:	</a:t>
            </a:r>
            <a:r>
              <a:rPr lang="th-TH" dirty="0"/>
              <a:t>กระบวนการ</a:t>
            </a:r>
            <a:endParaRPr lang="en-US" dirty="0"/>
          </a:p>
          <a:p>
            <a:r>
              <a:rPr lang="th-TH" b="1" dirty="0"/>
              <a:t>ตัวบ่งชี้ที่  ๑๖  ความสำเร็จของโครงการหรือกิจกรรมที่หน่วยศึกษาอบรมชี้นำ ป้องกัน หรือแก้ปัญหาของสังคม</a:t>
            </a:r>
            <a:endParaRPr lang="en-US" dirty="0"/>
          </a:p>
          <a:p>
            <a:pPr lvl="1"/>
            <a:r>
              <a:rPr lang="th-TH" b="1" dirty="0"/>
              <a:t>ชนิดของตัวบ่งชี้ </a:t>
            </a:r>
            <a:r>
              <a:rPr lang="en-US" b="1" dirty="0"/>
              <a:t>	</a:t>
            </a:r>
            <a:r>
              <a:rPr lang="en-US" dirty="0"/>
              <a:t>:</a:t>
            </a:r>
            <a:r>
              <a:rPr lang="th-TH" dirty="0"/>
              <a:t>	กระบวนการ</a:t>
            </a:r>
            <a:endParaRPr lang="en-US" dirty="0"/>
          </a:p>
          <a:p>
            <a:pPr marL="0" indent="0">
              <a:buNone/>
            </a:pPr>
            <a:endParaRPr lang="th-TH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71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8730" y="63937"/>
            <a:ext cx="8911687" cy="1280890"/>
          </a:xfrm>
        </p:spPr>
        <p:txBody>
          <a:bodyPr/>
          <a:lstStyle/>
          <a:p>
            <a:r>
              <a:rPr lang="th-TH" dirty="0" smtClean="0"/>
              <a:t>การบันทึกข้อมูล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730" y="935040"/>
            <a:ext cx="9865330" cy="5564614"/>
          </a:xfrm>
        </p:spPr>
      </p:pic>
    </p:spTree>
    <p:extLst>
      <p:ext uri="{BB962C8B-B14F-4D97-AF65-F5344CB8AC3E}">
        <p14:creationId xmlns:p14="http://schemas.microsoft.com/office/powerpoint/2010/main" val="381016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66" y="88651"/>
            <a:ext cx="8911687" cy="1280890"/>
          </a:xfrm>
        </p:spPr>
        <p:txBody>
          <a:bodyPr/>
          <a:lstStyle/>
          <a:p>
            <a:r>
              <a:rPr lang="th-TH" dirty="0"/>
              <a:t>การบันทึกข้อมูล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630182"/>
            <a:ext cx="8915400" cy="4237398"/>
          </a:xfrm>
        </p:spPr>
      </p:pic>
    </p:spTree>
    <p:extLst>
      <p:ext uri="{BB962C8B-B14F-4D97-AF65-F5344CB8AC3E}">
        <p14:creationId xmlns:p14="http://schemas.microsoft.com/office/powerpoint/2010/main" val="417064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66" y="88651"/>
            <a:ext cx="8911687" cy="1280890"/>
          </a:xfrm>
        </p:spPr>
        <p:txBody>
          <a:bodyPr/>
          <a:lstStyle/>
          <a:p>
            <a:r>
              <a:rPr lang="th-TH" dirty="0"/>
              <a:t>การบันทึกข้อมูล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443843"/>
            <a:ext cx="8915400" cy="4610076"/>
          </a:xfrm>
        </p:spPr>
      </p:pic>
    </p:spTree>
    <p:extLst>
      <p:ext uri="{BB962C8B-B14F-4D97-AF65-F5344CB8AC3E}">
        <p14:creationId xmlns:p14="http://schemas.microsoft.com/office/powerpoint/2010/main" val="341307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3840" y="162791"/>
            <a:ext cx="8911687" cy="1280890"/>
          </a:xfrm>
        </p:spPr>
        <p:txBody>
          <a:bodyPr/>
          <a:lstStyle/>
          <a:p>
            <a:r>
              <a:rPr lang="th-TH" dirty="0" smtClean="0"/>
              <a:t>การบันทึกข้อมูลโครงการ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4456" y="906162"/>
            <a:ext cx="8915400" cy="5609967"/>
          </a:xfrm>
        </p:spPr>
        <p:txBody>
          <a:bodyPr/>
          <a:lstStyle/>
          <a:p>
            <a:r>
              <a:rPr lang="th-TH" dirty="0" smtClean="0"/>
              <a:t>การบันทึกข้อมูลโครงการจะแนบประเด็นที่ต้องการ 5 ข้อ พร้อมทั้งชื่อโครงการ</a:t>
            </a:r>
          </a:p>
          <a:p>
            <a:r>
              <a:rPr lang="th-TH" dirty="0" smtClean="0"/>
              <a:t>ช่องหมายเหตุใช้ในกรณีที่ไฟล์ไปปนอยู่กับข้ออื่นเช่น</a:t>
            </a:r>
          </a:p>
          <a:p>
            <a:r>
              <a:rPr lang="th-TH" dirty="0" smtClean="0"/>
              <a:t>ข้อ 3 อยู่ในเอกสารแนบข้อ 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483" y="3007011"/>
            <a:ext cx="10058400" cy="297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73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การบันทึกข้อมูลโครงการ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213" y="3425588"/>
            <a:ext cx="8915400" cy="1194274"/>
          </a:xfrm>
        </p:spPr>
      </p:pic>
    </p:spTree>
    <p:extLst>
      <p:ext uri="{BB962C8B-B14F-4D97-AF65-F5344CB8AC3E}">
        <p14:creationId xmlns:p14="http://schemas.microsoft.com/office/powerpoint/2010/main" val="1119088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0547" y="96888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th-TH" dirty="0"/>
              <a:t>หน่วยที่รับผิดชอบจัดการศึกษาอบรม หลักสูตรผู้บริหาร หลักสูตรพิเศษเฉพาะทางและ</a:t>
            </a:r>
            <a:r>
              <a:rPr lang="th-TH" dirty="0" smtClean="0"/>
              <a:t>เทคนิค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153" y="1595610"/>
            <a:ext cx="10186386" cy="4228541"/>
          </a:xfrm>
        </p:spPr>
      </p:pic>
    </p:spTree>
    <p:extLst>
      <p:ext uri="{BB962C8B-B14F-4D97-AF65-F5344CB8AC3E}">
        <p14:creationId xmlns:p14="http://schemas.microsoft.com/office/powerpoint/2010/main" val="2028935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800" y="96889"/>
            <a:ext cx="8911687" cy="1280890"/>
          </a:xfrm>
        </p:spPr>
        <p:txBody>
          <a:bodyPr/>
          <a:lstStyle/>
          <a:p>
            <a:r>
              <a:rPr lang="th-TH" i="1" dirty="0"/>
              <a:t>เฉพาะ วตร.บช.ศ.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800" y="1128583"/>
            <a:ext cx="9004176" cy="5651157"/>
          </a:xfrm>
        </p:spPr>
      </p:pic>
    </p:spTree>
    <p:extLst>
      <p:ext uri="{BB962C8B-B14F-4D97-AF65-F5344CB8AC3E}">
        <p14:creationId xmlns:p14="http://schemas.microsoft.com/office/powerpoint/2010/main" val="2968887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3898" y="96888"/>
            <a:ext cx="8911687" cy="1280890"/>
          </a:xfrm>
        </p:spPr>
        <p:txBody>
          <a:bodyPr/>
          <a:lstStyle/>
          <a:p>
            <a:r>
              <a:rPr lang="th-TH" dirty="0" smtClean="0"/>
              <a:t>หลักสูตรอื่นๆ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140" y="1377778"/>
            <a:ext cx="9553131" cy="5218623"/>
          </a:xfrm>
        </p:spPr>
      </p:pic>
    </p:spTree>
    <p:extLst>
      <p:ext uri="{BB962C8B-B14F-4D97-AF65-F5344CB8AC3E}">
        <p14:creationId xmlns:p14="http://schemas.microsoft.com/office/powerpoint/2010/main" val="3190505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การสร้างแบบสอบถาม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11" y="2407508"/>
            <a:ext cx="11752540" cy="2924076"/>
          </a:xfrm>
        </p:spPr>
      </p:pic>
      <p:sp>
        <p:nvSpPr>
          <p:cNvPr id="5" name="TextBox 4"/>
          <p:cNvSpPr txBox="1"/>
          <p:nvPr/>
        </p:nvSpPr>
        <p:spPr>
          <a:xfrm>
            <a:off x="10149016" y="2341605"/>
            <a:ext cx="2207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b="1" dirty="0" smtClean="0">
                <a:solidFill>
                  <a:srgbClr val="FF0000"/>
                </a:solidFill>
              </a:rPr>
              <a:t>สร้างแบบสอบถาม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5481" y="4339280"/>
            <a:ext cx="2207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b="1" dirty="0" smtClean="0">
                <a:solidFill>
                  <a:srgbClr val="FF0000"/>
                </a:solidFill>
              </a:rPr>
              <a:t>ชื่อแบบสอบถาม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41028" y="4339280"/>
            <a:ext cx="16009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b="1" dirty="0" smtClean="0">
                <a:solidFill>
                  <a:srgbClr val="FF0000"/>
                </a:solidFill>
              </a:rPr>
              <a:t>สร้าง</a:t>
            </a:r>
            <a:r>
              <a:rPr lang="en-US" sz="3200" b="1" dirty="0" smtClean="0">
                <a:solidFill>
                  <a:srgbClr val="FF0000"/>
                </a:solidFill>
              </a:rPr>
              <a:t>link </a:t>
            </a:r>
            <a:r>
              <a:rPr lang="th-TH" sz="3200" b="1" dirty="0" smtClean="0">
                <a:solidFill>
                  <a:srgbClr val="FF0000"/>
                </a:solidFill>
              </a:rPr>
              <a:t>ส่งให้ประเมิณ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23903" y="4789266"/>
            <a:ext cx="936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b="1" dirty="0" smtClean="0">
                <a:solidFill>
                  <a:srgbClr val="FF0000"/>
                </a:solidFill>
              </a:rPr>
              <a:t>แก้ไข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51928" y="3713359"/>
            <a:ext cx="936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b="1" dirty="0" smtClean="0">
                <a:solidFill>
                  <a:srgbClr val="FF0000"/>
                </a:solidFill>
              </a:rPr>
              <a:t>ลบ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 rot="13028490">
            <a:off x="6258861" y="434874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11218057">
            <a:off x="6773826" y="3627231"/>
            <a:ext cx="984213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2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สร้างหัวข้อคำถาม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 smtClean="0"/>
              <a:t>การสร้างหัวข้อคำถามจะใช้ในการสร้างกลุ่มที่ต้องการจะเพิ่มคำถาม</a:t>
            </a:r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94" y="2998574"/>
            <a:ext cx="11751571" cy="330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6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สร้างคำถาม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524" y="1614617"/>
            <a:ext cx="11115079" cy="4185594"/>
          </a:xfrm>
        </p:spPr>
      </p:pic>
    </p:spTree>
    <p:extLst>
      <p:ext uri="{BB962C8B-B14F-4D97-AF65-F5344CB8AC3E}">
        <p14:creationId xmlns:p14="http://schemas.microsoft.com/office/powerpoint/2010/main" val="226723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1650" y="171029"/>
            <a:ext cx="8911687" cy="1280890"/>
          </a:xfrm>
        </p:spPr>
        <p:txBody>
          <a:bodyPr/>
          <a:lstStyle/>
          <a:p>
            <a:r>
              <a:rPr lang="th-TH" dirty="0" smtClean="0"/>
              <a:t>แบบสอบถาม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349" y="811474"/>
            <a:ext cx="10022101" cy="5788785"/>
          </a:xfrm>
        </p:spPr>
      </p:pic>
    </p:spTree>
    <p:extLst>
      <p:ext uri="{BB962C8B-B14F-4D97-AF65-F5344CB8AC3E}">
        <p14:creationId xmlns:p14="http://schemas.microsoft.com/office/powerpoint/2010/main" val="3411995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1606" y="135474"/>
            <a:ext cx="8911687" cy="1280890"/>
          </a:xfrm>
        </p:spPr>
        <p:txBody>
          <a:bodyPr/>
          <a:lstStyle/>
          <a:p>
            <a:r>
              <a:rPr lang="th-TH" dirty="0"/>
              <a:t>ระบบบริหารจัดการข้อมูลทะเบียนสมาชิก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822" y="897380"/>
            <a:ext cx="7366621" cy="5732411"/>
          </a:xfrm>
        </p:spPr>
      </p:pic>
    </p:spTree>
    <p:extLst>
      <p:ext uri="{BB962C8B-B14F-4D97-AF65-F5344CB8AC3E}">
        <p14:creationId xmlns:p14="http://schemas.microsoft.com/office/powerpoint/2010/main" val="18612417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0461" y="168969"/>
            <a:ext cx="8911687" cy="1280890"/>
          </a:xfrm>
        </p:spPr>
        <p:txBody>
          <a:bodyPr/>
          <a:lstStyle/>
          <a:p>
            <a:r>
              <a:rPr lang="th-TH" dirty="0" smtClean="0"/>
              <a:t>การจัดการข้อมูลสมาชิก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419" y="988540"/>
            <a:ext cx="8830392" cy="5156887"/>
          </a:xfrm>
        </p:spPr>
      </p:pic>
    </p:spTree>
    <p:extLst>
      <p:ext uri="{BB962C8B-B14F-4D97-AF65-F5344CB8AC3E}">
        <p14:creationId xmlns:p14="http://schemas.microsoft.com/office/powerpoint/2010/main" val="337057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9185" y="162792"/>
            <a:ext cx="8911687" cy="1280890"/>
          </a:xfrm>
        </p:spPr>
        <p:txBody>
          <a:bodyPr/>
          <a:lstStyle/>
          <a:p>
            <a:r>
              <a:rPr lang="th-TH" dirty="0"/>
              <a:t>แบบสอบถาม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3752" y="996777"/>
            <a:ext cx="8915400" cy="5371071"/>
          </a:xfrm>
        </p:spPr>
        <p:txBody>
          <a:bodyPr/>
          <a:lstStyle/>
          <a:p>
            <a:r>
              <a:rPr lang="th-TH" dirty="0" smtClean="0"/>
              <a:t>สามารถสรุปผลโดยรวมคะแนนและคิดค่าเฉลี่ยให้</a:t>
            </a:r>
          </a:p>
          <a:p>
            <a:r>
              <a:rPr lang="th-TH" dirty="0" smtClean="0"/>
              <a:t>สามารถค้นหาทำสรุปข้อเสนอแนะข้อคิดเห็นเพื่อนำกลับมาดูย้อนหลังได้</a:t>
            </a:r>
          </a:p>
          <a:p>
            <a:r>
              <a:rPr lang="th-TH" dirty="0" smtClean="0"/>
              <a:t>สามารถส่งโดยง่ายไปยังผู้ตอบแบบสอบถาม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67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ผลการดำเนินงานในอนาคต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 smtClean="0"/>
              <a:t>สามารถสร้างแบบ </a:t>
            </a:r>
            <a:r>
              <a:rPr lang="en-US" dirty="0" smtClean="0"/>
              <a:t>SAR </a:t>
            </a:r>
            <a:r>
              <a:rPr lang="th-TH" dirty="0" smtClean="0"/>
              <a:t>โดยใช้โปรแกรมได้</a:t>
            </a:r>
          </a:p>
          <a:p>
            <a:r>
              <a:rPr lang="th-TH" dirty="0" smtClean="0"/>
              <a:t>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13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Override1.xml><?xml version="1.0" encoding="utf-8"?>
<a:themeOverride xmlns:a="http://schemas.openxmlformats.org/drawingml/2006/main">
  <a:clrScheme name="Wisp">
    <a:dk1>
      <a:sysClr val="windowText" lastClr="000000"/>
    </a:dk1>
    <a:lt1>
      <a:sysClr val="window" lastClr="FFFFFF"/>
    </a:lt1>
    <a:dk2>
      <a:srgbClr val="766F54"/>
    </a:dk2>
    <a:lt2>
      <a:srgbClr val="E3EACF"/>
    </a:lt2>
    <a:accent1>
      <a:srgbClr val="A53010"/>
    </a:accent1>
    <a:accent2>
      <a:srgbClr val="DE7E18"/>
    </a:accent2>
    <a:accent3>
      <a:srgbClr val="9F8351"/>
    </a:accent3>
    <a:accent4>
      <a:srgbClr val="728653"/>
    </a:accent4>
    <a:accent5>
      <a:srgbClr val="92AA4C"/>
    </a:accent5>
    <a:accent6>
      <a:srgbClr val="6AAC91"/>
    </a:accent6>
    <a:hlink>
      <a:srgbClr val="FB4A18"/>
    </a:hlink>
    <a:folHlink>
      <a:srgbClr val="FB931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</TotalTime>
  <Words>711</Words>
  <Application>Microsoft Office PowerPoint</Application>
  <PresentationFormat>Widescreen</PresentationFormat>
  <Paragraphs>187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Century Gothic</vt:lpstr>
      <vt:lpstr>DilleniaUPC</vt:lpstr>
      <vt:lpstr>TH Sarabun New</vt:lpstr>
      <vt:lpstr>TH SarabunPSK</vt:lpstr>
      <vt:lpstr>Wingdings 3</vt:lpstr>
      <vt:lpstr>Wisp</vt:lpstr>
      <vt:lpstr>ระบบเทคโนโลยีบริหารจัดการเรียนรู้ของกองบัญชาการศึกษา (LMS)</vt:lpstr>
      <vt:lpstr>ระบบเทคโนโลยีบริหารจัดการเรียนรู้ของกองบัญชาการศึกษา</vt:lpstr>
      <vt:lpstr>ระบบเทคโนโลยีบริหารจัดการเรียนรู้ของกองบัญชาการศึกษา</vt:lpstr>
      <vt:lpstr>แผนการอบรม</vt:lpstr>
      <vt:lpstr>ภาพรวมระบบ LMS </vt:lpstr>
      <vt:lpstr>ภาพรวมระบบ LMS</vt:lpstr>
      <vt:lpstr>ระบบประเมิณตนเองผ่านระบบ LMS</vt:lpstr>
      <vt:lpstr>ทางเข้า WEB LMS</vt:lpstr>
      <vt:lpstr>PowerPoint Presentation</vt:lpstr>
      <vt:lpstr>หน้า Login</vt:lpstr>
      <vt:lpstr>ระบบประกันคุณภาพการศึกษา (LMS)</vt:lpstr>
      <vt:lpstr>การประเมิณตนเอง</vt:lpstr>
      <vt:lpstr>การศึกษาอบรมหลักสูตรประจำ</vt:lpstr>
      <vt:lpstr>หลักสูตรประจำ</vt:lpstr>
      <vt:lpstr>การบันทึกข้อมูล</vt:lpstr>
      <vt:lpstr>คะแนนการประเมิณตนเอง</vt:lpstr>
      <vt:lpstr>คะแนนจากผู้ประเมิณ</vt:lpstr>
      <vt:lpstr>รูปแบบการบันทึกข้อมูล</vt:lpstr>
      <vt:lpstr>การกรอกข้อมูลบันทึกผล</vt:lpstr>
      <vt:lpstr>การกรอกข้อมูลบันทึกผล</vt:lpstr>
      <vt:lpstr>การกรอกข้อมูลบันทึกผล</vt:lpstr>
      <vt:lpstr>การกรอกข้อมูลบันทึกผล</vt:lpstr>
      <vt:lpstr>การบันทึกข้อมูล</vt:lpstr>
      <vt:lpstr>การบันทึกข้อมูล</vt:lpstr>
      <vt:lpstr>การบันทึกข้อมูล</vt:lpstr>
      <vt:lpstr>การบันทึกข้อมูลโครงการ</vt:lpstr>
      <vt:lpstr>การบันทึกข้อมูลโครงการ</vt:lpstr>
      <vt:lpstr>หน่วยที่รับผิดชอบจัดการศึกษาอบรม หลักสูตรผู้บริหาร หลักสูตรพิเศษเฉพาะทางและเทคนิค</vt:lpstr>
      <vt:lpstr>เฉพาะ วตร.บช.ศ.</vt:lpstr>
      <vt:lpstr>หลักสูตรอื่นๆ</vt:lpstr>
      <vt:lpstr>การสร้างแบบสอบถาม</vt:lpstr>
      <vt:lpstr>สร้างหัวข้อคำถาม</vt:lpstr>
      <vt:lpstr>สร้างคำถาม</vt:lpstr>
      <vt:lpstr>แบบสอบถาม</vt:lpstr>
      <vt:lpstr>ระบบบริหารจัดการข้อมูลทะเบียนสมาชิก</vt:lpstr>
      <vt:lpstr>การจัดการข้อมูลสมาชิก</vt:lpstr>
      <vt:lpstr>แบบสอบถาม</vt:lpstr>
      <vt:lpstr>ผลการดำเนินงานในอนาคต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โครงการจัดหาระบบเทคโนโลยีการบริหารการจัดการเรียนรู้ของกองบัญชาการศึกษา</dc:title>
  <dc:creator>Daranee PK</dc:creator>
  <cp:lastModifiedBy>g_oo_n1@hotmail.com</cp:lastModifiedBy>
  <cp:revision>48</cp:revision>
  <dcterms:created xsi:type="dcterms:W3CDTF">2018-02-15T17:31:18Z</dcterms:created>
  <dcterms:modified xsi:type="dcterms:W3CDTF">2018-06-12T02:06:11Z</dcterms:modified>
</cp:coreProperties>
</file>