
<file path=[Content_Types].xml><?xml version="1.0" encoding="utf-8"?>
<Types xmlns="http://schemas.openxmlformats.org/package/2006/content-types">
  <Default Extension="jfif" ContentType="image/jpeg"/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ชื่อเรื่องรอง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h-TH" smtClean="0"/>
              <a:t>คลิกเพื่อแก้ไขสไตล์ชื่อเรื่องรองต้นแบบ</a:t>
            </a:r>
            <a:endParaRPr lang="th-TH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B69EC-D92E-4FDD-954B-0BA605E108F2}" type="datetimeFigureOut">
              <a:rPr lang="th-TH" smtClean="0"/>
              <a:t>18/04/62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17C93-5CF1-4698-BD85-E29F9E7ECE6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82541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B69EC-D92E-4FDD-954B-0BA605E108F2}" type="datetimeFigureOut">
              <a:rPr lang="th-TH" smtClean="0"/>
              <a:t>18/04/62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17C93-5CF1-4698-BD85-E29F9E7ECE6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0307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B69EC-D92E-4FDD-954B-0BA605E108F2}" type="datetimeFigureOut">
              <a:rPr lang="th-TH" smtClean="0"/>
              <a:t>18/04/62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17C93-5CF1-4698-BD85-E29F9E7ECE6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52226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เนื้อหา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5" name="ตัวแทน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B69EC-D92E-4FDD-954B-0BA605E108F2}" type="datetimeFigureOut">
              <a:rPr lang="th-TH" smtClean="0"/>
              <a:t>18/04/62</a:t>
            </a:fld>
            <a:endParaRPr lang="th-TH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17C93-5CF1-4698-BD85-E29F9E7ECE6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87871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เนื้อหา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5" name="ตัวแทนข้อความ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6" name="ตัวแทนเนื้อหา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7" name="ตัวแทนวันที่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B69EC-D92E-4FDD-954B-0BA605E108F2}" type="datetimeFigureOut">
              <a:rPr lang="th-TH" smtClean="0"/>
              <a:t>18/04/62</a:t>
            </a:fld>
            <a:endParaRPr lang="th-TH"/>
          </a:p>
        </p:txBody>
      </p:sp>
      <p:sp>
        <p:nvSpPr>
          <p:cNvPr id="8" name="ตัวแทนท้ายกระดา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ตัวแทนหมายเลขสไลด์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17C93-5CF1-4698-BD85-E29F9E7ECE6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7409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B69EC-D92E-4FDD-954B-0BA605E108F2}" type="datetimeFigureOut">
              <a:rPr lang="th-TH" smtClean="0"/>
              <a:t>18/04/62</a:t>
            </a:fld>
            <a:endParaRPr lang="th-TH"/>
          </a:p>
        </p:txBody>
      </p:sp>
      <p:sp>
        <p:nvSpPr>
          <p:cNvPr id="4" name="ตัวแทนท้ายกระดา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ตัวแทนหมายเลขสไลด์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17C93-5CF1-4698-BD85-E29F9E7ECE6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62925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วันที่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B69EC-D92E-4FDD-954B-0BA605E108F2}" type="datetimeFigureOut">
              <a:rPr lang="th-TH" smtClean="0"/>
              <a:t>18/04/62</a:t>
            </a:fld>
            <a:endParaRPr lang="th-TH"/>
          </a:p>
        </p:txBody>
      </p:sp>
      <p:sp>
        <p:nvSpPr>
          <p:cNvPr id="3" name="ตัวแทนท้ายกระดา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ตัวแทนหมายเลขสไลด์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17C93-5CF1-4698-BD85-E29F9E7ECE6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50685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ข้อความ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B69EC-D92E-4FDD-954B-0BA605E108F2}" type="datetimeFigureOut">
              <a:rPr lang="th-TH" smtClean="0"/>
              <a:t>18/04/62</a:t>
            </a:fld>
            <a:endParaRPr lang="th-TH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17C93-5CF1-4698-BD85-E29F9E7ECE6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70750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รูปภาพ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ตัวแทนข้อความ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B69EC-D92E-4FDD-954B-0BA605E108F2}" type="datetimeFigureOut">
              <a:rPr lang="th-TH" smtClean="0"/>
              <a:t>18/04/62</a:t>
            </a:fld>
            <a:endParaRPr lang="th-TH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17C93-5CF1-4698-BD85-E29F9E7ECE6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23288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ข้อความแนวตั้ง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B69EC-D92E-4FDD-954B-0BA605E108F2}" type="datetimeFigureOut">
              <a:rPr lang="th-TH" smtClean="0"/>
              <a:t>18/04/62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17C93-5CF1-4698-BD85-E29F9E7ECE6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74549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ข้อความแนวตั้ง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B69EC-D92E-4FDD-954B-0BA605E108F2}" type="datetimeFigureOut">
              <a:rPr lang="th-TH" smtClean="0"/>
              <a:t>18/04/62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17C93-5CF1-4698-BD85-E29F9E7ECE6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0699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ชื่อเรื่อง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9B69EC-D92E-4FDD-954B-0BA605E108F2}" type="datetimeFigureOut">
              <a:rPr lang="th-TH" smtClean="0"/>
              <a:t>18/04/62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817C93-5CF1-4698-BD85-E29F9E7ECE6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52425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fif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gi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gi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gi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gi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gif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gi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gi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fif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fif"/><Relationship Id="rId2" Type="http://schemas.openxmlformats.org/officeDocument/2006/relationships/image" Target="../media/image35.gi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fi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gi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gi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fi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43.gi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gi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2999656" y="188640"/>
            <a:ext cx="5698976" cy="1656184"/>
          </a:xfr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th-TH" sz="8800" b="1" dirty="0">
                <a:solidFill>
                  <a:srgbClr val="FF0000"/>
                </a:solidFill>
                <a:latin typeface="IrisUPC" pitchFamily="34" charset="-34"/>
                <a:cs typeface="IrisUPC" pitchFamily="34" charset="-34"/>
              </a:rPr>
              <a:t>บรรพ ๖ มรดก</a:t>
            </a:r>
            <a:endParaRPr lang="th-TH" sz="6000" b="1" dirty="0">
              <a:solidFill>
                <a:srgbClr val="FF0000"/>
              </a:solidFill>
              <a:latin typeface="IrisUPC" pitchFamily="34" charset="-34"/>
              <a:cs typeface="IrisUPC" pitchFamily="34" charset="-34"/>
            </a:endParaRPr>
          </a:p>
        </p:txBody>
      </p:sp>
      <p:pic>
        <p:nvPicPr>
          <p:cNvPr id="3" name="รูปภาพ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9576" y="2039061"/>
            <a:ext cx="7416824" cy="474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45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628430" y="674053"/>
            <a:ext cx="5517457" cy="76944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th-TH" sz="4400" b="1" dirty="0">
                <a:solidFill>
                  <a:srgbClr val="FF0000"/>
                </a:solidFill>
                <a:latin typeface="IrisUPC" pitchFamily="34" charset="-34"/>
                <a:cs typeface="IrisUPC" pitchFamily="34" charset="-34"/>
              </a:rPr>
              <a:t>๑.ความหมายของมรดก ม. ๑๖๐๐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8812" y="2053996"/>
            <a:ext cx="11887199" cy="120032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514350" indent="-514350">
              <a:buFont typeface="+mj-cs"/>
              <a:buAutoNum type="thaiNumPeriod"/>
            </a:pPr>
            <a:r>
              <a:rPr lang="th-TH" sz="3600" b="1" u="sng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ทรัพย์สิน</a:t>
            </a:r>
            <a:r>
              <a:rPr lang="th-TH" sz="3600" b="1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ทุกชนิดของผู้ตาย</a:t>
            </a:r>
          </a:p>
          <a:p>
            <a:pPr marL="514350" indent="-514350">
              <a:buFont typeface="+mj-cs"/>
              <a:buAutoNum type="thaiNumPeriod"/>
            </a:pPr>
            <a:r>
              <a:rPr lang="th-TH" sz="3600" b="1" u="sng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สิทธิหน้าที่ </a:t>
            </a:r>
            <a:r>
              <a:rPr lang="th-TH" sz="3600" b="1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และ</a:t>
            </a:r>
            <a:r>
              <a:rPr lang="th-TH" sz="3600" b="1" u="sng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ความรับผิด</a:t>
            </a:r>
            <a:r>
              <a:rPr lang="th-TH" sz="3600" b="1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ต่าง ๆ เว้น กฎหมายหรือโดยสภาพเป็นการเฉพาะตัวโดยแท้</a:t>
            </a:r>
          </a:p>
        </p:txBody>
      </p:sp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8430" y="3254325"/>
            <a:ext cx="5517457" cy="354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839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837807" y="568092"/>
            <a:ext cx="3571900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sz="3600" b="1" dirty="0">
                <a:solidFill>
                  <a:srgbClr val="FF0000"/>
                </a:solidFill>
                <a:latin typeface="IrisUPC" pitchFamily="34" charset="-34"/>
                <a:cs typeface="IrisUPC" pitchFamily="34" charset="-34"/>
              </a:rPr>
              <a:t>๒.การตกทอดของมรดก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3427" y="1844825"/>
            <a:ext cx="2500330" cy="646331"/>
          </a:xfrm>
          <a:prstGeom prst="rect">
            <a:avLst/>
          </a:prstGeom>
          <a:solidFill>
            <a:srgbClr val="48676A"/>
          </a:solidFill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th-TH" dirty="0"/>
              <a:t> </a:t>
            </a:r>
            <a:r>
              <a:rPr lang="th-TH" sz="3600" b="1" dirty="0">
                <a:solidFill>
                  <a:schemeClr val="bg1"/>
                </a:solidFill>
                <a:latin typeface="IrisUPC" pitchFamily="34" charset="-34"/>
                <a:cs typeface="IrisUPC" pitchFamily="34" charset="-34"/>
              </a:rPr>
              <a:t>เจ้ามรดกตาย</a:t>
            </a:r>
            <a:endParaRPr lang="th-TH" sz="3200" b="1" dirty="0">
              <a:solidFill>
                <a:schemeClr val="bg1"/>
              </a:solidFill>
              <a:latin typeface="IrisUPC" pitchFamily="34" charset="-34"/>
              <a:cs typeface="IrisUPC" pitchFamily="34" charset="-34"/>
            </a:endParaRPr>
          </a:p>
        </p:txBody>
      </p:sp>
      <p:cxnSp>
        <p:nvCxnSpPr>
          <p:cNvPr id="9" name="ลูกศรเชื่อมต่อแบบตรง 8"/>
          <p:cNvCxnSpPr>
            <a:endCxn id="10" idx="1"/>
          </p:cNvCxnSpPr>
          <p:nvPr/>
        </p:nvCxnSpPr>
        <p:spPr>
          <a:xfrm flipV="1">
            <a:off x="5623757" y="2173848"/>
            <a:ext cx="1785950" cy="8960"/>
          </a:xfrm>
          <a:prstGeom prst="straightConnector1">
            <a:avLst/>
          </a:prstGeom>
          <a:ln w="28575"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409707" y="1850683"/>
            <a:ext cx="2143140" cy="646331"/>
          </a:xfrm>
          <a:prstGeom prst="rect">
            <a:avLst/>
          </a:prstGeom>
          <a:solidFill>
            <a:srgbClr val="48676A"/>
          </a:solidFill>
        </p:spPr>
        <p:txBody>
          <a:bodyPr wrap="square" rtlCol="0">
            <a:spAutoFit/>
          </a:bodyPr>
          <a:lstStyle/>
          <a:p>
            <a:r>
              <a:rPr lang="th-TH" sz="3600" b="1" dirty="0">
                <a:solidFill>
                  <a:schemeClr val="bg1"/>
                </a:solidFill>
                <a:latin typeface="IrisUPC" pitchFamily="34" charset="-34"/>
                <a:cs typeface="IrisUPC" pitchFamily="34" charset="-34"/>
              </a:rPr>
              <a:t>โดยธรรมชาติ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44489" y="2932040"/>
            <a:ext cx="2357454" cy="1754326"/>
          </a:xfrm>
          <a:prstGeom prst="rect">
            <a:avLst/>
          </a:prstGeom>
          <a:solidFill>
            <a:srgbClr val="48676A"/>
          </a:solidFill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th-TH" dirty="0"/>
              <a:t> </a:t>
            </a:r>
            <a:r>
              <a:rPr lang="th-TH" sz="3600" b="1" dirty="0">
                <a:solidFill>
                  <a:schemeClr val="bg1"/>
                </a:solidFill>
                <a:latin typeface="IrisUPC" pitchFamily="34" charset="-34"/>
                <a:cs typeface="IrisUPC" pitchFamily="34" charset="-34"/>
              </a:rPr>
              <a:t>เจ้ามรดกถูกศาลสั่งให้เป็นบุคคลสาบสูญ</a:t>
            </a:r>
            <a:endParaRPr lang="th-TH" sz="3200" b="1" dirty="0">
              <a:solidFill>
                <a:schemeClr val="bg1"/>
              </a:solidFill>
              <a:latin typeface="IrisUPC" pitchFamily="34" charset="-34"/>
              <a:cs typeface="IrisUPC" pitchFamily="34" charset="-3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99425" y="3017880"/>
            <a:ext cx="2428892" cy="954107"/>
          </a:xfrm>
          <a:prstGeom prst="rect">
            <a:avLst/>
          </a:prstGeom>
          <a:solidFill>
            <a:srgbClr val="48676A"/>
          </a:solidFill>
        </p:spPr>
        <p:txBody>
          <a:bodyPr wrap="square" rtlCol="0">
            <a:spAutoFit/>
          </a:bodyPr>
          <a:lstStyle/>
          <a:p>
            <a:r>
              <a:rPr lang="th-TH" b="1" dirty="0">
                <a:solidFill>
                  <a:schemeClr val="bg1"/>
                </a:solidFill>
                <a:latin typeface="IrisUPC" pitchFamily="34" charset="-34"/>
                <a:cs typeface="IrisUPC" pitchFamily="34" charset="-34"/>
              </a:rPr>
              <a:t>เหตุปกติ </a:t>
            </a:r>
            <a:r>
              <a:rPr lang="en-US" b="1" dirty="0">
                <a:solidFill>
                  <a:schemeClr val="bg1"/>
                </a:solidFill>
                <a:latin typeface="IrisUPC" pitchFamily="34" charset="-34"/>
                <a:cs typeface="IrisUPC" pitchFamily="34" charset="-34"/>
              </a:rPr>
              <a:t>: </a:t>
            </a:r>
            <a:r>
              <a:rPr lang="th-TH" b="1" dirty="0">
                <a:solidFill>
                  <a:schemeClr val="bg1"/>
                </a:solidFill>
                <a:latin typeface="IrisUPC" pitchFamily="34" charset="-34"/>
                <a:cs typeface="IrisUPC" pitchFamily="34" charset="-34"/>
              </a:rPr>
              <a:t>ไม่อยู่ในภูมิลำเนาตลอด </a:t>
            </a:r>
            <a:r>
              <a:rPr lang="en-US" b="1" dirty="0">
                <a:solidFill>
                  <a:schemeClr val="bg1"/>
                </a:solidFill>
                <a:latin typeface="IrisUPC" pitchFamily="34" charset="-34"/>
                <a:cs typeface="IrisUPC" pitchFamily="34" charset="-34"/>
              </a:rPr>
              <a:t>5 </a:t>
            </a:r>
            <a:r>
              <a:rPr lang="th-TH" b="1" dirty="0">
                <a:solidFill>
                  <a:schemeClr val="bg1"/>
                </a:solidFill>
                <a:latin typeface="IrisUPC" pitchFamily="34" charset="-34"/>
                <a:cs typeface="IrisUPC" pitchFamily="34" charset="-34"/>
              </a:rPr>
              <a:t>ปี</a:t>
            </a:r>
          </a:p>
        </p:txBody>
      </p:sp>
      <p:cxnSp>
        <p:nvCxnSpPr>
          <p:cNvPr id="24" name="ลูกศรเชื่อมต่อแบบตรง 23"/>
          <p:cNvCxnSpPr/>
          <p:nvPr/>
        </p:nvCxnSpPr>
        <p:spPr>
          <a:xfrm>
            <a:off x="5464113" y="3834474"/>
            <a:ext cx="974736" cy="71438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76679" y="4287244"/>
            <a:ext cx="1285884" cy="523220"/>
          </a:xfrm>
          <a:prstGeom prst="rect">
            <a:avLst/>
          </a:prstGeom>
          <a:solidFill>
            <a:srgbClr val="48676A"/>
          </a:solidFill>
        </p:spPr>
        <p:txBody>
          <a:bodyPr wrap="square" rtlCol="0">
            <a:spAutoFit/>
          </a:bodyPr>
          <a:lstStyle/>
          <a:p>
            <a:r>
              <a:rPr lang="th-TH" b="1" dirty="0">
                <a:solidFill>
                  <a:schemeClr val="bg1"/>
                </a:solidFill>
                <a:latin typeface="IrisUPC" pitchFamily="34" charset="-34"/>
                <a:cs typeface="IrisUPC" pitchFamily="34" charset="-34"/>
              </a:rPr>
              <a:t>เหตุพิเศษ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44489" y="5225061"/>
            <a:ext cx="2319624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th-TH" b="1" dirty="0">
                <a:solidFill>
                  <a:srgbClr val="085091"/>
                </a:solidFill>
                <a:latin typeface="IrisUPC" pitchFamily="34" charset="-34"/>
                <a:cs typeface="IrisUPC" pitchFamily="34" charset="-34"/>
              </a:rPr>
              <a:t>การรบหรือสงคราม</a:t>
            </a:r>
          </a:p>
        </p:txBody>
      </p:sp>
      <p:cxnSp>
        <p:nvCxnSpPr>
          <p:cNvPr id="30" name="ลูกศรเชื่อมต่อแบบตรง 29"/>
          <p:cNvCxnSpPr>
            <a:stCxn id="25" idx="3"/>
            <a:endCxn id="34" idx="1"/>
          </p:cNvCxnSpPr>
          <p:nvPr/>
        </p:nvCxnSpPr>
        <p:spPr>
          <a:xfrm>
            <a:off x="7762563" y="4548855"/>
            <a:ext cx="718714" cy="2151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876957" y="5232363"/>
            <a:ext cx="1869618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th-TH" b="1" dirty="0">
                <a:solidFill>
                  <a:srgbClr val="085091"/>
                </a:solidFill>
                <a:latin typeface="IrisUPC" pitchFamily="34" charset="-34"/>
                <a:cs typeface="IrisUPC" pitchFamily="34" charset="-34"/>
              </a:rPr>
              <a:t>อับปาง/สูญหาย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81277" y="4289395"/>
            <a:ext cx="2071702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th-TH" b="1" dirty="0">
                <a:solidFill>
                  <a:srgbClr val="085091"/>
                </a:solidFill>
                <a:latin typeface="IrisUPC" pitchFamily="34" charset="-34"/>
                <a:cs typeface="IrisUPC" pitchFamily="34" charset="-34"/>
              </a:rPr>
              <a:t>ตลอดเวลา </a:t>
            </a:r>
            <a:r>
              <a:rPr lang="en-US" b="1" dirty="0">
                <a:solidFill>
                  <a:srgbClr val="085091"/>
                </a:solidFill>
                <a:latin typeface="IrisUPC" pitchFamily="34" charset="-34"/>
                <a:cs typeface="IrisUPC" pitchFamily="34" charset="-34"/>
              </a:rPr>
              <a:t>2 </a:t>
            </a:r>
            <a:r>
              <a:rPr lang="th-TH" b="1" dirty="0">
                <a:solidFill>
                  <a:srgbClr val="085091"/>
                </a:solidFill>
                <a:latin typeface="IrisUPC" pitchFamily="34" charset="-34"/>
                <a:cs typeface="IrisUPC" pitchFamily="34" charset="-34"/>
              </a:rPr>
              <a:t>ปี</a:t>
            </a:r>
          </a:p>
        </p:txBody>
      </p:sp>
      <p:cxnSp>
        <p:nvCxnSpPr>
          <p:cNvPr id="36" name="ลูกศรเชื่อมต่อแบบตรง 35"/>
          <p:cNvCxnSpPr>
            <a:stCxn id="19" idx="3"/>
            <a:endCxn id="22" idx="1"/>
          </p:cNvCxnSpPr>
          <p:nvPr/>
        </p:nvCxnSpPr>
        <p:spPr>
          <a:xfrm flipV="1">
            <a:off x="5501943" y="3494933"/>
            <a:ext cx="1897482" cy="31427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112224" y="5218293"/>
            <a:ext cx="2555776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th-TH" b="1" dirty="0">
                <a:solidFill>
                  <a:srgbClr val="085091"/>
                </a:solidFill>
                <a:latin typeface="IrisUPC" pitchFamily="34" charset="-34"/>
                <a:cs typeface="IrisUPC" pitchFamily="34" charset="-34"/>
              </a:rPr>
              <a:t>ตกอยู่อันตรายแห่งชีวิต</a:t>
            </a:r>
          </a:p>
        </p:txBody>
      </p:sp>
      <p:cxnSp>
        <p:nvCxnSpPr>
          <p:cNvPr id="17" name="ตัวเชื่อมต่อตรง 16"/>
          <p:cNvCxnSpPr/>
          <p:nvPr/>
        </p:nvCxnSpPr>
        <p:spPr>
          <a:xfrm>
            <a:off x="4079777" y="4941168"/>
            <a:ext cx="54730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ลูกศรเชื่อมต่อแบบตรง 19"/>
          <p:cNvCxnSpPr/>
          <p:nvPr/>
        </p:nvCxnSpPr>
        <p:spPr>
          <a:xfrm>
            <a:off x="4079776" y="4941169"/>
            <a:ext cx="0" cy="2771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ลูกศรเชื่อมต่อแบบตรง 22"/>
          <p:cNvCxnSpPr>
            <a:stCxn id="25" idx="2"/>
          </p:cNvCxnSpPr>
          <p:nvPr/>
        </p:nvCxnSpPr>
        <p:spPr>
          <a:xfrm>
            <a:off x="7119621" y="4810465"/>
            <a:ext cx="0" cy="40782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ลูกศรเชื่อมต่อแบบตรง 31"/>
          <p:cNvCxnSpPr/>
          <p:nvPr/>
        </p:nvCxnSpPr>
        <p:spPr>
          <a:xfrm>
            <a:off x="9552847" y="4941169"/>
            <a:ext cx="0" cy="2771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รูปภาพ 3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5079731"/>
            <a:ext cx="1548479" cy="1548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936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 animBg="1"/>
      <p:bldP spid="19" grpId="0" animBg="1"/>
      <p:bldP spid="22" grpId="0" animBg="1"/>
      <p:bldP spid="25" grpId="0" animBg="1"/>
      <p:bldP spid="28" grpId="0" animBg="1"/>
      <p:bldP spid="31" grpId="0" animBg="1"/>
      <p:bldP spid="34" grpId="0" animBg="1"/>
      <p:bldP spid="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4223792" y="274638"/>
            <a:ext cx="4968552" cy="11430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th-TH" sz="4800" b="1" dirty="0">
                <a:solidFill>
                  <a:srgbClr val="FF0000"/>
                </a:solidFill>
                <a:latin typeface="IrisUPC" pitchFamily="34" charset="-34"/>
                <a:cs typeface="IrisUPC" pitchFamily="34" charset="-34"/>
              </a:rPr>
              <a:t>๓.ผู้มีสิทธิรับมรดก</a:t>
            </a:r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>
          <a:xfrm>
            <a:off x="6960096" y="1916832"/>
            <a:ext cx="2736304" cy="254888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742950" indent="-742950">
              <a:buFont typeface="+mj-cs"/>
              <a:buAutoNum type="thaiNumPeriod"/>
            </a:pPr>
            <a:r>
              <a:rPr lang="th-TH" sz="3600" b="1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ทายาท</a:t>
            </a:r>
          </a:p>
          <a:p>
            <a:pPr marL="742950" indent="-742950">
              <a:buFont typeface="+mj-cs"/>
              <a:buAutoNum type="thaiNumPeriod"/>
            </a:pPr>
            <a:r>
              <a:rPr lang="th-TH" sz="3600" b="1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วัด</a:t>
            </a:r>
          </a:p>
          <a:p>
            <a:pPr marL="742950" indent="-742950">
              <a:buFont typeface="+mj-cs"/>
              <a:buAutoNum type="thaiNumPeriod"/>
            </a:pPr>
            <a:r>
              <a:rPr lang="th-TH" sz="3600" b="1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แผ่นดิน</a:t>
            </a:r>
          </a:p>
        </p:txBody>
      </p:sp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511" y="1988840"/>
            <a:ext cx="5063743" cy="3384376"/>
          </a:xfrm>
          <a:prstGeom prst="rect">
            <a:avLst/>
          </a:prstGeom>
        </p:spPr>
      </p:pic>
      <p:pic>
        <p:nvPicPr>
          <p:cNvPr id="5" name="รูปภาพ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7253" y="4797152"/>
            <a:ext cx="3112740" cy="1556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399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73016" y="260648"/>
            <a:ext cx="2902904" cy="923330"/>
          </a:xfrm>
          <a:prstGeom prst="rect">
            <a:avLst/>
          </a:prstGeom>
          <a:solidFill>
            <a:srgbClr val="FF00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th-TH" sz="5400" b="1" dirty="0">
                <a:latin typeface="IrisUPC" pitchFamily="34" charset="-34"/>
                <a:cs typeface="IrisUPC" pitchFamily="34" charset="-34"/>
              </a:rPr>
              <a:t>๓.๑ ทายาท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8817" y="1772816"/>
            <a:ext cx="9360279" cy="193899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th-TH" sz="4400" b="1" dirty="0">
                <a:latin typeface="IrisUPC" pitchFamily="34" charset="-34"/>
                <a:cs typeface="IrisUPC" pitchFamily="34" charset="-34"/>
              </a:rPr>
              <a:t>๓.๓.๑</a:t>
            </a:r>
            <a:r>
              <a:rPr lang="th-TH" sz="4400" dirty="0">
                <a:latin typeface="IrisUPC" pitchFamily="34" charset="-34"/>
                <a:cs typeface="IrisUPC" pitchFamily="34" charset="-34"/>
              </a:rPr>
              <a:t>.</a:t>
            </a:r>
            <a:r>
              <a:rPr lang="th-TH" sz="3600" b="1" dirty="0">
                <a:latin typeface="IrisUPC" pitchFamily="34" charset="-34"/>
                <a:cs typeface="IrisUPC" pitchFamily="34" charset="-34"/>
              </a:rPr>
              <a:t>ทายาทโดยธรรม ได้แก่ </a:t>
            </a:r>
            <a:r>
              <a:rPr lang="th-TH" sz="3600" b="1" u="sng" dirty="0">
                <a:latin typeface="IrisUPC" pitchFamily="34" charset="-34"/>
                <a:cs typeface="IrisUPC" pitchFamily="34" charset="-34"/>
              </a:rPr>
              <a:t>ผู้สืบสันดาน บิดามารดา  คู่สมรส</a:t>
            </a:r>
            <a:r>
              <a:rPr lang="th-TH" sz="3600" b="1" dirty="0">
                <a:latin typeface="IrisUPC" pitchFamily="34" charset="-34"/>
                <a:cs typeface="IrisUPC" pitchFamily="34" charset="-34"/>
              </a:rPr>
              <a:t>ที่ชอบด้วยกฎหมาย และ</a:t>
            </a:r>
            <a:r>
              <a:rPr lang="th-TH" sz="3600" b="1" u="sng" dirty="0">
                <a:latin typeface="IrisUPC" pitchFamily="34" charset="-34"/>
                <a:cs typeface="IrisUPC" pitchFamily="34" charset="-34"/>
              </a:rPr>
              <a:t>บุตรบุญธรรม</a:t>
            </a:r>
          </a:p>
          <a:p>
            <a:endParaRPr lang="th-TH" sz="4000" b="1" dirty="0">
              <a:latin typeface="JasmineUPC" pitchFamily="18" charset="-34"/>
              <a:cs typeface="JasmineUPC" pitchFamily="18" charset="-34"/>
            </a:endParaRPr>
          </a:p>
        </p:txBody>
      </p:sp>
      <p:pic>
        <p:nvPicPr>
          <p:cNvPr id="5" name="รูปภาพ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8068" y="4502448"/>
            <a:ext cx="3024336" cy="1512168"/>
          </a:xfrm>
          <a:prstGeom prst="rect">
            <a:avLst/>
          </a:prstGeom>
        </p:spPr>
      </p:pic>
      <p:pic>
        <p:nvPicPr>
          <p:cNvPr id="3" name="รูปภาพ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939" y="3900338"/>
            <a:ext cx="3046562" cy="304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893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รูปภาพ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100" y="28575"/>
            <a:ext cx="9067800" cy="680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240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4900" y="78181"/>
            <a:ext cx="7480300" cy="6667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514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 1"/>
          <p:cNvSpPr/>
          <p:nvPr/>
        </p:nvSpPr>
        <p:spPr>
          <a:xfrm>
            <a:off x="1885071" y="404665"/>
            <a:ext cx="9720775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sz="3600" b="1" dirty="0">
                <a:solidFill>
                  <a:schemeClr val="bg1"/>
                </a:solidFill>
                <a:latin typeface="IrisUPC" pitchFamily="34" charset="-34"/>
                <a:cs typeface="IrisUPC" pitchFamily="34" charset="-34"/>
              </a:rPr>
              <a:t>มาตรา ๑๖๒๙  ทายาทโดยธรรมแต่ละลำดับ มีสิทธิ</a:t>
            </a:r>
            <a:r>
              <a:rPr lang="th-TH" sz="3600" b="1" u="sng" dirty="0">
                <a:solidFill>
                  <a:schemeClr val="bg1"/>
                </a:solidFill>
                <a:latin typeface="IrisUPC" pitchFamily="34" charset="-34"/>
                <a:cs typeface="IrisUPC" pitchFamily="34" charset="-34"/>
              </a:rPr>
              <a:t>ได้รับมรดกก่อนหลัง</a:t>
            </a:r>
            <a:r>
              <a:rPr lang="th-TH" sz="3600" b="1" dirty="0">
                <a:solidFill>
                  <a:schemeClr val="bg1"/>
                </a:solidFill>
                <a:latin typeface="IrisUPC" pitchFamily="34" charset="-34"/>
                <a:cs typeface="IrisUPC" pitchFamily="34" charset="-34"/>
              </a:rPr>
              <a:t>ดังต่อไปนี้คือ</a:t>
            </a:r>
            <a:endParaRPr lang="en-US" sz="3600" b="1" dirty="0">
              <a:solidFill>
                <a:schemeClr val="bg1"/>
              </a:solidFill>
              <a:latin typeface="IrisUPC" pitchFamily="34" charset="-34"/>
              <a:cs typeface="IrisUPC" pitchFamily="34" charset="-34"/>
            </a:endParaRPr>
          </a:p>
          <a:p>
            <a:pPr marL="514350" indent="-514350">
              <a:buAutoNum type="thaiNumParenBoth"/>
            </a:pPr>
            <a:r>
              <a:rPr lang="th-TH" sz="3600" b="1" dirty="0">
                <a:solidFill>
                  <a:schemeClr val="bg1"/>
                </a:solidFill>
                <a:latin typeface="IrisUPC" pitchFamily="34" charset="-34"/>
                <a:cs typeface="IrisUPC" pitchFamily="34" charset="-34"/>
              </a:rPr>
              <a:t>ผู้สืบสันดาน   </a:t>
            </a:r>
          </a:p>
          <a:p>
            <a:pPr marL="514350" indent="-514350">
              <a:buAutoNum type="thaiNumParenBoth"/>
            </a:pPr>
            <a:r>
              <a:rPr lang="th-TH" sz="3600" b="1" dirty="0">
                <a:solidFill>
                  <a:schemeClr val="bg1"/>
                </a:solidFill>
                <a:latin typeface="IrisUPC" pitchFamily="34" charset="-34"/>
                <a:cs typeface="IrisUPC" pitchFamily="34" charset="-34"/>
              </a:rPr>
              <a:t>บิดามารดา</a:t>
            </a:r>
          </a:p>
          <a:p>
            <a:pPr marL="514350" indent="-514350">
              <a:buAutoNum type="thaiNumParenBoth"/>
            </a:pPr>
            <a:r>
              <a:rPr lang="th-TH" sz="3600" b="1" dirty="0">
                <a:solidFill>
                  <a:schemeClr val="bg1"/>
                </a:solidFill>
                <a:latin typeface="IrisUPC" pitchFamily="34" charset="-34"/>
                <a:cs typeface="IrisUPC" pitchFamily="34" charset="-34"/>
              </a:rPr>
              <a:t>พี่น้อง</a:t>
            </a:r>
            <a:r>
              <a:rPr lang="th-TH" sz="3600" b="1" u="sng" dirty="0">
                <a:solidFill>
                  <a:schemeClr val="bg1"/>
                </a:solidFill>
                <a:latin typeface="IrisUPC" pitchFamily="34" charset="-34"/>
                <a:cs typeface="IrisUPC" pitchFamily="34" charset="-34"/>
              </a:rPr>
              <a:t>ร่วมบิดามารดา</a:t>
            </a:r>
            <a:r>
              <a:rPr lang="th-TH" sz="3600" b="1" dirty="0">
                <a:solidFill>
                  <a:schemeClr val="bg1"/>
                </a:solidFill>
                <a:latin typeface="IrisUPC" pitchFamily="34" charset="-34"/>
                <a:cs typeface="IrisUPC" pitchFamily="34" charset="-34"/>
              </a:rPr>
              <a:t>เดียว</a:t>
            </a:r>
            <a:r>
              <a:rPr lang="th-TH" sz="3600" b="1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 </a:t>
            </a:r>
          </a:p>
          <a:p>
            <a:endParaRPr lang="en-US" sz="3600" b="1" dirty="0">
              <a:solidFill>
                <a:srgbClr val="002060"/>
              </a:solidFill>
              <a:latin typeface="IrisUPC" pitchFamily="34" charset="-34"/>
              <a:cs typeface="IrisUPC" pitchFamily="34" charset="-34"/>
            </a:endParaRPr>
          </a:p>
          <a:p>
            <a:endParaRPr lang="th-TH" dirty="0"/>
          </a:p>
        </p:txBody>
      </p:sp>
      <p:pic>
        <p:nvPicPr>
          <p:cNvPr id="3" name="รูปภาพ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512" y="3396402"/>
            <a:ext cx="4176464" cy="27815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รูปภาพ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056" y="1484784"/>
            <a:ext cx="3805014" cy="2130808"/>
          </a:xfrm>
          <a:prstGeom prst="rect">
            <a:avLst/>
          </a:prstGeom>
        </p:spPr>
      </p:pic>
      <p:pic>
        <p:nvPicPr>
          <p:cNvPr id="6" name="รูปภาพ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2725" y="4251871"/>
            <a:ext cx="3953509" cy="2223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385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 1"/>
          <p:cNvSpPr/>
          <p:nvPr/>
        </p:nvSpPr>
        <p:spPr>
          <a:xfrm>
            <a:off x="2567608" y="404664"/>
            <a:ext cx="7344816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sz="3600" b="1" dirty="0">
                <a:solidFill>
                  <a:schemeClr val="bg1"/>
                </a:solidFill>
                <a:latin typeface="IrisUPC" pitchFamily="34" charset="-34"/>
                <a:cs typeface="IrisUPC" pitchFamily="34" charset="-34"/>
              </a:rPr>
              <a:t>(๔)พี่น้องร่วมบิดา</a:t>
            </a:r>
            <a:r>
              <a:rPr lang="th-TH" sz="3600" b="1" u="sng" dirty="0">
                <a:solidFill>
                  <a:schemeClr val="bg1"/>
                </a:solidFill>
                <a:latin typeface="IrisUPC" pitchFamily="34" charset="-34"/>
                <a:cs typeface="IrisUPC" pitchFamily="34" charset="-34"/>
              </a:rPr>
              <a:t>หรือ</a:t>
            </a:r>
            <a:r>
              <a:rPr lang="th-TH" sz="3600" b="1" dirty="0">
                <a:solidFill>
                  <a:schemeClr val="bg1"/>
                </a:solidFill>
                <a:latin typeface="IrisUPC" pitchFamily="34" charset="-34"/>
                <a:cs typeface="IrisUPC" pitchFamily="34" charset="-34"/>
              </a:rPr>
              <a:t>ร่วมมารดาเดียวกัน</a:t>
            </a:r>
            <a:endParaRPr lang="en-US" sz="3600" b="1" dirty="0">
              <a:solidFill>
                <a:schemeClr val="bg1"/>
              </a:solidFill>
              <a:latin typeface="IrisUPC" pitchFamily="34" charset="-34"/>
              <a:cs typeface="IrisUPC" pitchFamily="34" charset="-34"/>
            </a:endParaRPr>
          </a:p>
          <a:p>
            <a:pPr marL="514350" indent="-514350">
              <a:buAutoNum type="thaiNumParenBoth" startAt="5"/>
            </a:pPr>
            <a:r>
              <a:rPr lang="th-TH" sz="3600" b="1" dirty="0">
                <a:solidFill>
                  <a:schemeClr val="bg1"/>
                </a:solidFill>
                <a:latin typeface="IrisUPC" pitchFamily="34" charset="-34"/>
                <a:cs typeface="IrisUPC" pitchFamily="34" charset="-34"/>
              </a:rPr>
              <a:t>ปู่ ย่า ตา ยายกัน            </a:t>
            </a:r>
          </a:p>
          <a:p>
            <a:pPr marL="514350" indent="-514350">
              <a:buAutoNum type="thaiNumParenBoth" startAt="5"/>
            </a:pPr>
            <a:r>
              <a:rPr lang="th-TH" sz="3600" b="1" dirty="0">
                <a:solidFill>
                  <a:schemeClr val="bg1"/>
                </a:solidFill>
                <a:latin typeface="IrisUPC" pitchFamily="34" charset="-34"/>
                <a:cs typeface="IrisUPC" pitchFamily="34" charset="-34"/>
              </a:rPr>
              <a:t>ลุง ป้า น้า อา</a:t>
            </a:r>
            <a:endParaRPr lang="en-US" sz="3600" b="1" dirty="0">
              <a:solidFill>
                <a:schemeClr val="bg1"/>
              </a:solidFill>
              <a:latin typeface="IrisUPC" pitchFamily="34" charset="-34"/>
              <a:cs typeface="IrisUPC" pitchFamily="34" charset="-34"/>
            </a:endParaRPr>
          </a:p>
          <a:p>
            <a:endParaRPr lang="th-TH" dirty="0"/>
          </a:p>
        </p:txBody>
      </p:sp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7609" y="4653137"/>
            <a:ext cx="2619375" cy="1743075"/>
          </a:xfrm>
          <a:prstGeom prst="rect">
            <a:avLst/>
          </a:prstGeom>
        </p:spPr>
      </p:pic>
      <p:pic>
        <p:nvPicPr>
          <p:cNvPr id="5" name="รูปภาพ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8784" y="2420889"/>
            <a:ext cx="2619375" cy="1743075"/>
          </a:xfrm>
          <a:prstGeom prst="rect">
            <a:avLst/>
          </a:prstGeom>
        </p:spPr>
      </p:pic>
      <p:pic>
        <p:nvPicPr>
          <p:cNvPr id="6" name="รูปภาพ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088" y="1124744"/>
            <a:ext cx="3486701" cy="2341434"/>
          </a:xfrm>
          <a:prstGeom prst="rect">
            <a:avLst/>
          </a:prstGeom>
        </p:spPr>
      </p:pic>
      <p:pic>
        <p:nvPicPr>
          <p:cNvPr id="7" name="รูปภาพ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5846" y="3933055"/>
            <a:ext cx="4378942" cy="2463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993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 1"/>
          <p:cNvSpPr/>
          <p:nvPr/>
        </p:nvSpPr>
        <p:spPr>
          <a:xfrm>
            <a:off x="2428392" y="849164"/>
            <a:ext cx="734481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sz="3600" b="1" dirty="0">
                <a:solidFill>
                  <a:schemeClr val="bg1"/>
                </a:solidFill>
                <a:latin typeface="IrisUPC" pitchFamily="34" charset="-34"/>
                <a:cs typeface="IrisUPC" pitchFamily="34" charset="-34"/>
              </a:rPr>
              <a:t>วรรค ๒ คู่สมรสที่ยังมีชีวิตอยู่ก็เป็นทายาทโดยธรรมอยู่ภายใต้บังคับ ม. ๑๖๓๕</a:t>
            </a:r>
            <a:endParaRPr lang="en-US" sz="3600" b="1" dirty="0">
              <a:solidFill>
                <a:schemeClr val="bg1"/>
              </a:solidFill>
              <a:latin typeface="IrisUPC" pitchFamily="34" charset="-34"/>
              <a:cs typeface="IrisUPC" pitchFamily="34" charset="-34"/>
            </a:endParaRPr>
          </a:p>
          <a:p>
            <a:endParaRPr lang="th-TH" dirty="0"/>
          </a:p>
        </p:txBody>
      </p:sp>
      <p:pic>
        <p:nvPicPr>
          <p:cNvPr id="3" name="รูปภาพ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5216" y="2624065"/>
            <a:ext cx="6091169" cy="4053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240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995" y="1319065"/>
            <a:ext cx="11676185" cy="397031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th-TH" sz="3200" b="1" dirty="0">
                <a:solidFill>
                  <a:schemeClr val="bg1"/>
                </a:solidFill>
                <a:latin typeface="IrisUPC" pitchFamily="34" charset="-34"/>
                <a:cs typeface="IrisUPC" pitchFamily="34" charset="-34"/>
              </a:rPr>
              <a:t>   </a:t>
            </a:r>
            <a:r>
              <a:rPr lang="th-TH" sz="3600" b="1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มาตรา ๑๖๓๕ ลำดับและส่วนแบ่งของคู่สมรสที่ยังมีชิวิตอยู่ในการรับมรดก ให้เป็นไปดังต่อไปนี้</a:t>
            </a:r>
            <a:endParaRPr lang="en-US" sz="3600" b="1" dirty="0">
              <a:solidFill>
                <a:srgbClr val="002060"/>
              </a:solidFill>
              <a:latin typeface="IrisUPC" pitchFamily="34" charset="-34"/>
              <a:cs typeface="IrisUPC" pitchFamily="34" charset="-34"/>
            </a:endParaRPr>
          </a:p>
          <a:p>
            <a:pPr marL="742950" indent="-742950">
              <a:buAutoNum type="thaiNumParenBoth"/>
            </a:pPr>
            <a:r>
              <a:rPr lang="th-TH" sz="3600" b="1" dirty="0" smtClean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ทายาท</a:t>
            </a:r>
            <a:r>
              <a:rPr lang="th-TH" sz="3600" b="1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ตาม ม. ๑๖๒๙(๑) ซึ่งยังมีชีวิตอยู่มีผู้รับมรดกแทนที่ คู่สมรสมีสิทธิได้ส่วน</a:t>
            </a:r>
            <a:r>
              <a:rPr lang="th-TH" sz="3600" b="1" dirty="0" smtClean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แบ่งเสมือน</a:t>
            </a:r>
            <a:r>
              <a:rPr lang="th-TH" sz="3600" b="1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หนึ่งว่าตนเป็นทายาท</a:t>
            </a:r>
            <a:r>
              <a:rPr lang="th-TH" sz="3600" b="1" u="sng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ชั้นบุตร</a:t>
            </a:r>
            <a:endParaRPr lang="en-US" sz="3600" b="1" u="sng" dirty="0">
              <a:solidFill>
                <a:srgbClr val="002060"/>
              </a:solidFill>
              <a:latin typeface="IrisUPC" pitchFamily="34" charset="-34"/>
              <a:cs typeface="IrisUPC" pitchFamily="34" charset="-34"/>
            </a:endParaRPr>
          </a:p>
          <a:p>
            <a:r>
              <a:rPr lang="th-TH" sz="3600" b="1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(๒) ทายาทตาม ม. ๑๖๒๙(๒) , (๓) และทายาทนั้นยังมีชีวิตอยู่หรือมีผู้รับมรดก</a:t>
            </a:r>
            <a:r>
              <a:rPr lang="th-TH" sz="3600" b="1" dirty="0" smtClean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แทนที่</a:t>
            </a:r>
          </a:p>
          <a:p>
            <a:r>
              <a:rPr lang="th-TH" sz="3600" b="1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 </a:t>
            </a:r>
            <a:r>
              <a:rPr lang="th-TH" sz="3600" b="1" dirty="0" smtClean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     </a:t>
            </a:r>
            <a:r>
              <a:rPr lang="th-TH" sz="3600" b="1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หรือไม่มีทายาทตาม ม. ๑๖๒๙(๑) มีสิทธิรับมรดก</a:t>
            </a:r>
            <a:r>
              <a:rPr lang="th-TH" sz="3600" b="1" u="sng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กึ่งหนึ่ง</a:t>
            </a:r>
            <a:endParaRPr lang="en-US" sz="3600" b="1" u="sng" dirty="0">
              <a:solidFill>
                <a:srgbClr val="002060"/>
              </a:solidFill>
              <a:latin typeface="IrisUPC" pitchFamily="34" charset="-34"/>
              <a:cs typeface="IrisUPC" pitchFamily="34" charset="-34"/>
            </a:endParaRPr>
          </a:p>
          <a:p>
            <a:r>
              <a:rPr lang="th-TH" sz="3600" b="1" dirty="0" smtClean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 </a:t>
            </a:r>
            <a:endParaRPr lang="th-TH" sz="3600" b="1" dirty="0">
              <a:solidFill>
                <a:srgbClr val="002060"/>
              </a:solidFill>
              <a:latin typeface="IrisUPC" pitchFamily="34" charset="-34"/>
              <a:cs typeface="IrisUPC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354444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30875"/>
          </a:xfrm>
        </p:spPr>
        <p:txBody>
          <a:bodyPr>
            <a:normAutofit/>
          </a:bodyPr>
          <a:lstStyle/>
          <a:p>
            <a:r>
              <a:rPr lang="th-TH" sz="3600" b="1" dirty="0">
                <a:solidFill>
                  <a:schemeClr val="bg1"/>
                </a:solidFill>
                <a:latin typeface="IrisUPC" pitchFamily="34" charset="-34"/>
                <a:cs typeface="IrisUPC" pitchFamily="34" charset="-34"/>
              </a:rPr>
              <a:t>(๓) ถ้ามีทายาทตาม ม. ๑๖๒๙(๔),(๕),(๖) และทายาทนั้นยังมีชีวิตอยู่หรือ</a:t>
            </a:r>
            <a:r>
              <a:rPr lang="th-TH" sz="3600" b="1" dirty="0" smtClean="0">
                <a:solidFill>
                  <a:schemeClr val="bg1"/>
                </a:solidFill>
                <a:latin typeface="IrisUPC" pitchFamily="34" charset="-34"/>
                <a:cs typeface="IrisUPC" pitchFamily="34" charset="-34"/>
              </a:rPr>
              <a:t>มี</a:t>
            </a:r>
            <a:br>
              <a:rPr lang="th-TH" sz="3600" b="1" dirty="0" smtClean="0">
                <a:solidFill>
                  <a:schemeClr val="bg1"/>
                </a:solidFill>
                <a:latin typeface="IrisUPC" pitchFamily="34" charset="-34"/>
                <a:cs typeface="IrisUPC" pitchFamily="34" charset="-34"/>
              </a:rPr>
            </a:br>
            <a:r>
              <a:rPr lang="th-TH" sz="3600" b="1" dirty="0">
                <a:solidFill>
                  <a:schemeClr val="bg1"/>
                </a:solidFill>
                <a:latin typeface="IrisUPC" pitchFamily="34" charset="-34"/>
                <a:cs typeface="IrisUPC" pitchFamily="34" charset="-34"/>
              </a:rPr>
              <a:t> </a:t>
            </a:r>
            <a:r>
              <a:rPr lang="th-TH" sz="3600" b="1" dirty="0" smtClean="0">
                <a:solidFill>
                  <a:schemeClr val="bg1"/>
                </a:solidFill>
                <a:latin typeface="IrisUPC" pitchFamily="34" charset="-34"/>
                <a:cs typeface="IrisUPC" pitchFamily="34" charset="-34"/>
              </a:rPr>
              <a:t>     ผู้รับมรดกแทนที่ </a:t>
            </a:r>
            <a:r>
              <a:rPr lang="th-TH" sz="3600" b="1" dirty="0">
                <a:solidFill>
                  <a:schemeClr val="bg1"/>
                </a:solidFill>
                <a:latin typeface="IrisUPC" pitchFamily="34" charset="-34"/>
                <a:cs typeface="IrisUPC" pitchFamily="34" charset="-34"/>
              </a:rPr>
              <a:t>คู่สมรสที่ยังมีชีวิตอยู่มีสิทธิรับมรดก</a:t>
            </a:r>
            <a:r>
              <a:rPr lang="th-TH" sz="3600" b="1" u="sng" dirty="0">
                <a:solidFill>
                  <a:schemeClr val="bg1"/>
                </a:solidFill>
                <a:latin typeface="IrisUPC" pitchFamily="34" charset="-34"/>
                <a:cs typeface="IrisUPC" pitchFamily="34" charset="-34"/>
              </a:rPr>
              <a:t>สองใน</a:t>
            </a:r>
            <a:r>
              <a:rPr lang="th-TH" sz="3600" b="1" u="sng" dirty="0" smtClean="0">
                <a:solidFill>
                  <a:schemeClr val="bg1"/>
                </a:solidFill>
                <a:latin typeface="IrisUPC" pitchFamily="34" charset="-34"/>
                <a:cs typeface="IrisUPC" pitchFamily="34" charset="-34"/>
              </a:rPr>
              <a:t>สาม</a:t>
            </a:r>
            <a:r>
              <a:rPr lang="en-US" sz="3600" b="1" u="sng" dirty="0" smtClean="0">
                <a:solidFill>
                  <a:schemeClr val="bg1"/>
                </a:solidFill>
                <a:latin typeface="IrisUPC" pitchFamily="34" charset="-34"/>
                <a:cs typeface="IrisUPC" pitchFamily="34" charset="-34"/>
              </a:rPr>
              <a:t/>
            </a:r>
            <a:br>
              <a:rPr lang="en-US" sz="3600" b="1" u="sng" dirty="0" smtClean="0">
                <a:solidFill>
                  <a:schemeClr val="bg1"/>
                </a:solidFill>
                <a:latin typeface="IrisUPC" pitchFamily="34" charset="-34"/>
                <a:cs typeface="IrisUPC" pitchFamily="34" charset="-34"/>
              </a:rPr>
            </a:br>
            <a:r>
              <a:rPr lang="en-US" sz="3600" b="1" u="sng" dirty="0">
                <a:solidFill>
                  <a:schemeClr val="bg1"/>
                </a:solidFill>
                <a:latin typeface="IrisUPC" pitchFamily="34" charset="-34"/>
                <a:cs typeface="IrisUPC" pitchFamily="34" charset="-34"/>
              </a:rPr>
              <a:t/>
            </a:r>
            <a:br>
              <a:rPr lang="en-US" sz="3600" b="1" u="sng" dirty="0">
                <a:solidFill>
                  <a:schemeClr val="bg1"/>
                </a:solidFill>
                <a:latin typeface="IrisUPC" pitchFamily="34" charset="-34"/>
                <a:cs typeface="IrisUPC" pitchFamily="34" charset="-34"/>
              </a:rPr>
            </a:br>
            <a:r>
              <a:rPr lang="th-TH" sz="3600" b="1" dirty="0">
                <a:solidFill>
                  <a:schemeClr val="bg1"/>
                </a:solidFill>
                <a:latin typeface="IrisUPC" pitchFamily="34" charset="-34"/>
                <a:cs typeface="IrisUPC" pitchFamily="34" charset="-34"/>
              </a:rPr>
              <a:t>(๔) ถ้าไม่มีทายาทดังที่ระบุไว้  ในม. ๑๖๒๙ คู่สมรสที่ยังมีชีวิตอยู่มีสิทธิรับ</a:t>
            </a:r>
            <a:r>
              <a:rPr lang="th-TH" sz="3600" b="1" dirty="0" smtClean="0">
                <a:solidFill>
                  <a:schemeClr val="bg1"/>
                </a:solidFill>
                <a:latin typeface="IrisUPC" pitchFamily="34" charset="-34"/>
                <a:cs typeface="IrisUPC" pitchFamily="34" charset="-34"/>
              </a:rPr>
              <a:t>มรดก</a:t>
            </a:r>
            <a:br>
              <a:rPr lang="th-TH" sz="3600" b="1" dirty="0" smtClean="0">
                <a:solidFill>
                  <a:schemeClr val="bg1"/>
                </a:solidFill>
                <a:latin typeface="IrisUPC" pitchFamily="34" charset="-34"/>
                <a:cs typeface="IrisUPC" pitchFamily="34" charset="-34"/>
              </a:rPr>
            </a:br>
            <a:r>
              <a:rPr lang="th-TH" sz="3600" b="1" dirty="0">
                <a:solidFill>
                  <a:schemeClr val="bg1"/>
                </a:solidFill>
                <a:latin typeface="IrisUPC" pitchFamily="34" charset="-34"/>
                <a:cs typeface="IrisUPC" pitchFamily="34" charset="-34"/>
              </a:rPr>
              <a:t> </a:t>
            </a:r>
            <a:r>
              <a:rPr lang="th-TH" sz="3600" b="1" dirty="0" smtClean="0">
                <a:solidFill>
                  <a:schemeClr val="bg1"/>
                </a:solidFill>
                <a:latin typeface="IrisUPC" pitchFamily="34" charset="-34"/>
                <a:cs typeface="IrisUPC" pitchFamily="34" charset="-34"/>
              </a:rPr>
              <a:t>     ทั้งหมด</a:t>
            </a:r>
            <a:r>
              <a:rPr lang="th-TH" b="1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/>
            </a:r>
            <a:br>
              <a:rPr lang="th-TH" b="1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</a:b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539531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2542" y="594935"/>
            <a:ext cx="12079458" cy="1200329"/>
          </a:xfrm>
          <a:prstGeom prst="rect">
            <a:avLst/>
          </a:prstGeom>
          <a:solidFill>
            <a:srgbClr val="00206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th-TH" sz="4400" b="1" dirty="0">
                <a:latin typeface="IrisUPC" pitchFamily="34" charset="-34"/>
                <a:cs typeface="IrisUPC" pitchFamily="34" charset="-34"/>
              </a:rPr>
              <a:t>๓.๑.๒.ทายาทโดยพินัยกรรม   คือผู้มีสิทธิรับมรดกตามที่พินัยกรรมได้ระบุไว้</a:t>
            </a:r>
          </a:p>
          <a:p>
            <a:endParaRPr lang="th-TH" dirty="0"/>
          </a:p>
        </p:txBody>
      </p:sp>
      <p:pic>
        <p:nvPicPr>
          <p:cNvPr id="2" name="รูปภาพ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5157193"/>
            <a:ext cx="1756392" cy="1580753"/>
          </a:xfrm>
          <a:prstGeom prst="rect">
            <a:avLst/>
          </a:prstGeom>
        </p:spPr>
      </p:pic>
      <p:pic>
        <p:nvPicPr>
          <p:cNvPr id="4" name="รูปภาพ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5903" y="2106746"/>
            <a:ext cx="5688632" cy="4751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368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24418" y="601611"/>
            <a:ext cx="4501662" cy="830997"/>
          </a:xfrm>
          <a:prstGeom prst="rect">
            <a:avLst/>
          </a:prstGeom>
          <a:solidFill>
            <a:srgbClr val="00B05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th-TH" sz="4800" b="1" dirty="0">
                <a:latin typeface="IrisUPC" pitchFamily="34" charset="-34"/>
                <a:cs typeface="IrisUPC" pitchFamily="34" charset="-34"/>
              </a:rPr>
              <a:t>๑)ความหมายพินัยกรรม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303803"/>
            <a:ext cx="12192000" cy="2185214"/>
          </a:xfrm>
          <a:prstGeom prst="rect">
            <a:avLst/>
          </a:prstGeom>
          <a:solidFill>
            <a:srgbClr val="00206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th-TH" sz="5400" b="1" dirty="0" smtClean="0">
                <a:latin typeface="IrisUPC" pitchFamily="34" charset="-34"/>
                <a:cs typeface="IrisUPC" pitchFamily="34" charset="-34"/>
              </a:rPr>
              <a:t>     คือ</a:t>
            </a:r>
            <a:r>
              <a:rPr lang="th-TH" sz="5400" b="1" dirty="0">
                <a:latin typeface="IrisUPC" pitchFamily="34" charset="-34"/>
                <a:cs typeface="IrisUPC" pitchFamily="34" charset="-34"/>
              </a:rPr>
              <a:t>การ</a:t>
            </a:r>
            <a:r>
              <a:rPr lang="th-TH" sz="5400" b="1" u="sng" dirty="0">
                <a:latin typeface="IrisUPC" pitchFamily="34" charset="-34"/>
                <a:cs typeface="IrisUPC" pitchFamily="34" charset="-34"/>
              </a:rPr>
              <a:t>แสดง</a:t>
            </a:r>
            <a:r>
              <a:rPr lang="th-TH" sz="5400" b="1" dirty="0">
                <a:latin typeface="IrisUPC" pitchFamily="34" charset="-34"/>
                <a:cs typeface="IrisUPC" pitchFamily="34" charset="-34"/>
              </a:rPr>
              <a:t>เจตนาของเจ้าของมรดกในเรื่องเกี่ยวกับ</a:t>
            </a:r>
            <a:r>
              <a:rPr lang="th-TH" sz="5400" b="1" u="sng" dirty="0">
                <a:latin typeface="IrisUPC" pitchFamily="34" charset="-34"/>
                <a:cs typeface="IrisUPC" pitchFamily="34" charset="-34"/>
              </a:rPr>
              <a:t>ทรัพย์มรดก </a:t>
            </a:r>
            <a:r>
              <a:rPr lang="th-TH" sz="5400" b="1" dirty="0">
                <a:latin typeface="IrisUPC" pitchFamily="34" charset="-34"/>
                <a:cs typeface="IrisUPC" pitchFamily="34" charset="-34"/>
              </a:rPr>
              <a:t>และกิจการของตนก่อนตาย </a:t>
            </a:r>
            <a:r>
              <a:rPr lang="th-TH" sz="5400" b="1" u="sng" dirty="0">
                <a:latin typeface="IrisUPC" pitchFamily="34" charset="-34"/>
                <a:cs typeface="IrisUPC" pitchFamily="34" charset="-34"/>
              </a:rPr>
              <a:t>มีผลเมื่อตน</a:t>
            </a:r>
            <a:r>
              <a:rPr lang="th-TH" sz="5400" b="1" dirty="0">
                <a:latin typeface="IrisUPC" pitchFamily="34" charset="-34"/>
                <a:cs typeface="IrisUPC" pitchFamily="34" charset="-34"/>
              </a:rPr>
              <a:t>ถึงแก่ความตาย</a:t>
            </a:r>
          </a:p>
          <a:p>
            <a:endParaRPr lang="th-TH" dirty="0"/>
          </a:p>
        </p:txBody>
      </p:sp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1784" y="4424904"/>
            <a:ext cx="2411144" cy="2411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854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35560" y="692697"/>
            <a:ext cx="3744416" cy="830997"/>
          </a:xfrm>
          <a:prstGeom prst="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th-TH" sz="4800" b="1" dirty="0">
                <a:latin typeface="IrisUPC" pitchFamily="34" charset="-34"/>
                <a:cs typeface="IrisUPC" pitchFamily="34" charset="-34"/>
              </a:rPr>
              <a:t>  ๒) แบบพินัยกรรม</a:t>
            </a:r>
            <a:endParaRPr lang="th-TH" sz="4400" b="1" dirty="0">
              <a:latin typeface="IrisUPC" pitchFamily="34" charset="-34"/>
              <a:cs typeface="IrisUPC" pitchFamily="34" charset="-3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5174" y="1756876"/>
            <a:ext cx="6215043" cy="70788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th-TH" sz="4000" b="1" dirty="0">
                <a:latin typeface="IrisUPC" pitchFamily="34" charset="-34"/>
                <a:cs typeface="IrisUPC" pitchFamily="34" charset="-34"/>
              </a:rPr>
              <a:t>๑</a:t>
            </a:r>
            <a:r>
              <a:rPr lang="en-US" sz="4000" b="1" dirty="0">
                <a:latin typeface="IrisUPC" pitchFamily="34" charset="-34"/>
                <a:cs typeface="IrisUPC" pitchFamily="34" charset="-34"/>
              </a:rPr>
              <a:t>. </a:t>
            </a:r>
            <a:r>
              <a:rPr lang="th-TH" sz="4000" b="1" dirty="0">
                <a:latin typeface="IrisUPC" pitchFamily="34" charset="-34"/>
                <a:cs typeface="IrisUPC" pitchFamily="34" charset="-34"/>
              </a:rPr>
              <a:t>แบบ</a:t>
            </a:r>
            <a:r>
              <a:rPr lang="th-TH" sz="4000" b="1" u="sng" dirty="0">
                <a:latin typeface="IrisUPC" pitchFamily="34" charset="-34"/>
                <a:cs typeface="IrisUPC" pitchFamily="34" charset="-34"/>
              </a:rPr>
              <a:t>ธรรมดา</a:t>
            </a:r>
            <a:r>
              <a:rPr lang="th-TH" sz="4000" b="1" dirty="0">
                <a:latin typeface="IrisUPC" pitchFamily="34" charset="-34"/>
                <a:cs typeface="IrisUPC" pitchFamily="34" charset="-34"/>
              </a:rPr>
              <a:t>หรือ</a:t>
            </a:r>
            <a:r>
              <a:rPr lang="th-TH" sz="4000" b="1" u="sng" dirty="0">
                <a:latin typeface="IrisUPC" pitchFamily="34" charset="-34"/>
                <a:cs typeface="IrisUPC" pitchFamily="34" charset="-34"/>
              </a:rPr>
              <a:t>แบบทั่วไป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91383" y="2708920"/>
            <a:ext cx="4104456" cy="70788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th-TH" sz="4000" b="1" dirty="0">
                <a:latin typeface="IrisUPC" pitchFamily="34" charset="-34"/>
                <a:cs typeface="IrisUPC" pitchFamily="34" charset="-34"/>
              </a:rPr>
              <a:t>๒</a:t>
            </a:r>
            <a:r>
              <a:rPr lang="en-US" sz="4000" b="1" dirty="0">
                <a:latin typeface="IrisUPC" pitchFamily="34" charset="-34"/>
                <a:cs typeface="IrisUPC" pitchFamily="34" charset="-34"/>
              </a:rPr>
              <a:t>. </a:t>
            </a:r>
            <a:r>
              <a:rPr lang="th-TH" sz="4000" b="1" dirty="0">
                <a:latin typeface="IrisUPC" pitchFamily="34" charset="-34"/>
                <a:cs typeface="IrisUPC" pitchFamily="34" charset="-34"/>
              </a:rPr>
              <a:t>แบบ</a:t>
            </a:r>
            <a:r>
              <a:rPr lang="th-TH" sz="4000" b="1" u="sng" dirty="0">
                <a:latin typeface="IrisUPC" pitchFamily="34" charset="-34"/>
                <a:cs typeface="IrisUPC" pitchFamily="34" charset="-34"/>
              </a:rPr>
              <a:t>เขียนเอง</a:t>
            </a:r>
            <a:r>
              <a:rPr lang="th-TH" sz="4000" b="1" dirty="0">
                <a:latin typeface="IrisUPC" pitchFamily="34" charset="-34"/>
                <a:cs typeface="IrisUPC" pitchFamily="34" charset="-34"/>
              </a:rPr>
              <a:t>ทั้งฉบับ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91383" y="3708392"/>
            <a:ext cx="4212468" cy="707886"/>
          </a:xfrm>
          <a:prstGeom prst="rect">
            <a:avLst/>
          </a:prstGeom>
          <a:solidFill>
            <a:srgbClr val="6DF784"/>
          </a:solidFill>
        </p:spPr>
        <p:txBody>
          <a:bodyPr wrap="square" rtlCol="0">
            <a:spAutoFit/>
          </a:bodyPr>
          <a:lstStyle/>
          <a:p>
            <a:r>
              <a:rPr lang="th-TH" sz="4000" b="1" dirty="0">
                <a:latin typeface="IrisUPC" pitchFamily="34" charset="-34"/>
                <a:cs typeface="IrisUPC" pitchFamily="34" charset="-34"/>
              </a:rPr>
              <a:t>๓</a:t>
            </a:r>
            <a:r>
              <a:rPr lang="en-US" sz="4000" b="1" dirty="0">
                <a:latin typeface="IrisUPC" pitchFamily="34" charset="-34"/>
                <a:cs typeface="IrisUPC" pitchFamily="34" charset="-34"/>
              </a:rPr>
              <a:t>. </a:t>
            </a:r>
            <a:r>
              <a:rPr lang="th-TH" sz="4000" b="1" dirty="0">
                <a:latin typeface="IrisUPC" pitchFamily="34" charset="-34"/>
                <a:cs typeface="IrisUPC" pitchFamily="34" charset="-34"/>
              </a:rPr>
              <a:t>แบบเอกสาร</a:t>
            </a:r>
            <a:r>
              <a:rPr lang="th-TH" sz="4000" b="1" u="sng" dirty="0">
                <a:latin typeface="IrisUPC" pitchFamily="34" charset="-34"/>
                <a:cs typeface="IrisUPC" pitchFamily="34" charset="-34"/>
              </a:rPr>
              <a:t>ฝ่ายเมือง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4867" y="4581128"/>
            <a:ext cx="3312368" cy="707886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th-TH" sz="4000" b="1" dirty="0">
                <a:latin typeface="IrisUPC" pitchFamily="34" charset="-34"/>
                <a:cs typeface="IrisUPC" pitchFamily="34" charset="-34"/>
              </a:rPr>
              <a:t>๔</a:t>
            </a:r>
            <a:r>
              <a:rPr lang="en-US" sz="4000" b="1" dirty="0">
                <a:latin typeface="IrisUPC" pitchFamily="34" charset="-34"/>
                <a:cs typeface="IrisUPC" pitchFamily="34" charset="-34"/>
              </a:rPr>
              <a:t>. </a:t>
            </a:r>
            <a:r>
              <a:rPr lang="th-TH" sz="4000" b="1" dirty="0">
                <a:latin typeface="IrisUPC" pitchFamily="34" charset="-34"/>
                <a:cs typeface="IrisUPC" pitchFamily="34" charset="-34"/>
              </a:rPr>
              <a:t>แบบเอกสารลับ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044" y="2708920"/>
            <a:ext cx="3528392" cy="707886"/>
          </a:xfrm>
          <a:prstGeom prst="rect">
            <a:avLst/>
          </a:prstGeom>
          <a:solidFill>
            <a:srgbClr val="C4D70D"/>
          </a:solidFill>
        </p:spPr>
        <p:txBody>
          <a:bodyPr wrap="square" rtlCol="0">
            <a:spAutoFit/>
          </a:bodyPr>
          <a:lstStyle/>
          <a:p>
            <a:r>
              <a:rPr lang="th-TH" sz="4000" b="1" dirty="0">
                <a:latin typeface="IrisUPC" pitchFamily="34" charset="-34"/>
                <a:cs typeface="IrisUPC" pitchFamily="34" charset="-34"/>
              </a:rPr>
              <a:t>๕</a:t>
            </a:r>
            <a:r>
              <a:rPr lang="en-US" sz="4000" b="1" dirty="0">
                <a:latin typeface="IrisUPC" pitchFamily="34" charset="-34"/>
                <a:cs typeface="IrisUPC" pitchFamily="34" charset="-34"/>
              </a:rPr>
              <a:t>.</a:t>
            </a:r>
            <a:r>
              <a:rPr lang="th-TH" sz="4000" b="1" dirty="0">
                <a:latin typeface="IrisUPC" pitchFamily="34" charset="-34"/>
                <a:cs typeface="IrisUPC" pitchFamily="34" charset="-34"/>
              </a:rPr>
              <a:t>แบบทำด้วยวาจา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044" y="3708392"/>
            <a:ext cx="3924437" cy="70788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th-TH" sz="4000" b="1" dirty="0">
                <a:latin typeface="IrisUPC" pitchFamily="34" charset="-34"/>
                <a:cs typeface="IrisUPC" pitchFamily="34" charset="-34"/>
              </a:rPr>
              <a:t>๖</a:t>
            </a:r>
            <a:r>
              <a:rPr lang="en-US" sz="4000" b="1" dirty="0">
                <a:latin typeface="IrisUPC" pitchFamily="34" charset="-34"/>
                <a:cs typeface="IrisUPC" pitchFamily="34" charset="-34"/>
              </a:rPr>
              <a:t>.</a:t>
            </a:r>
            <a:r>
              <a:rPr lang="th-TH" sz="4000" b="1" dirty="0">
                <a:latin typeface="IrisUPC" pitchFamily="34" charset="-34"/>
                <a:cs typeface="IrisUPC" pitchFamily="34" charset="-34"/>
              </a:rPr>
              <a:t>แบบทำในต่างประเทศ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043" y="4581128"/>
            <a:ext cx="4175957" cy="707886"/>
          </a:xfrm>
          <a:prstGeom prst="rect">
            <a:avLst/>
          </a:prstGeom>
          <a:solidFill>
            <a:srgbClr val="0BD92D"/>
          </a:solidFill>
        </p:spPr>
        <p:txBody>
          <a:bodyPr wrap="square" rtlCol="0">
            <a:spAutoFit/>
          </a:bodyPr>
          <a:lstStyle/>
          <a:p>
            <a:r>
              <a:rPr lang="th-TH" sz="4000" b="1" dirty="0">
                <a:latin typeface="IrisUPC" pitchFamily="34" charset="-34"/>
                <a:cs typeface="IrisUPC" pitchFamily="34" charset="-34"/>
              </a:rPr>
              <a:t>๗</a:t>
            </a:r>
            <a:r>
              <a:rPr lang="en-US" sz="4000" b="1" dirty="0">
                <a:latin typeface="IrisUPC" pitchFamily="34" charset="-34"/>
                <a:cs typeface="IrisUPC" pitchFamily="34" charset="-34"/>
              </a:rPr>
              <a:t>. </a:t>
            </a:r>
            <a:r>
              <a:rPr lang="th-TH" sz="4000" b="1" dirty="0">
                <a:latin typeface="IrisUPC" pitchFamily="34" charset="-34"/>
                <a:cs typeface="IrisUPC" pitchFamily="34" charset="-34"/>
              </a:rPr>
              <a:t>แบบทำในภาวะสงคราม</a:t>
            </a:r>
          </a:p>
        </p:txBody>
      </p:sp>
      <p:sp>
        <p:nvSpPr>
          <p:cNvPr id="14" name="ดาว 5 แฉก 13"/>
          <p:cNvSpPr/>
          <p:nvPr/>
        </p:nvSpPr>
        <p:spPr>
          <a:xfrm>
            <a:off x="2884855" y="5446365"/>
            <a:ext cx="576197" cy="707886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5" name="TextBox 14"/>
          <p:cNvSpPr txBox="1"/>
          <p:nvPr/>
        </p:nvSpPr>
        <p:spPr>
          <a:xfrm>
            <a:off x="3575720" y="5569477"/>
            <a:ext cx="5832648" cy="584775"/>
          </a:xfrm>
          <a:prstGeom prst="rect">
            <a:avLst/>
          </a:prstGeom>
          <a:solidFill>
            <a:srgbClr val="FFFF00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th-TH" sz="3200" b="1" dirty="0">
                <a:solidFill>
                  <a:srgbClr val="085091"/>
                </a:solidFill>
                <a:latin typeface="IrisUPC" pitchFamily="34" charset="-34"/>
                <a:cs typeface="IrisUPC" pitchFamily="34" charset="-34"/>
              </a:rPr>
              <a:t>แบบที่ ๒</a:t>
            </a:r>
            <a:r>
              <a:rPr lang="en-US" sz="3200" b="1" dirty="0">
                <a:solidFill>
                  <a:srgbClr val="085091"/>
                </a:solidFill>
                <a:latin typeface="IrisUPC" pitchFamily="34" charset="-34"/>
                <a:cs typeface="IrisUPC" pitchFamily="34" charset="-34"/>
              </a:rPr>
              <a:t> </a:t>
            </a:r>
            <a:r>
              <a:rPr lang="th-TH" sz="3200" b="1" dirty="0">
                <a:solidFill>
                  <a:srgbClr val="085091"/>
                </a:solidFill>
                <a:latin typeface="IrisUPC" pitchFamily="34" charset="-34"/>
                <a:cs typeface="IrisUPC" pitchFamily="34" charset="-34"/>
              </a:rPr>
              <a:t>จัดว่าเป็นแบบสำคัญและเป็นแบบที่ง่าย</a:t>
            </a:r>
          </a:p>
        </p:txBody>
      </p:sp>
    </p:spTree>
    <p:extLst>
      <p:ext uri="{BB962C8B-B14F-4D97-AF65-F5344CB8AC3E}">
        <p14:creationId xmlns:p14="http://schemas.microsoft.com/office/powerpoint/2010/main" val="3625469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825173" y="692696"/>
            <a:ext cx="6215043" cy="70788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th-TH" sz="4000" b="1" dirty="0">
                <a:latin typeface="IrisUPC" pitchFamily="34" charset="-34"/>
                <a:cs typeface="IrisUPC" pitchFamily="34" charset="-34"/>
              </a:rPr>
              <a:t>๑</a:t>
            </a:r>
            <a:r>
              <a:rPr lang="en-US" sz="4000" b="1" dirty="0">
                <a:latin typeface="IrisUPC" pitchFamily="34" charset="-34"/>
                <a:cs typeface="IrisUPC" pitchFamily="34" charset="-34"/>
              </a:rPr>
              <a:t>. </a:t>
            </a:r>
            <a:r>
              <a:rPr lang="th-TH" sz="4000" b="1" dirty="0">
                <a:latin typeface="IrisUPC" pitchFamily="34" charset="-34"/>
                <a:cs typeface="IrisUPC" pitchFamily="34" charset="-34"/>
              </a:rPr>
              <a:t>แบบธรรมดาหรือแบบทั่วไป</a:t>
            </a:r>
          </a:p>
        </p:txBody>
      </p:sp>
      <p:sp>
        <p:nvSpPr>
          <p:cNvPr id="14" name="ดาว 5 แฉก 13"/>
          <p:cNvSpPr/>
          <p:nvPr/>
        </p:nvSpPr>
        <p:spPr>
          <a:xfrm>
            <a:off x="2884855" y="5446365"/>
            <a:ext cx="576197" cy="707886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TextBox 3"/>
          <p:cNvSpPr txBox="1"/>
          <p:nvPr/>
        </p:nvSpPr>
        <p:spPr>
          <a:xfrm>
            <a:off x="0" y="1776869"/>
            <a:ext cx="12013809" cy="32932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th-TH" sz="3600" b="1" dirty="0">
                <a:latin typeface="IrisUPC" pitchFamily="34" charset="-34"/>
                <a:cs typeface="IrisUPC" pitchFamily="34" charset="-34"/>
              </a:rPr>
              <a:t>     </a:t>
            </a:r>
            <a:r>
              <a:rPr lang="th-TH" sz="3600" b="1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พินัยกรรมต้องทำ</a:t>
            </a:r>
            <a:r>
              <a:rPr lang="th-TH" sz="3600" b="1" u="sng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เป็นหนังสือ </a:t>
            </a:r>
            <a:r>
              <a:rPr lang="th-TH" sz="3600" b="1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ลงวัน เดือน ปี ในขณะที่ทำขึ้น และ</a:t>
            </a:r>
            <a:r>
              <a:rPr lang="th-TH" sz="3600" b="1" u="sng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ผู้ทำพินัยกรรม</a:t>
            </a:r>
            <a:r>
              <a:rPr lang="th-TH" sz="3600" b="1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ต้องลงลายมือชื่อไว้ต่อ</a:t>
            </a:r>
            <a:r>
              <a:rPr lang="th-TH" sz="3600" b="1" u="sng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หน้าพยาน</a:t>
            </a:r>
            <a:r>
              <a:rPr lang="th-TH" sz="3600" b="1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อย่างน้อยสองคน</a:t>
            </a:r>
            <a:r>
              <a:rPr lang="th-TH" sz="3600" b="1" u="sng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พร้อมกัน </a:t>
            </a:r>
            <a:r>
              <a:rPr lang="th-TH" sz="3600" b="1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พยานสองคนนั้นต้องลง</a:t>
            </a:r>
            <a:r>
              <a:rPr lang="th-TH" sz="3600" b="1" u="sng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ลายมือชื่อรับรอง</a:t>
            </a:r>
            <a:r>
              <a:rPr lang="th-TH" sz="3600" b="1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ลายมือชื่อของผู้ทำพินัยกรรมไว้ในขณะนั้น </a:t>
            </a:r>
          </a:p>
          <a:p>
            <a:r>
              <a:rPr lang="th-TH" sz="3600" b="1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    วรรค ๒ การขูดลบ ตก เติม หรือการแก้ไขเปลี่ยนแปลงพินัยกรรมต้องปฏิบัติตามแบบข้างต้นจึงจะสมบูรณ์    มาตรา ๑๖๕๖ </a:t>
            </a:r>
            <a:endParaRPr lang="en-US" sz="3600" b="1" dirty="0">
              <a:solidFill>
                <a:srgbClr val="002060"/>
              </a:solidFill>
              <a:latin typeface="IrisUPC" pitchFamily="34" charset="-34"/>
              <a:cs typeface="IrisUPC" pitchFamily="34" charset="-34"/>
            </a:endParaRPr>
          </a:p>
          <a:p>
            <a:endParaRPr lang="th-TH" dirty="0"/>
          </a:p>
        </p:txBody>
      </p:sp>
      <p:pic>
        <p:nvPicPr>
          <p:cNvPr id="2" name="รูปภาพ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921" y="5156304"/>
            <a:ext cx="1606277" cy="1606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756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75720" y="692697"/>
            <a:ext cx="4896544" cy="830997"/>
          </a:xfrm>
          <a:prstGeom prst="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th-TH" sz="4800" b="1" dirty="0">
                <a:latin typeface="IrisUPC" pitchFamily="34" charset="-34"/>
                <a:cs typeface="IrisUPC" pitchFamily="34" charset="-34"/>
              </a:rPr>
              <a:t>๒.แบบเขียนเองทั้งฉบับ</a:t>
            </a:r>
            <a:endParaRPr lang="th-TH" sz="4400" b="1" dirty="0">
              <a:latin typeface="IrisUPC" pitchFamily="34" charset="-34"/>
              <a:cs typeface="IrisUPC" pitchFamily="34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4746" y="1772816"/>
            <a:ext cx="11929402" cy="255454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th-TH" sz="4000" b="1" dirty="0">
                <a:latin typeface="IrisUPC" pitchFamily="34" charset="-34"/>
                <a:cs typeface="IrisUPC" pitchFamily="34" charset="-34"/>
              </a:rPr>
              <a:t>     พินัยกรรมจะทำเป็นเอกสารเขียนเอง ผู้ทำพินัยกรรมต้องเขียนด้วย</a:t>
            </a:r>
            <a:r>
              <a:rPr lang="th-TH" sz="4000" b="1" u="sng" dirty="0">
                <a:latin typeface="IrisUPC" pitchFamily="34" charset="-34"/>
                <a:cs typeface="IrisUPC" pitchFamily="34" charset="-34"/>
              </a:rPr>
              <a:t>ลายมือตนเอง</a:t>
            </a:r>
            <a:r>
              <a:rPr lang="en-US" sz="4000" b="1" u="sng" dirty="0">
                <a:latin typeface="IrisUPC" pitchFamily="34" charset="-34"/>
                <a:cs typeface="IrisUPC" pitchFamily="34" charset="-34"/>
              </a:rPr>
              <a:t>  </a:t>
            </a:r>
            <a:r>
              <a:rPr lang="th-TH" sz="4000" b="1" dirty="0">
                <a:latin typeface="IrisUPC" pitchFamily="34" charset="-34"/>
                <a:cs typeface="IrisUPC" pitchFamily="34" charset="-34"/>
              </a:rPr>
              <a:t>ซึ่งข้อความทั้งหมด </a:t>
            </a:r>
            <a:r>
              <a:rPr lang="th-TH" sz="4000" b="1" u="sng" dirty="0">
                <a:latin typeface="IrisUPC" pitchFamily="34" charset="-34"/>
                <a:cs typeface="IrisUPC" pitchFamily="34" charset="-34"/>
              </a:rPr>
              <a:t>วัน เดือน </a:t>
            </a:r>
            <a:r>
              <a:rPr lang="th-TH" sz="4000" b="1" dirty="0">
                <a:latin typeface="IrisUPC" pitchFamily="34" charset="-34"/>
                <a:cs typeface="IrisUPC" pitchFamily="34" charset="-34"/>
              </a:rPr>
              <a:t>ปี และ</a:t>
            </a:r>
            <a:r>
              <a:rPr lang="th-TH" sz="4000" b="1" u="sng" dirty="0">
                <a:latin typeface="IrisUPC" pitchFamily="34" charset="-34"/>
                <a:cs typeface="IrisUPC" pitchFamily="34" charset="-34"/>
              </a:rPr>
              <a:t>ลงลายมือ</a:t>
            </a:r>
            <a:r>
              <a:rPr lang="th-TH" sz="4000" b="1" dirty="0">
                <a:latin typeface="IrisUPC" pitchFamily="34" charset="-34"/>
                <a:cs typeface="IrisUPC" pitchFamily="34" charset="-34"/>
              </a:rPr>
              <a:t>ชื่อของตน  มาตรา ๑๖๕๗ </a:t>
            </a:r>
            <a:endParaRPr lang="en-US" sz="4000" b="1" dirty="0">
              <a:latin typeface="IrisUPC" pitchFamily="34" charset="-34"/>
              <a:cs typeface="IrisUPC" pitchFamily="34" charset="-34"/>
            </a:endParaRPr>
          </a:p>
          <a:p>
            <a:r>
              <a:rPr lang="th-TH" sz="4000" b="1" dirty="0">
                <a:latin typeface="IrisUPC" pitchFamily="34" charset="-34"/>
                <a:cs typeface="IrisUPC" pitchFamily="34" charset="-34"/>
              </a:rPr>
              <a:t>    วรรค ๒ การขูดลบ ตก เติม หรือการแก้ไขเปลี่ยนแปลงพินัยกรรม ผู้ทำพินัยกรรมทำด้วยมือตนเอง และลงลายมือชื่อกำกับไว้จึงจะสมบูรณ์</a:t>
            </a:r>
          </a:p>
        </p:txBody>
      </p:sp>
      <p:pic>
        <p:nvPicPr>
          <p:cNvPr id="3" name="รูปภาพ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7929" y="4325542"/>
            <a:ext cx="2558093" cy="2558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143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51684" y="116633"/>
            <a:ext cx="5040560" cy="830997"/>
          </a:xfrm>
          <a:prstGeom prst="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th-TH" sz="4800" b="1" dirty="0">
                <a:latin typeface="IrisUPC" pitchFamily="34" charset="-34"/>
                <a:cs typeface="IrisUPC" pitchFamily="34" charset="-34"/>
              </a:rPr>
              <a:t>๓</a:t>
            </a:r>
            <a:r>
              <a:rPr lang="en-US" sz="4800" b="1" dirty="0">
                <a:latin typeface="IrisUPC" pitchFamily="34" charset="-34"/>
                <a:cs typeface="IrisUPC" pitchFamily="34" charset="-34"/>
              </a:rPr>
              <a:t>. </a:t>
            </a:r>
            <a:r>
              <a:rPr lang="th-TH" sz="4800" b="1" dirty="0">
                <a:latin typeface="IrisUPC" pitchFamily="34" charset="-34"/>
                <a:cs typeface="IrisUPC" pitchFamily="34" charset="-34"/>
              </a:rPr>
              <a:t>แบบเอกสารฝ่ายเมือง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2031" y="1628801"/>
            <a:ext cx="11619914" cy="452431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71500" indent="-571500">
              <a:buFont typeface="Arial" pitchFamily="34" charset="0"/>
              <a:buChar char="•"/>
            </a:pPr>
            <a:r>
              <a:rPr lang="th-TH" sz="3600" b="1" dirty="0" smtClean="0">
                <a:latin typeface="IrisUPC" pitchFamily="34" charset="-34"/>
                <a:cs typeface="IrisUPC" pitchFamily="34" charset="-34"/>
              </a:rPr>
              <a:t>ผู้ทำ</a:t>
            </a:r>
            <a:r>
              <a:rPr lang="th-TH" sz="3600" b="1" dirty="0">
                <a:latin typeface="IrisUPC" pitchFamily="34" charset="-34"/>
                <a:cs typeface="IrisUPC" pitchFamily="34" charset="-34"/>
              </a:rPr>
              <a:t>พินัยกรรม</a:t>
            </a:r>
            <a:r>
              <a:rPr lang="th-TH" sz="3600" b="1" u="sng" dirty="0">
                <a:latin typeface="IrisUPC" pitchFamily="34" charset="-34"/>
                <a:cs typeface="IrisUPC" pitchFamily="34" charset="-34"/>
              </a:rPr>
              <a:t>ต้องไปจดแจ้ง</a:t>
            </a:r>
            <a:r>
              <a:rPr lang="th-TH" sz="3600" b="1" dirty="0">
                <a:latin typeface="IrisUPC" pitchFamily="34" charset="-34"/>
                <a:cs typeface="IrisUPC" pitchFamily="34" charset="-34"/>
              </a:rPr>
              <a:t>ข้อความที่ประสงค์จะใส่ไว้ในพินัยกรรมต่อหน้านายอำเภอ</a:t>
            </a:r>
          </a:p>
          <a:p>
            <a:pPr marL="571500" indent="-571500">
              <a:buFont typeface="Arial" pitchFamily="34" charset="0"/>
              <a:buChar char="•"/>
            </a:pPr>
            <a:r>
              <a:rPr lang="th-TH" sz="3600" b="1" dirty="0">
                <a:latin typeface="IrisUPC" pitchFamily="34" charset="-34"/>
                <a:cs typeface="IrisUPC" pitchFamily="34" charset="-34"/>
              </a:rPr>
              <a:t>นายอำเภอต้อง</a:t>
            </a:r>
            <a:r>
              <a:rPr lang="th-TH" sz="3600" b="1" u="sng" dirty="0">
                <a:latin typeface="IrisUPC" pitchFamily="34" charset="-34"/>
                <a:cs typeface="IrisUPC" pitchFamily="34" charset="-34"/>
              </a:rPr>
              <a:t>จดข้อความ </a:t>
            </a:r>
            <a:r>
              <a:rPr lang="th-TH" sz="3600" b="1" dirty="0">
                <a:latin typeface="IrisUPC" pitchFamily="34" charset="-34"/>
                <a:cs typeface="IrisUPC" pitchFamily="34" charset="-34"/>
              </a:rPr>
              <a:t>อ่านให้ฟัง</a:t>
            </a:r>
          </a:p>
          <a:p>
            <a:pPr marL="571500" indent="-571500">
              <a:buFont typeface="Arial" pitchFamily="34" charset="0"/>
              <a:buChar char="•"/>
            </a:pPr>
            <a:r>
              <a:rPr lang="th-TH" sz="3600" b="1" u="sng" dirty="0">
                <a:latin typeface="IrisUPC" pitchFamily="34" charset="-34"/>
                <a:cs typeface="IrisUPC" pitchFamily="34" charset="-34"/>
              </a:rPr>
              <a:t>ผู้ทำ</a:t>
            </a:r>
            <a:r>
              <a:rPr lang="th-TH" sz="3600" b="1" dirty="0">
                <a:latin typeface="IrisUPC" pitchFamily="34" charset="-34"/>
                <a:cs typeface="IrisUPC" pitchFamily="34" charset="-34"/>
              </a:rPr>
              <a:t>พินัยกรรม-</a:t>
            </a:r>
            <a:r>
              <a:rPr lang="th-TH" sz="3600" b="1" u="sng" dirty="0">
                <a:latin typeface="IrisUPC" pitchFamily="34" charset="-34"/>
                <a:cs typeface="IrisUPC" pitchFamily="34" charset="-34"/>
              </a:rPr>
              <a:t>พยานทราบ/ลงลายมือ</a:t>
            </a:r>
            <a:r>
              <a:rPr lang="th-TH" sz="3600" b="1" dirty="0">
                <a:latin typeface="IrisUPC" pitchFamily="34" charset="-34"/>
                <a:cs typeface="IrisUPC" pitchFamily="34" charset="-34"/>
              </a:rPr>
              <a:t>ชื่อ</a:t>
            </a:r>
          </a:p>
          <a:p>
            <a:pPr marL="571500" indent="-571500">
              <a:buFont typeface="Arial" pitchFamily="34" charset="0"/>
              <a:buChar char="•"/>
            </a:pPr>
            <a:r>
              <a:rPr lang="th-TH" sz="3600" b="1" dirty="0">
                <a:latin typeface="IrisUPC" pitchFamily="34" charset="-34"/>
                <a:cs typeface="IrisUPC" pitchFamily="34" charset="-34"/>
              </a:rPr>
              <a:t>นายอำเภอลงลายมือชื่อและลงวัน เดือน ปี/</a:t>
            </a:r>
            <a:r>
              <a:rPr lang="th-TH" sz="3600" b="1" u="sng" dirty="0">
                <a:latin typeface="IrisUPC" pitchFamily="34" charset="-34"/>
                <a:cs typeface="IrisUPC" pitchFamily="34" charset="-34"/>
              </a:rPr>
              <a:t>ประทับตรา</a:t>
            </a:r>
            <a:r>
              <a:rPr lang="th-TH" sz="3600" b="1" dirty="0">
                <a:latin typeface="IrisUPC" pitchFamily="34" charset="-34"/>
                <a:cs typeface="IrisUPC" pitchFamily="34" charset="-34"/>
              </a:rPr>
              <a:t>ตำแหน่ง</a:t>
            </a:r>
          </a:p>
          <a:p>
            <a:pPr marL="571500" indent="-571500">
              <a:buFont typeface="Arial" pitchFamily="34" charset="0"/>
              <a:buChar char="•"/>
            </a:pPr>
            <a:r>
              <a:rPr lang="th-TH" sz="3600" b="1" dirty="0">
                <a:latin typeface="IrisUPC" pitchFamily="34" charset="-34"/>
                <a:cs typeface="IrisUPC" pitchFamily="34" charset="-34"/>
              </a:rPr>
              <a:t>การขูดลบ ตก เติม หรือแก้ไข </a:t>
            </a:r>
            <a:r>
              <a:rPr lang="th-TH" sz="3600" b="1" u="sng" dirty="0">
                <a:latin typeface="IrisUPC" pitchFamily="34" charset="-34"/>
                <a:cs typeface="IrisUPC" pitchFamily="34" charset="-34"/>
              </a:rPr>
              <a:t>ผู้ทำ-พยาน-นายอำเภอ ลงลายมือ</a:t>
            </a:r>
            <a:r>
              <a:rPr lang="th-TH" sz="3600" b="1" dirty="0">
                <a:latin typeface="IrisUPC" pitchFamily="34" charset="-34"/>
                <a:cs typeface="IrisUPC" pitchFamily="34" charset="-34"/>
              </a:rPr>
              <a:t>ชื่อกำกับ</a:t>
            </a:r>
            <a:r>
              <a:rPr lang="th-TH" sz="3600" b="1" dirty="0" smtClean="0">
                <a:latin typeface="IrisUPC" pitchFamily="34" charset="-34"/>
                <a:cs typeface="IrisUPC" pitchFamily="34" charset="-34"/>
              </a:rPr>
              <a:t>ไว้   มาตรา </a:t>
            </a:r>
            <a:r>
              <a:rPr lang="th-TH" sz="3600" b="1" dirty="0">
                <a:latin typeface="IrisUPC" pitchFamily="34" charset="-34"/>
                <a:cs typeface="IrisUPC" pitchFamily="34" charset="-34"/>
              </a:rPr>
              <a:t>๑๖๕๘ </a:t>
            </a:r>
          </a:p>
          <a:p>
            <a:pPr marL="571500" indent="-571500">
              <a:buFont typeface="Arial" pitchFamily="34" charset="0"/>
              <a:buChar char="•"/>
            </a:pPr>
            <a:endParaRPr lang="th-TH" sz="3600" b="1" dirty="0">
              <a:latin typeface="IrisUPC" pitchFamily="34" charset="-34"/>
              <a:cs typeface="IrisUPC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77696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35560" y="692697"/>
            <a:ext cx="3744416" cy="830997"/>
          </a:xfrm>
          <a:prstGeom prst="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th-TH" sz="4800" b="1" dirty="0">
                <a:latin typeface="IrisUPC" pitchFamily="34" charset="-34"/>
                <a:cs typeface="IrisUPC" pitchFamily="34" charset="-34"/>
              </a:rPr>
              <a:t>๓) ผู้ทำพินัยกรรม</a:t>
            </a:r>
            <a:endParaRPr lang="th-TH" sz="4400" b="1" dirty="0">
              <a:latin typeface="IrisUPC" pitchFamily="34" charset="-34"/>
              <a:cs typeface="IrisUPC" pitchFamily="34" charset="-3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5174" y="1756876"/>
            <a:ext cx="2326611" cy="70788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th-TH" sz="4000" b="1" dirty="0">
                <a:latin typeface="IrisUPC" pitchFamily="34" charset="-34"/>
                <a:cs typeface="IrisUPC" pitchFamily="34" charset="-34"/>
              </a:rPr>
              <a:t>๑.ผู้เยาว์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181" y="2708921"/>
            <a:ext cx="11380763" cy="1323439"/>
          </a:xfrm>
          <a:prstGeom prst="rect">
            <a:avLst/>
          </a:prstGeom>
          <a:solidFill>
            <a:srgbClr val="C4D70D"/>
          </a:solidFill>
        </p:spPr>
        <p:txBody>
          <a:bodyPr wrap="square" rtlCol="0">
            <a:spAutoFit/>
          </a:bodyPr>
          <a:lstStyle/>
          <a:p>
            <a:r>
              <a:rPr lang="th-TH" sz="4000" b="1" dirty="0" smtClean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   พินัยกรรม</a:t>
            </a:r>
            <a:r>
              <a:rPr lang="th-TH" sz="4000" b="1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ยังบุคคลที่มีอายุยัง</a:t>
            </a:r>
            <a:r>
              <a:rPr lang="th-TH" sz="4000" b="1" u="sng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ไม่ครบ</a:t>
            </a:r>
            <a:r>
              <a:rPr lang="th-TH" sz="4000" b="1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สิบห้าปีบริบูรณ์ทำขึ้นนั้น </a:t>
            </a:r>
            <a:r>
              <a:rPr lang="th-TH" sz="4000" b="1" u="sng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เป็น</a:t>
            </a:r>
            <a:r>
              <a:rPr lang="th-TH" sz="4000" b="1" u="sng" dirty="0" smtClean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โมฆะ</a:t>
            </a:r>
            <a:r>
              <a:rPr lang="th-TH" sz="4000" b="1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มาตรา  ๑๗๐๓ </a:t>
            </a:r>
            <a:endParaRPr lang="th-TH" sz="4000" b="1" u="sng" dirty="0">
              <a:solidFill>
                <a:srgbClr val="002060"/>
              </a:solidFill>
              <a:latin typeface="IrisUPC" pitchFamily="34" charset="-34"/>
              <a:cs typeface="IrisUPC" pitchFamily="34" charset="-34"/>
            </a:endParaRPr>
          </a:p>
        </p:txBody>
      </p:sp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6236" y="4187366"/>
            <a:ext cx="2216443" cy="2659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328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5409" y="692696"/>
            <a:ext cx="3744416" cy="830997"/>
          </a:xfrm>
          <a:prstGeom prst="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th-TH" sz="4800" b="1" dirty="0">
                <a:latin typeface="IrisUPC" pitchFamily="34" charset="-34"/>
                <a:cs typeface="IrisUPC" pitchFamily="34" charset="-34"/>
              </a:rPr>
              <a:t>๒. คนวิกลจริต</a:t>
            </a:r>
          </a:p>
        </p:txBody>
      </p:sp>
      <p:sp>
        <p:nvSpPr>
          <p:cNvPr id="14" name="ดาว 5 แฉก 13"/>
          <p:cNvSpPr/>
          <p:nvPr/>
        </p:nvSpPr>
        <p:spPr>
          <a:xfrm>
            <a:off x="2884855" y="5446365"/>
            <a:ext cx="576197" cy="707886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5" name="TextBox 14"/>
          <p:cNvSpPr txBox="1"/>
          <p:nvPr/>
        </p:nvSpPr>
        <p:spPr>
          <a:xfrm>
            <a:off x="506437" y="2348880"/>
            <a:ext cx="11493305" cy="1754326"/>
          </a:xfrm>
          <a:prstGeom prst="rect">
            <a:avLst/>
          </a:prstGeom>
          <a:solidFill>
            <a:srgbClr val="FFFF00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th-TH" sz="3600" b="1" dirty="0">
                <a:solidFill>
                  <a:srgbClr val="085091"/>
                </a:solidFill>
                <a:latin typeface="IrisUPC" pitchFamily="34" charset="-34"/>
                <a:cs typeface="IrisUPC" pitchFamily="34" charset="-34"/>
              </a:rPr>
              <a:t>   </a:t>
            </a:r>
            <a:r>
              <a:rPr lang="th-TH" sz="3600" b="1" dirty="0">
                <a:solidFill>
                  <a:schemeClr val="tx1"/>
                </a:solidFill>
                <a:latin typeface="IrisUPC" pitchFamily="34" charset="-34"/>
                <a:cs typeface="IrisUPC" pitchFamily="34" charset="-34"/>
              </a:rPr>
              <a:t>วรรคสอง พินัยกรรมซึ่งบุคคลผู้ถูกกล่าวอ้างว่าเป็นคนวิกลจริต แต่ศาลยัง</a:t>
            </a:r>
            <a:r>
              <a:rPr lang="th-TH" sz="3600" b="1" u="sng" dirty="0">
                <a:solidFill>
                  <a:schemeClr val="tx1"/>
                </a:solidFill>
                <a:latin typeface="IrisUPC" pitchFamily="34" charset="-34"/>
                <a:cs typeface="IrisUPC" pitchFamily="34" charset="-34"/>
              </a:rPr>
              <a:t>ไม่ได้สั่ง</a:t>
            </a:r>
            <a:r>
              <a:rPr lang="th-TH" sz="3600" b="1" dirty="0">
                <a:solidFill>
                  <a:schemeClr val="tx1"/>
                </a:solidFill>
                <a:latin typeface="IrisUPC" pitchFamily="34" charset="-34"/>
                <a:cs typeface="IrisUPC" pitchFamily="34" charset="-34"/>
              </a:rPr>
              <a:t>ให้เป็นคนไร้ความสามารถทำขึ้น  จะเป็นอันเสียเปล่าก็แต่เมื่อ</a:t>
            </a:r>
            <a:r>
              <a:rPr lang="th-TH" sz="3600" b="1" u="sng" dirty="0">
                <a:solidFill>
                  <a:schemeClr val="tx1"/>
                </a:solidFill>
                <a:latin typeface="IrisUPC" pitchFamily="34" charset="-34"/>
                <a:cs typeface="IrisUPC" pitchFamily="34" charset="-34"/>
              </a:rPr>
              <a:t>พิสูจน์</a:t>
            </a:r>
            <a:r>
              <a:rPr lang="th-TH" sz="3600" b="1" dirty="0">
                <a:solidFill>
                  <a:schemeClr val="tx1"/>
                </a:solidFill>
                <a:latin typeface="IrisUPC" pitchFamily="34" charset="-34"/>
                <a:cs typeface="IrisUPC" pitchFamily="34" charset="-34"/>
              </a:rPr>
              <a:t>ได้ว่าในเวลาที่ทำพินัยกรรมนั้นผู้ทำจริตวิกล</a:t>
            </a:r>
            <a:r>
              <a:rPr lang="th-TH" sz="3600" b="1" dirty="0" smtClean="0">
                <a:solidFill>
                  <a:schemeClr val="tx1"/>
                </a:solidFill>
                <a:latin typeface="IrisUPC" pitchFamily="34" charset="-34"/>
                <a:cs typeface="IrisUPC" pitchFamily="34" charset="-34"/>
              </a:rPr>
              <a:t>อยู่  มาตรา  </a:t>
            </a:r>
            <a:r>
              <a:rPr lang="th-TH" sz="3600" b="1" dirty="0">
                <a:solidFill>
                  <a:schemeClr val="tx1"/>
                </a:solidFill>
                <a:latin typeface="IrisUPC" pitchFamily="34" charset="-34"/>
                <a:cs typeface="IrisUPC" pitchFamily="34" charset="-34"/>
              </a:rPr>
              <a:t>๑๗๐๔ </a:t>
            </a:r>
          </a:p>
        </p:txBody>
      </p:sp>
      <p:pic>
        <p:nvPicPr>
          <p:cNvPr id="3" name="รูปภาพ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7928" y="4126260"/>
            <a:ext cx="2276450" cy="2731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234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35560" y="692697"/>
            <a:ext cx="4752528" cy="830997"/>
          </a:xfrm>
          <a:prstGeom prst="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th-TH" sz="4800" b="1" dirty="0">
                <a:latin typeface="IrisUPC" pitchFamily="34" charset="-34"/>
                <a:cs typeface="IrisUPC" pitchFamily="34" charset="-34"/>
              </a:rPr>
              <a:t>๓.คนไร้ความสามารก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1182" y="1756876"/>
            <a:ext cx="11226017" cy="132343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th-TH" sz="4000" b="1" dirty="0">
                <a:latin typeface="IrisUPC" pitchFamily="34" charset="-34"/>
                <a:cs typeface="IrisUPC" pitchFamily="34" charset="-34"/>
              </a:rPr>
              <a:t>     พินัยกรรมซึ่งบุคคลผู้ถูก</a:t>
            </a:r>
            <a:r>
              <a:rPr lang="th-TH" sz="4000" b="1" u="sng" dirty="0">
                <a:latin typeface="IrisUPC" pitchFamily="34" charset="-34"/>
                <a:cs typeface="IrisUPC" pitchFamily="34" charset="-34"/>
              </a:rPr>
              <a:t>ศาล</a:t>
            </a:r>
            <a:r>
              <a:rPr lang="th-TH" sz="4000" b="1" dirty="0">
                <a:latin typeface="IrisUPC" pitchFamily="34" charset="-34"/>
                <a:cs typeface="IrisUPC" pitchFamily="34" charset="-34"/>
              </a:rPr>
              <a:t>สั่งให้เป็นคนไร้ความสามารถทำขึ้น </a:t>
            </a:r>
            <a:r>
              <a:rPr lang="th-TH" sz="4000" b="1" u="sng" dirty="0">
                <a:latin typeface="IrisUPC" pitchFamily="34" charset="-34"/>
                <a:cs typeface="IrisUPC" pitchFamily="34" charset="-34"/>
              </a:rPr>
              <a:t>เป็นโมฆะ</a:t>
            </a:r>
            <a:r>
              <a:rPr lang="th-TH" sz="4000" b="1" dirty="0">
                <a:latin typeface="IrisUPC" pitchFamily="34" charset="-34"/>
                <a:cs typeface="IrisUPC" pitchFamily="34" charset="-34"/>
              </a:rPr>
              <a:t>  มาตรา ๑๗๐๔   </a:t>
            </a:r>
            <a:endParaRPr lang="th-TH" sz="4000" b="1" u="sng" dirty="0">
              <a:latin typeface="IrisUPC" pitchFamily="34" charset="-34"/>
              <a:cs typeface="IrisUPC" pitchFamily="34" charset="-34"/>
            </a:endParaRPr>
          </a:p>
        </p:txBody>
      </p:sp>
      <p:sp>
        <p:nvSpPr>
          <p:cNvPr id="14" name="ดาว 5 แฉก 13"/>
          <p:cNvSpPr/>
          <p:nvPr/>
        </p:nvSpPr>
        <p:spPr>
          <a:xfrm>
            <a:off x="2884855" y="5446365"/>
            <a:ext cx="576197" cy="707886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1744" y="3192943"/>
            <a:ext cx="4824536" cy="3618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506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35560" y="692697"/>
            <a:ext cx="7056784" cy="830997"/>
          </a:xfrm>
          <a:prstGeom prst="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th-TH" sz="4800" b="1" dirty="0">
                <a:latin typeface="IrisUPC" pitchFamily="34" charset="-34"/>
                <a:cs typeface="IrisUPC" pitchFamily="34" charset="-34"/>
              </a:rPr>
              <a:t>๔. คนเสมือนไร้ความสามารถ</a:t>
            </a:r>
            <a:endParaRPr lang="th-TH" sz="4400" b="1" dirty="0">
              <a:latin typeface="IrisUPC" pitchFamily="34" charset="-34"/>
              <a:cs typeface="IrisUPC" pitchFamily="34" charset="-3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57300" y="2492896"/>
            <a:ext cx="9118600" cy="707886"/>
          </a:xfrm>
          <a:prstGeom prst="rect">
            <a:avLst/>
          </a:prstGeom>
          <a:solidFill>
            <a:srgbClr val="C4D70D"/>
          </a:solidFill>
        </p:spPr>
        <p:txBody>
          <a:bodyPr wrap="square" rtlCol="0">
            <a:spAutoFit/>
          </a:bodyPr>
          <a:lstStyle/>
          <a:p>
            <a:r>
              <a:rPr lang="th-TH" sz="4000" b="1" dirty="0">
                <a:latin typeface="IrisUPC" pitchFamily="34" charset="-34"/>
                <a:cs typeface="IrisUPC" pitchFamily="34" charset="-34"/>
              </a:rPr>
              <a:t>พินัยกรรมซึ่งบุคคลเสมือนไร้ความสามารถทำขึ้น มีผล</a:t>
            </a:r>
            <a:r>
              <a:rPr lang="th-TH" sz="4000" b="1" u="sng" dirty="0">
                <a:latin typeface="IrisUPC" pitchFamily="34" charset="-34"/>
                <a:cs typeface="IrisUPC" pitchFamily="34" charset="-34"/>
              </a:rPr>
              <a:t>สมบูรณ์</a:t>
            </a:r>
          </a:p>
        </p:txBody>
      </p:sp>
      <p:sp>
        <p:nvSpPr>
          <p:cNvPr id="14" name="ดาว 5 แฉก 13"/>
          <p:cNvSpPr/>
          <p:nvPr/>
        </p:nvSpPr>
        <p:spPr>
          <a:xfrm>
            <a:off x="2884855" y="5446365"/>
            <a:ext cx="576197" cy="707886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3" name="รูปภาพ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4113" y="3573016"/>
            <a:ext cx="2576483" cy="3091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497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35560" y="692697"/>
            <a:ext cx="3744416" cy="830997"/>
          </a:xfrm>
          <a:prstGeom prst="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th-TH" sz="4800" b="1" dirty="0">
                <a:latin typeface="IrisUPC" pitchFamily="34" charset="-34"/>
                <a:cs typeface="IrisUPC" pitchFamily="34" charset="-34"/>
              </a:rPr>
              <a:t>๕.สามีหรือภรรยา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3100" y="2277577"/>
            <a:ext cx="10769600" cy="193899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th-TH" sz="4000" b="1" dirty="0">
                <a:latin typeface="IrisUPC" pitchFamily="34" charset="-34"/>
                <a:cs typeface="IrisUPC" pitchFamily="34" charset="-34"/>
              </a:rPr>
              <a:t>     สามีหรือภริยา</a:t>
            </a:r>
            <a:r>
              <a:rPr lang="th-TH" sz="4000" b="1" u="sng" dirty="0">
                <a:latin typeface="IrisUPC" pitchFamily="34" charset="-34"/>
                <a:cs typeface="IrisUPC" pitchFamily="34" charset="-34"/>
              </a:rPr>
              <a:t>ไม่มี</a:t>
            </a:r>
            <a:r>
              <a:rPr lang="th-TH" sz="4000" b="1" dirty="0">
                <a:latin typeface="IrisUPC" pitchFamily="34" charset="-34"/>
                <a:cs typeface="IrisUPC" pitchFamily="34" charset="-34"/>
              </a:rPr>
              <a:t>อำนาจทำพินัยกรรม ยกสินสมรสที่</a:t>
            </a:r>
            <a:r>
              <a:rPr lang="th-TH" sz="4000" b="1" u="sng" dirty="0">
                <a:latin typeface="IrisUPC" pitchFamily="34" charset="-34"/>
                <a:cs typeface="IrisUPC" pitchFamily="34" charset="-34"/>
              </a:rPr>
              <a:t>เกินกว่าส่วน</a:t>
            </a:r>
            <a:r>
              <a:rPr lang="th-TH" sz="4000" b="1" dirty="0">
                <a:latin typeface="IrisUPC" pitchFamily="34" charset="-34"/>
                <a:cs typeface="IrisUPC" pitchFamily="34" charset="-34"/>
              </a:rPr>
              <a:t>ของตนให้แก่บุคคลใด แม้คู่สมรสอีกฝ่ายหนึ่งจะ</a:t>
            </a:r>
            <a:r>
              <a:rPr lang="th-TH" sz="4000" b="1" u="sng" dirty="0">
                <a:latin typeface="IrisUPC" pitchFamily="34" charset="-34"/>
                <a:cs typeface="IrisUPC" pitchFamily="34" charset="-34"/>
              </a:rPr>
              <a:t>ตกลงยินยอม </a:t>
            </a:r>
            <a:r>
              <a:rPr lang="th-TH" sz="4000" b="1" dirty="0">
                <a:latin typeface="IrisUPC" pitchFamily="34" charset="-34"/>
                <a:cs typeface="IrisUPC" pitchFamily="34" charset="-34"/>
              </a:rPr>
              <a:t>ให้ทำพินัยกรรมยกทรัพย์สินส่วนของตนด้วยก็ตาม  มาตรา ๑๔๘๑ </a:t>
            </a:r>
            <a:endParaRPr lang="en-US" sz="4000" b="1" dirty="0">
              <a:latin typeface="IrisUPC" pitchFamily="34" charset="-34"/>
              <a:cs typeface="IrisUPC" pitchFamily="34" charset="-34"/>
            </a:endParaRPr>
          </a:p>
        </p:txBody>
      </p:sp>
      <p:sp>
        <p:nvSpPr>
          <p:cNvPr id="14" name="ดาว 5 แฉก 13"/>
          <p:cNvSpPr/>
          <p:nvPr/>
        </p:nvSpPr>
        <p:spPr>
          <a:xfrm>
            <a:off x="2884855" y="5446365"/>
            <a:ext cx="576197" cy="707886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7017" y="3694212"/>
            <a:ext cx="2636490" cy="3163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417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35560" y="692697"/>
            <a:ext cx="7128792" cy="830997"/>
          </a:xfrm>
          <a:prstGeom prst="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th-TH" sz="4800" b="1" dirty="0">
                <a:latin typeface="IrisUPC" pitchFamily="34" charset="-34"/>
                <a:cs typeface="IrisUPC" pitchFamily="34" charset="-34"/>
              </a:rPr>
              <a:t>๔) ผู้เขียนและพยานในพินัยกรรม</a:t>
            </a:r>
            <a:endParaRPr lang="th-TH" sz="4400" b="1" dirty="0">
              <a:latin typeface="IrisUPC" pitchFamily="34" charset="-34"/>
              <a:cs typeface="IrisUPC" pitchFamily="34" charset="-3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1691" y="2060849"/>
            <a:ext cx="11479237" cy="2246769"/>
          </a:xfrm>
          <a:prstGeom prst="rect">
            <a:avLst/>
          </a:prstGeom>
          <a:solidFill>
            <a:srgbClr val="FFFF00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th-TH" sz="3600" b="1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     </a:t>
            </a:r>
            <a:r>
              <a:rPr lang="th-TH" sz="3600" b="1" u="sng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ผู้เขียน</a:t>
            </a:r>
            <a:r>
              <a:rPr lang="th-TH" sz="3600" b="1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หรือ</a:t>
            </a:r>
            <a:r>
              <a:rPr lang="th-TH" sz="3600" b="1" u="sng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พยา</a:t>
            </a:r>
            <a:r>
              <a:rPr lang="th-TH" sz="3600" b="1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นในพินัยกรรมจะเป็น</a:t>
            </a:r>
            <a:r>
              <a:rPr lang="th-TH" sz="3600" b="1" u="sng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ผู้รับ</a:t>
            </a:r>
            <a:r>
              <a:rPr lang="th-TH" sz="3600" b="1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พินัยกรรมตามพินัยกรรมไม่ได้</a:t>
            </a:r>
            <a:endParaRPr lang="en-US" sz="3600" b="1" dirty="0">
              <a:solidFill>
                <a:srgbClr val="002060"/>
              </a:solidFill>
              <a:latin typeface="IrisUPC" pitchFamily="34" charset="-34"/>
              <a:cs typeface="IrisUPC" pitchFamily="34" charset="-34"/>
            </a:endParaRPr>
          </a:p>
          <a:p>
            <a:r>
              <a:rPr lang="th-TH" sz="3600" b="1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   วรรค ๒ ความตามวรรคก่อน ให้ใช้บังคับแก่</a:t>
            </a:r>
            <a:r>
              <a:rPr lang="th-TH" sz="3600" b="1" u="sng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คู่สมรส</a:t>
            </a:r>
            <a:r>
              <a:rPr lang="th-TH" sz="3600" b="1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ของ</a:t>
            </a:r>
            <a:r>
              <a:rPr lang="th-TH" sz="3600" b="1" u="sng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ผู้เขียน</a:t>
            </a:r>
            <a:r>
              <a:rPr lang="th-TH" sz="3600" b="1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หรือ</a:t>
            </a:r>
            <a:r>
              <a:rPr lang="th-TH" sz="3600" b="1" u="sng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พยาน</a:t>
            </a:r>
            <a:r>
              <a:rPr lang="th-TH" sz="3600" b="1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ในพินัยกรรมด้วยมาตรา ๑๖๕๓</a:t>
            </a:r>
            <a:r>
              <a:rPr lang="th-TH" sz="3600" b="1" u="sng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 </a:t>
            </a:r>
            <a:endParaRPr lang="en-US" sz="3600" b="1" dirty="0">
              <a:solidFill>
                <a:srgbClr val="002060"/>
              </a:solidFill>
              <a:latin typeface="IrisUPC" pitchFamily="34" charset="-34"/>
              <a:cs typeface="IrisUPC" pitchFamily="34" charset="-34"/>
            </a:endParaRPr>
          </a:p>
          <a:p>
            <a:r>
              <a:rPr lang="th-TH" sz="3200" b="1" u="sng" dirty="0"/>
              <a:t> </a:t>
            </a:r>
            <a:endParaRPr lang="en-US" sz="3200" dirty="0"/>
          </a:p>
        </p:txBody>
      </p:sp>
      <p:pic>
        <p:nvPicPr>
          <p:cNvPr id="3" name="รูปภาพ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160" y="3401616"/>
            <a:ext cx="2880320" cy="345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318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35560" y="692697"/>
            <a:ext cx="3744416" cy="830997"/>
          </a:xfrm>
          <a:prstGeom prst="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th-TH" sz="4800" b="1" dirty="0">
                <a:latin typeface="IrisUPC" pitchFamily="34" charset="-34"/>
                <a:cs typeface="IrisUPC" pitchFamily="34" charset="-34"/>
              </a:rPr>
              <a:t>  ๓.๒ วัด</a:t>
            </a:r>
            <a:endParaRPr lang="th-TH" sz="4400" b="1" dirty="0">
              <a:latin typeface="IrisUPC" pitchFamily="34" charset="-34"/>
              <a:cs typeface="IrisUPC" pitchFamily="34" charset="-3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8302" y="2276873"/>
            <a:ext cx="11394830" cy="1938992"/>
          </a:xfrm>
          <a:prstGeom prst="rect">
            <a:avLst/>
          </a:prstGeom>
          <a:solidFill>
            <a:srgbClr val="C4D70D"/>
          </a:solidFill>
        </p:spPr>
        <p:txBody>
          <a:bodyPr wrap="square" rtlCol="0">
            <a:spAutoFit/>
          </a:bodyPr>
          <a:lstStyle/>
          <a:p>
            <a:r>
              <a:rPr lang="th-TH" sz="4000" b="1" dirty="0">
                <a:latin typeface="IrisUPC" pitchFamily="34" charset="-34"/>
                <a:cs typeface="IrisUPC" pitchFamily="34" charset="-34"/>
              </a:rPr>
              <a:t>       ทรัพย์สินของพระภิกษุที่</a:t>
            </a:r>
            <a:r>
              <a:rPr lang="th-TH" sz="4000" b="1" u="sng" dirty="0">
                <a:latin typeface="IrisUPC" pitchFamily="34" charset="-34"/>
                <a:cs typeface="IrisUPC" pitchFamily="34" charset="-34"/>
              </a:rPr>
              <a:t>ได้มาระหว่าง</a:t>
            </a:r>
            <a:r>
              <a:rPr lang="th-TH" sz="4000" b="1" dirty="0">
                <a:latin typeface="IrisUPC" pitchFamily="34" charset="-34"/>
                <a:cs typeface="IrisUPC" pitchFamily="34" charset="-34"/>
              </a:rPr>
              <a:t>สมณะเพศ เมื่อพระภิกษุนั้นถึงแก่มรณภาพ   ให้ตกเป็นสมบัติของ</a:t>
            </a:r>
            <a:r>
              <a:rPr lang="th-TH" sz="4000" b="1" u="sng" dirty="0">
                <a:latin typeface="IrisUPC" pitchFamily="34" charset="-34"/>
                <a:cs typeface="IrisUPC" pitchFamily="34" charset="-34"/>
              </a:rPr>
              <a:t>วัดที่เป็นภูมิลำเนา</a:t>
            </a:r>
            <a:r>
              <a:rPr lang="th-TH" sz="4000" b="1" dirty="0">
                <a:latin typeface="IrisUPC" pitchFamily="34" charset="-34"/>
                <a:cs typeface="IrisUPC" pitchFamily="34" charset="-34"/>
              </a:rPr>
              <a:t>ของพระภิกษุนั้น เว้นแต่พระภิกษุนั้นจะได้</a:t>
            </a:r>
            <a:r>
              <a:rPr lang="th-TH" sz="4000" b="1" u="sng" dirty="0">
                <a:latin typeface="IrisUPC" pitchFamily="34" charset="-34"/>
                <a:cs typeface="IrisUPC" pitchFamily="34" charset="-34"/>
              </a:rPr>
              <a:t>จำหน่าย</a:t>
            </a:r>
            <a:r>
              <a:rPr lang="th-TH" sz="4000" b="1" dirty="0">
                <a:latin typeface="IrisUPC" pitchFamily="34" charset="-34"/>
                <a:cs typeface="IrisUPC" pitchFamily="34" charset="-34"/>
              </a:rPr>
              <a:t>ไปในขณะมีชีวิตอยู่หรือโดย</a:t>
            </a:r>
            <a:r>
              <a:rPr lang="th-TH" sz="4000" b="1" u="sng" dirty="0">
                <a:latin typeface="IrisUPC" pitchFamily="34" charset="-34"/>
                <a:cs typeface="IrisUPC" pitchFamily="34" charset="-34"/>
              </a:rPr>
              <a:t>พินัยกรรม </a:t>
            </a:r>
            <a:r>
              <a:rPr lang="th-TH" sz="4000" b="1" dirty="0">
                <a:latin typeface="IrisUPC" pitchFamily="34" charset="-34"/>
                <a:cs typeface="IrisUPC" pitchFamily="34" charset="-34"/>
              </a:rPr>
              <a:t>มาตรา ๑๖๒๓ </a:t>
            </a:r>
            <a:endParaRPr lang="en-US" sz="4000" b="1" dirty="0">
              <a:latin typeface="IrisUPC" pitchFamily="34" charset="-34"/>
              <a:cs typeface="IrisUPC" pitchFamily="34" charset="-34"/>
            </a:endParaRPr>
          </a:p>
        </p:txBody>
      </p:sp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1674" y="4149080"/>
            <a:ext cx="2272944" cy="2727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267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35560" y="692697"/>
            <a:ext cx="6048672" cy="830997"/>
          </a:xfrm>
          <a:prstGeom prst="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th-TH" sz="4800" b="1" dirty="0">
                <a:latin typeface="IrisUPC" pitchFamily="34" charset="-34"/>
                <a:cs typeface="IrisUPC" pitchFamily="34" charset="-34"/>
              </a:rPr>
              <a:t>  เงื่อนไขวัดมีสิทธิรับมรดกพระ</a:t>
            </a:r>
            <a:endParaRPr lang="th-TH" sz="4400" b="1" dirty="0">
              <a:latin typeface="IrisUPC" pitchFamily="34" charset="-34"/>
              <a:cs typeface="IrisUPC" pitchFamily="34" charset="-3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15926" y="2276873"/>
            <a:ext cx="9528546" cy="1938992"/>
          </a:xfrm>
          <a:prstGeom prst="rect">
            <a:avLst/>
          </a:prstGeom>
          <a:solidFill>
            <a:srgbClr val="C4D70D"/>
          </a:solidFill>
        </p:spPr>
        <p:txBody>
          <a:bodyPr wrap="square" rtlCol="0">
            <a:spAutoFit/>
          </a:bodyPr>
          <a:lstStyle/>
          <a:p>
            <a:pPr marL="742950" indent="-742950">
              <a:buFont typeface="+mj-cs"/>
              <a:buAutoNum type="thaiNumPeriod"/>
            </a:pPr>
            <a:r>
              <a:rPr lang="th-TH" sz="4000" b="1" dirty="0">
                <a:latin typeface="IrisUPC" pitchFamily="34" charset="-34"/>
                <a:cs typeface="IrisUPC" pitchFamily="34" charset="-34"/>
              </a:rPr>
              <a:t>เป็นทรัพย์สินที่ภิกษุได้มา</a:t>
            </a:r>
            <a:r>
              <a:rPr lang="th-TH" sz="4000" b="1" u="sng" dirty="0">
                <a:latin typeface="IrisUPC" pitchFamily="34" charset="-34"/>
                <a:cs typeface="IrisUPC" pitchFamily="34" charset="-34"/>
              </a:rPr>
              <a:t>ระหว่า</a:t>
            </a:r>
            <a:r>
              <a:rPr lang="th-TH" sz="4000" b="1" dirty="0">
                <a:latin typeface="IrisUPC" pitchFamily="34" charset="-34"/>
                <a:cs typeface="IrisUPC" pitchFamily="34" charset="-34"/>
              </a:rPr>
              <a:t>งเวลาที่บวชเป็นพระภิกษุอยู่</a:t>
            </a:r>
          </a:p>
          <a:p>
            <a:pPr marL="742950" indent="-742950">
              <a:buFont typeface="+mj-cs"/>
              <a:buAutoNum type="thaiNumPeriod"/>
            </a:pPr>
            <a:r>
              <a:rPr lang="th-TH" sz="4000" b="1" dirty="0">
                <a:latin typeface="IrisUPC" pitchFamily="34" charset="-34"/>
                <a:cs typeface="IrisUPC" pitchFamily="34" charset="-34"/>
              </a:rPr>
              <a:t>พระภิกษุ</a:t>
            </a:r>
            <a:r>
              <a:rPr lang="th-TH" sz="4000" b="1" u="sng" dirty="0">
                <a:latin typeface="IrisUPC" pitchFamily="34" charset="-34"/>
                <a:cs typeface="IrisUPC" pitchFamily="34" charset="-34"/>
              </a:rPr>
              <a:t>ไม่ได้</a:t>
            </a:r>
            <a:r>
              <a:rPr lang="th-TH" sz="4000" b="1" dirty="0">
                <a:latin typeface="IrisUPC" pitchFamily="34" charset="-34"/>
                <a:cs typeface="IrisUPC" pitchFamily="34" charset="-34"/>
              </a:rPr>
              <a:t>ทำพินัยกรรมยกให้แก้ผู้ใด</a:t>
            </a:r>
          </a:p>
          <a:p>
            <a:pPr marL="742950" indent="-742950">
              <a:buFont typeface="+mj-cs"/>
              <a:buAutoNum type="thaiNumPeriod"/>
            </a:pPr>
            <a:r>
              <a:rPr lang="th-TH" sz="4000" b="1" dirty="0">
                <a:latin typeface="IrisUPC" pitchFamily="34" charset="-34"/>
                <a:cs typeface="IrisUPC" pitchFamily="34" charset="-34"/>
              </a:rPr>
              <a:t>พระภิกษุต้อง</a:t>
            </a:r>
            <a:r>
              <a:rPr lang="th-TH" sz="4000" b="1" u="sng" dirty="0">
                <a:latin typeface="IrisUPC" pitchFamily="34" charset="-34"/>
                <a:cs typeface="IrisUPC" pitchFamily="34" charset="-34"/>
              </a:rPr>
              <a:t>มีภูมิลำเนา</a:t>
            </a:r>
            <a:r>
              <a:rPr lang="th-TH" sz="4000" b="1" dirty="0">
                <a:latin typeface="IrisUPC" pitchFamily="34" charset="-34"/>
                <a:cs typeface="IrisUPC" pitchFamily="34" charset="-34"/>
              </a:rPr>
              <a:t>อยู่ที่วัดนั้น   </a:t>
            </a:r>
            <a:endParaRPr lang="en-US" sz="4000" b="1" dirty="0">
              <a:latin typeface="IrisUPC" pitchFamily="34" charset="-34"/>
              <a:cs typeface="IrisUPC" pitchFamily="34" charset="-34"/>
            </a:endParaRPr>
          </a:p>
        </p:txBody>
      </p:sp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1674" y="4149080"/>
            <a:ext cx="2272944" cy="2727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50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35560" y="692697"/>
            <a:ext cx="3744416" cy="830997"/>
          </a:xfrm>
          <a:prstGeom prst="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th-TH" sz="4800" b="1" dirty="0">
                <a:latin typeface="IrisUPC" pitchFamily="34" charset="-34"/>
                <a:cs typeface="IrisUPC" pitchFamily="34" charset="-34"/>
              </a:rPr>
              <a:t>  ๓.๓ แผ่นดิน</a:t>
            </a:r>
            <a:endParaRPr lang="th-TH" sz="4400" b="1" dirty="0">
              <a:latin typeface="IrisUPC" pitchFamily="34" charset="-34"/>
              <a:cs typeface="IrisUPC" pitchFamily="34" charset="-3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5415" y="1753192"/>
            <a:ext cx="10339754" cy="193899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th-TH" sz="4000" b="1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      ภายใต้บังคับสิทธิของ</a:t>
            </a:r>
            <a:r>
              <a:rPr lang="th-TH" sz="4000" b="1" u="sng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เจ้าหนี้</a:t>
            </a:r>
            <a:r>
              <a:rPr lang="th-TH" sz="4000" b="1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กองมรดก เมื่อบุคคลใดถึงแก่ความตายโดย</a:t>
            </a:r>
            <a:r>
              <a:rPr lang="th-TH" sz="4000" b="1" u="sng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ไม่มี</a:t>
            </a:r>
            <a:r>
              <a:rPr lang="th-TH" sz="4000" b="1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ทายาทโดยธรรมหรือผู้รับพินัยกรรม มรดกของบุคคลนั้นตกทอดแก่แผ่นดิน  มาตรา ๑๗๕๓ </a:t>
            </a:r>
            <a:endParaRPr lang="en-US" sz="4000" b="1" dirty="0">
              <a:solidFill>
                <a:srgbClr val="002060"/>
              </a:solidFill>
              <a:latin typeface="IrisUPC" pitchFamily="34" charset="-34"/>
              <a:cs typeface="IrisUPC" pitchFamily="34" charset="-34"/>
            </a:endParaRPr>
          </a:p>
        </p:txBody>
      </p:sp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652" y="4020771"/>
            <a:ext cx="2348458" cy="281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391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35560" y="692697"/>
            <a:ext cx="5859550" cy="830997"/>
          </a:xfrm>
          <a:prstGeom prst="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th-TH" sz="4800" b="1" dirty="0">
                <a:latin typeface="IrisUPC" pitchFamily="34" charset="-34"/>
                <a:cs typeface="IrisUPC" pitchFamily="34" charset="-34"/>
              </a:rPr>
              <a:t>  เงื่อนไขมรดกตกแก่แผ่นดิน</a:t>
            </a:r>
            <a:endParaRPr lang="th-TH" sz="4400" b="1" dirty="0">
              <a:latin typeface="IrisUPC" pitchFamily="34" charset="-34"/>
              <a:cs typeface="IrisUPC" pitchFamily="34" charset="-3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884855" y="1753191"/>
            <a:ext cx="6977917" cy="193899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742950" indent="-742950">
              <a:buFont typeface="+mj-cs"/>
              <a:buAutoNum type="thaiNumPeriod"/>
            </a:pPr>
            <a:r>
              <a:rPr lang="th-TH" sz="4000" b="1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บุคคลนั้น</a:t>
            </a:r>
            <a:r>
              <a:rPr lang="th-TH" sz="4000" b="1" u="sng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ไม่มี</a:t>
            </a:r>
            <a:r>
              <a:rPr lang="th-TH" sz="4000" b="1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ทายาทโดยธรรม</a:t>
            </a:r>
          </a:p>
          <a:p>
            <a:pPr marL="742950" indent="-742950">
              <a:buFont typeface="+mj-cs"/>
              <a:buAutoNum type="thaiNumPeriod"/>
            </a:pPr>
            <a:r>
              <a:rPr lang="th-TH" sz="4000" b="1" u="sng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มิได้</a:t>
            </a:r>
            <a:r>
              <a:rPr lang="th-TH" sz="4000" b="1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ทำพินัยกรรมยกมรดกให้แก่</a:t>
            </a:r>
            <a:r>
              <a:rPr lang="th-TH" sz="4000" b="1" u="sng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ผู้ใด</a:t>
            </a:r>
          </a:p>
          <a:p>
            <a:pPr marL="742950" indent="-742950">
              <a:buFont typeface="+mj-cs"/>
              <a:buAutoNum type="thaiNumPeriod"/>
            </a:pPr>
            <a:r>
              <a:rPr lang="th-TH" sz="4000" b="1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มิได้ทำพินัยกรรมให้</a:t>
            </a:r>
            <a:r>
              <a:rPr lang="th-TH" sz="4000" b="1" u="sng" dirty="0">
                <a:solidFill>
                  <a:srgbClr val="002060"/>
                </a:solidFill>
                <a:latin typeface="IrisUPC" pitchFamily="34" charset="-34"/>
                <a:cs typeface="IrisUPC" pitchFamily="34" charset="-34"/>
              </a:rPr>
              <a:t>จัดตั้งมูลนิธิ</a:t>
            </a:r>
            <a:endParaRPr lang="en-US" sz="4000" b="1" u="sng" dirty="0">
              <a:solidFill>
                <a:srgbClr val="002060"/>
              </a:solidFill>
              <a:latin typeface="IrisUPC" pitchFamily="34" charset="-34"/>
              <a:cs typeface="IrisUPC" pitchFamily="34" charset="-34"/>
            </a:endParaRPr>
          </a:p>
        </p:txBody>
      </p:sp>
      <p:sp>
        <p:nvSpPr>
          <p:cNvPr id="14" name="ดาว 5 แฉก 13"/>
          <p:cNvSpPr/>
          <p:nvPr/>
        </p:nvSpPr>
        <p:spPr>
          <a:xfrm>
            <a:off x="2884855" y="5446365"/>
            <a:ext cx="576197" cy="707886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652" y="4020771"/>
            <a:ext cx="2348458" cy="281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895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h-TH" b="1" dirty="0" smtClean="0">
                <a:solidFill>
                  <a:srgbClr val="FFFF00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การเสียสิทธิรับมรดก</a:t>
            </a:r>
            <a:endParaRPr lang="th-TH" b="1" dirty="0">
              <a:solidFill>
                <a:srgbClr val="FFFF00"/>
              </a:solidFill>
              <a:latin typeface="IrisUPC" panose="020B0604020202020204" pitchFamily="34" charset="-34"/>
              <a:cs typeface="IrisUPC" panose="020B0604020202020204" pitchFamily="34" charset="-34"/>
            </a:endParaRPr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>
          <a:xfrm>
            <a:off x="749300" y="2222499"/>
            <a:ext cx="10515600" cy="2824163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cs"/>
              <a:buAutoNum type="thaiNumPeriod"/>
            </a:pPr>
            <a:r>
              <a:rPr lang="th-TH" sz="3600" b="1" dirty="0" smtClean="0">
                <a:solidFill>
                  <a:srgbClr val="FFFF00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การถูกจำกัดมิให้รับมรดก( </a:t>
            </a:r>
            <a:r>
              <a:rPr lang="th-TH" sz="3600" b="1" u="sng" dirty="0" smtClean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การ</a:t>
            </a:r>
            <a:r>
              <a:rPr lang="th-TH" sz="3600" b="1" u="sng" dirty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กำจัดรับมรดกปิดบัง,ฉ้อ</a:t>
            </a:r>
            <a:r>
              <a:rPr lang="th-TH" sz="3600" b="1" u="sng" dirty="0" smtClean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ฉล)</a:t>
            </a:r>
            <a:endParaRPr lang="en-US" sz="3600" dirty="0">
              <a:solidFill>
                <a:schemeClr val="bg1"/>
              </a:solidFill>
              <a:latin typeface="IrisUPC" panose="020B0604020202020204" pitchFamily="34" charset="-34"/>
              <a:cs typeface="IrisUPC" panose="020B0604020202020204" pitchFamily="34" charset="-34"/>
            </a:endParaRPr>
          </a:p>
          <a:p>
            <a:pPr marL="514350" indent="-514350">
              <a:buFont typeface="+mj-cs"/>
              <a:buAutoNum type="thaiNumPeriod"/>
            </a:pPr>
            <a:endParaRPr lang="th-TH" sz="3600" b="1" dirty="0" smtClean="0">
              <a:solidFill>
                <a:srgbClr val="FFFF00"/>
              </a:solidFill>
              <a:latin typeface="IrisUPC" panose="020B0604020202020204" pitchFamily="34" charset="-34"/>
              <a:cs typeface="IrisUPC" panose="020B0604020202020204" pitchFamily="34" charset="-34"/>
            </a:endParaRPr>
          </a:p>
          <a:p>
            <a:pPr marL="0" indent="0">
              <a:buNone/>
            </a:pPr>
            <a:r>
              <a:rPr lang="th-TH" sz="3600" b="1" dirty="0" smtClean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    ทายาท</a:t>
            </a:r>
            <a:r>
              <a:rPr lang="th-TH" sz="3600" b="1" dirty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คนใด ยักย้ายหรือปิดบังทรัพย์มรดกเท่าส่วนที่ตนจะได้หรือมากกว่านั้น     โดยฉ้อฉลหรือรู้ว่าตนทำให้เสื่อมประโยชน์แก่ทายาทคนอื่น ทายาทคนนั้นต้องถูกกำจัดมิให้รับมรดกเลย     มาตรา ๑๖๐๕ </a:t>
            </a:r>
            <a:endParaRPr lang="en-US" sz="3600" b="1" dirty="0">
              <a:solidFill>
                <a:schemeClr val="bg1"/>
              </a:solidFill>
              <a:latin typeface="IrisUPC" panose="020B0604020202020204" pitchFamily="34" charset="-34"/>
              <a:cs typeface="IrisUPC" panose="020B0604020202020204" pitchFamily="34" charset="-34"/>
            </a:endParaRPr>
          </a:p>
          <a:p>
            <a:pPr marL="0" indent="0">
              <a:buNone/>
            </a:pPr>
            <a:r>
              <a:rPr lang="th-TH" sz="3600" b="1" dirty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 </a:t>
            </a:r>
            <a:r>
              <a:rPr lang="th-TH" sz="3600" b="1" dirty="0" smtClean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    </a:t>
            </a:r>
            <a:r>
              <a:rPr lang="th-TH" sz="3600" b="1" dirty="0" smtClean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 </a:t>
            </a:r>
            <a:endParaRPr lang="en-US" sz="3600" b="1" dirty="0">
              <a:solidFill>
                <a:schemeClr val="bg1"/>
              </a:solidFill>
              <a:latin typeface="IrisUPC" panose="020B0604020202020204" pitchFamily="34" charset="-34"/>
              <a:cs typeface="IrisUPC" panose="020B0604020202020204" pitchFamily="34" charset="-34"/>
            </a:endParaRPr>
          </a:p>
          <a:p>
            <a:pPr marL="0" indent="0">
              <a:buNone/>
            </a:pPr>
            <a:endParaRPr lang="th-TH" sz="3600" b="1" dirty="0">
              <a:solidFill>
                <a:schemeClr val="bg1"/>
              </a:solidFill>
              <a:latin typeface="IrisUPC" panose="020B0604020202020204" pitchFamily="34" charset="-34"/>
              <a:cs typeface="IrisUPC" panose="020B0604020202020204" pitchFamily="34" charset="-34"/>
            </a:endParaRPr>
          </a:p>
        </p:txBody>
      </p:sp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500" y="4149723"/>
            <a:ext cx="28956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475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>
          <a:xfrm>
            <a:off x="838200" y="1028700"/>
            <a:ext cx="10515600" cy="5148263"/>
          </a:xfrm>
        </p:spPr>
        <p:txBody>
          <a:bodyPr/>
          <a:lstStyle/>
          <a:p>
            <a:pPr marL="0" indent="0">
              <a:buNone/>
            </a:pPr>
            <a:r>
              <a:rPr lang="th-TH" b="1" dirty="0" smtClean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     </a:t>
            </a:r>
            <a:r>
              <a:rPr lang="th-TH" sz="3600" b="1" dirty="0" smtClean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แต่</a:t>
            </a:r>
            <a:r>
              <a:rPr lang="th-TH" sz="3600" b="1" dirty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ถ้ายักย้ายปิดบังมรดกน้อยกว่าส่วนที่ตนจะได้ ทายาทคนนั้นต้องถูกจำกัดมิให้รับมรดกเฉพาะส่วนที่ได้ยักย้าย หรือปิดบังไว้นั้น</a:t>
            </a:r>
            <a:endParaRPr lang="en-US" sz="3600" b="1" dirty="0">
              <a:solidFill>
                <a:schemeClr val="bg1"/>
              </a:solidFill>
              <a:latin typeface="IrisUPC" panose="020B0604020202020204" pitchFamily="34" charset="-34"/>
              <a:cs typeface="IrisUPC" panose="020B0604020202020204" pitchFamily="34" charset="-34"/>
            </a:endParaRPr>
          </a:p>
          <a:p>
            <a:pPr marL="0" indent="0">
              <a:buNone/>
            </a:pPr>
            <a:endParaRPr lang="th-TH" sz="3600" b="1" dirty="0">
              <a:solidFill>
                <a:schemeClr val="bg1"/>
              </a:solidFill>
              <a:latin typeface="IrisUPC" panose="020B0604020202020204" pitchFamily="34" charset="-34"/>
              <a:cs typeface="IrisUPC" panose="020B0604020202020204" pitchFamily="34" charset="-34"/>
            </a:endParaRPr>
          </a:p>
          <a:p>
            <a:endParaRPr lang="th-TH" dirty="0"/>
          </a:p>
        </p:txBody>
      </p:sp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067" y="2869534"/>
            <a:ext cx="3855533" cy="3861465"/>
          </a:xfrm>
          <a:prstGeom prst="rect">
            <a:avLst/>
          </a:prstGeom>
        </p:spPr>
      </p:pic>
      <p:pic>
        <p:nvPicPr>
          <p:cNvPr id="5" name="รูปภาพ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500" y="2799842"/>
            <a:ext cx="4889499" cy="393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127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h-TH" b="1" u="sng" dirty="0">
                <a:solidFill>
                  <a:srgbClr val="FFFF00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ฐานเป็นผู้ไม่</a:t>
            </a:r>
            <a:r>
              <a:rPr lang="th-TH" b="1" u="sng" dirty="0" smtClean="0">
                <a:solidFill>
                  <a:srgbClr val="FFFF00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สมควร</a:t>
            </a:r>
            <a:r>
              <a:rPr lang="th-TH" b="1" dirty="0" smtClean="0">
                <a:solidFill>
                  <a:srgbClr val="FFFF00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  </a:t>
            </a:r>
            <a:r>
              <a:rPr lang="th-TH" b="1" dirty="0" smtClean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มาตรา </a:t>
            </a:r>
            <a:r>
              <a:rPr lang="th-TH" b="1" dirty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๑๖๐๖ </a:t>
            </a:r>
            <a:r>
              <a:rPr lang="en-US" dirty="0"/>
              <a:t/>
            </a:r>
            <a:br>
              <a:rPr lang="en-US" dirty="0"/>
            </a:br>
            <a:endParaRPr lang="th-TH" dirty="0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>
          <a:xfrm>
            <a:off x="838200" y="2006600"/>
            <a:ext cx="10515600" cy="2476500"/>
          </a:xfrm>
        </p:spPr>
        <p:txBody>
          <a:bodyPr>
            <a:noAutofit/>
          </a:bodyPr>
          <a:lstStyle/>
          <a:p>
            <a:r>
              <a:rPr lang="th-TH" sz="3600" b="1" dirty="0" smtClean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ทายาท</a:t>
            </a:r>
            <a:r>
              <a:rPr lang="th-TH" sz="3600" b="1" dirty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ต้องถูกจำกัดมิให้รับมรดก ฐานเป็นผู้ไม่</a:t>
            </a:r>
            <a:r>
              <a:rPr lang="th-TH" sz="3600" b="1" dirty="0" smtClean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สมควร</a:t>
            </a:r>
            <a:endParaRPr lang="en-US" sz="3600" b="1" dirty="0">
              <a:solidFill>
                <a:schemeClr val="bg1"/>
              </a:solidFill>
              <a:latin typeface="IrisUPC" panose="020B0604020202020204" pitchFamily="34" charset="-34"/>
              <a:cs typeface="IrisUPC" panose="020B0604020202020204" pitchFamily="34" charset="-34"/>
            </a:endParaRPr>
          </a:p>
          <a:p>
            <a:pPr marL="0" indent="0">
              <a:buNone/>
            </a:pPr>
            <a:r>
              <a:rPr lang="th-TH" sz="3600" b="1" dirty="0" smtClean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    ๑. </a:t>
            </a:r>
            <a:r>
              <a:rPr lang="th-TH" sz="3600" b="1" dirty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ผู้ที่ต้องคำพิพากษาถึงที่สุด ว่าได้เจตนากระทำ  หรือพยายามกระทำให้เจ้าของมรดกหรือผู้มีสิทธิได้รับมรดกก่อนตน   ถึงแก่ความตายโดยมิชอบด้วยกฎหมาย</a:t>
            </a:r>
            <a:endParaRPr lang="en-US" sz="3600" b="1" dirty="0">
              <a:solidFill>
                <a:schemeClr val="bg1"/>
              </a:solidFill>
              <a:latin typeface="IrisUPC" panose="020B0604020202020204" pitchFamily="34" charset="-34"/>
              <a:cs typeface="IrisUPC" panose="020B0604020202020204" pitchFamily="34" charset="-34"/>
            </a:endParaRPr>
          </a:p>
          <a:p>
            <a:pPr marL="0" indent="0">
              <a:buNone/>
            </a:pPr>
            <a:r>
              <a:rPr lang="en-US" sz="3600" b="1" dirty="0" smtClean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     </a:t>
            </a:r>
            <a:r>
              <a:rPr lang="th-TH" sz="3600" b="1" dirty="0" smtClean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 </a:t>
            </a:r>
            <a:endParaRPr lang="en-US" sz="3600" b="1" dirty="0">
              <a:solidFill>
                <a:schemeClr val="bg1"/>
              </a:solidFill>
              <a:latin typeface="IrisUPC" panose="020B0604020202020204" pitchFamily="34" charset="-34"/>
              <a:cs typeface="IrisUPC" panose="020B0604020202020204" pitchFamily="34" charset="-34"/>
            </a:endParaRPr>
          </a:p>
          <a:p>
            <a:endParaRPr lang="th-TH" sz="3600" b="1" dirty="0">
              <a:latin typeface="IrisUPC" panose="020B0604020202020204" pitchFamily="34" charset="-34"/>
              <a:cs typeface="IrisUPC" panose="020B0604020202020204" pitchFamily="34" charset="-34"/>
            </a:endParaRPr>
          </a:p>
        </p:txBody>
      </p:sp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0774" y="-139700"/>
            <a:ext cx="1482725" cy="1482725"/>
          </a:xfrm>
          <a:prstGeom prst="rect">
            <a:avLst/>
          </a:prstGeom>
        </p:spPr>
      </p:pic>
      <p:pic>
        <p:nvPicPr>
          <p:cNvPr id="5" name="รูปภาพ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2076" y="4132262"/>
            <a:ext cx="5802924" cy="2357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273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>
          <a:xfrm>
            <a:off x="990600" y="5302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h-TH" sz="3600" b="1" dirty="0" smtClean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    ๒. </a:t>
            </a:r>
            <a:r>
              <a:rPr lang="th-TH" sz="3600" b="1" dirty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ผู้ที่ฉ้อฉลหรือข่มขู่ให้เจ้ามรดก</a:t>
            </a:r>
            <a:r>
              <a:rPr lang="th-TH" sz="3600" b="1" u="sng" dirty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ทำ</a:t>
            </a:r>
            <a:r>
              <a:rPr lang="th-TH" sz="3600" b="1" dirty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หรือ</a:t>
            </a:r>
            <a:r>
              <a:rPr lang="th-TH" sz="3600" b="1" u="sng" dirty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เพิกถอน</a:t>
            </a:r>
            <a:r>
              <a:rPr lang="th-TH" sz="3600" b="1" dirty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 หรือเปลี่ยนแปลงพินัยกรรม แต่บางส่วนหรือทั้งหมดซึ่งเกี่ยวกับทรัพย์มรดก หรือไม่ให้กระทำการดังกล่าวนั้น</a:t>
            </a:r>
            <a:endParaRPr lang="en-US" sz="3600" b="1" dirty="0">
              <a:solidFill>
                <a:schemeClr val="bg1"/>
              </a:solidFill>
              <a:latin typeface="IrisUPC" panose="020B0604020202020204" pitchFamily="34" charset="-34"/>
              <a:cs typeface="IrisUPC" panose="020B0604020202020204" pitchFamily="34" charset="-34"/>
            </a:endParaRPr>
          </a:p>
          <a:p>
            <a:pPr marL="0" indent="0">
              <a:buNone/>
            </a:pPr>
            <a:r>
              <a:rPr lang="th-TH" sz="3600" b="1" dirty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     ๓. ผู้ที่ปลอม ทำลาย หรือปิดบังพินัยกรรมแต่บางส่วนหรือทั้งหมด</a:t>
            </a:r>
            <a:endParaRPr lang="en-US" sz="3600" b="1" dirty="0">
              <a:solidFill>
                <a:schemeClr val="bg1"/>
              </a:solidFill>
              <a:latin typeface="IrisUPC" panose="020B0604020202020204" pitchFamily="34" charset="-34"/>
              <a:cs typeface="IrisUPC" panose="020B0604020202020204" pitchFamily="34" charset="-34"/>
            </a:endParaRPr>
          </a:p>
          <a:p>
            <a:pPr marL="0" indent="0">
              <a:buNone/>
            </a:pPr>
            <a:r>
              <a:rPr lang="th-TH" sz="3600" b="1" dirty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     ๔. เจ้ามรดกอาจถอนข้อจำกัดฐานเป็นผู้ไม่สมควรเสียก็ได้ โดยให้อภัยไว้เป็นลายลักษณ์อักษร</a:t>
            </a:r>
            <a:endParaRPr lang="en-US" sz="3600" b="1" dirty="0">
              <a:solidFill>
                <a:schemeClr val="bg1"/>
              </a:solidFill>
              <a:latin typeface="IrisUPC" panose="020B0604020202020204" pitchFamily="34" charset="-34"/>
              <a:cs typeface="IrisUPC" panose="020B0604020202020204" pitchFamily="34" charset="-34"/>
            </a:endParaRPr>
          </a:p>
          <a:p>
            <a:endParaRPr lang="th-TH" sz="3600" dirty="0"/>
          </a:p>
        </p:txBody>
      </p:sp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2684" y="2965847"/>
            <a:ext cx="3831432" cy="3831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273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h-TH" b="1" dirty="0" smtClean="0">
                <a:solidFill>
                  <a:srgbClr val="FFFF00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๒.การตัดไม่ให้รับมรดก</a:t>
            </a:r>
            <a:endParaRPr lang="th-TH" b="1" dirty="0">
              <a:solidFill>
                <a:srgbClr val="FFFF00"/>
              </a:solidFill>
              <a:latin typeface="IrisUPC" panose="020B0604020202020204" pitchFamily="34" charset="-34"/>
              <a:cs typeface="IrisUPC" panose="020B0604020202020204" pitchFamily="34" charset="-34"/>
            </a:endParaRPr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cs"/>
              <a:buAutoNum type="thaiNumPeriod"/>
            </a:pPr>
            <a:r>
              <a:rPr lang="th-TH" sz="3600" b="1" dirty="0" smtClean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ทำเป็นพินัยกรรมบางส่วน/ทั้งหมด</a:t>
            </a:r>
          </a:p>
          <a:p>
            <a:pPr marL="514350" indent="-514350">
              <a:buFont typeface="+mj-cs"/>
              <a:buAutoNum type="thaiNumPeriod"/>
            </a:pPr>
            <a:r>
              <a:rPr lang="th-TH" sz="3600" b="1" dirty="0" smtClean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ทำเป็นหนังสือมอบไว้กับพนักงานเจ้าหน้าที่</a:t>
            </a:r>
          </a:p>
          <a:p>
            <a:pPr marL="514350" indent="-514350">
              <a:buFont typeface="+mj-cs"/>
              <a:buAutoNum type="thaiNumPeriod"/>
            </a:pPr>
            <a:endParaRPr lang="th-TH" sz="3600" b="1" dirty="0">
              <a:solidFill>
                <a:schemeClr val="bg1"/>
              </a:solidFill>
              <a:latin typeface="IrisUPC" panose="020B0604020202020204" pitchFamily="34" charset="-34"/>
              <a:cs typeface="IrisUPC" panose="020B0604020202020204" pitchFamily="34" charset="-34"/>
            </a:endParaRPr>
          </a:p>
          <a:p>
            <a:pPr marL="0" indent="0">
              <a:buNone/>
            </a:pPr>
            <a:r>
              <a:rPr lang="th-TH" sz="3600" b="1" dirty="0" smtClean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     ทายาท</a:t>
            </a:r>
            <a:r>
              <a:rPr lang="th-TH" sz="3600" b="1" dirty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โดยธรรมอาจถูกเจ้าของมรดก มิให้รับมรดกโดยแสดงเจตนาชัดแจ้ง มาตรา ๑๖๐๘ </a:t>
            </a:r>
            <a:endParaRPr lang="en-US" sz="3600" b="1" dirty="0">
              <a:solidFill>
                <a:schemeClr val="bg1"/>
              </a:solidFill>
              <a:latin typeface="IrisUPC" panose="020B0604020202020204" pitchFamily="34" charset="-34"/>
              <a:cs typeface="IrisUPC" panose="020B0604020202020204" pitchFamily="34" charset="-34"/>
            </a:endParaRPr>
          </a:p>
          <a:p>
            <a:pPr marL="0" indent="0">
              <a:buNone/>
            </a:pPr>
            <a:r>
              <a:rPr lang="th-TH" sz="3600" b="1" dirty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(๑) โดยพินัยกรรม</a:t>
            </a:r>
            <a:endParaRPr lang="en-US" sz="3600" b="1" dirty="0">
              <a:solidFill>
                <a:schemeClr val="bg1"/>
              </a:solidFill>
              <a:latin typeface="IrisUPC" panose="020B0604020202020204" pitchFamily="34" charset="-34"/>
              <a:cs typeface="IrisUPC" panose="020B0604020202020204" pitchFamily="34" charset="-34"/>
            </a:endParaRPr>
          </a:p>
          <a:p>
            <a:pPr marL="0" indent="0">
              <a:buNone/>
            </a:pPr>
            <a:r>
              <a:rPr lang="th-TH" sz="3600" b="1" dirty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(๒) โดยทำเป็นหนังสือมอบไว้แก่พนักงานเจ้าที่</a:t>
            </a:r>
            <a:endParaRPr lang="en-US" sz="3600" b="1" dirty="0">
              <a:solidFill>
                <a:schemeClr val="bg1"/>
              </a:solidFill>
              <a:latin typeface="IrisUPC" panose="020B0604020202020204" pitchFamily="34" charset="-34"/>
              <a:cs typeface="IrisUPC" panose="020B0604020202020204" pitchFamily="34" charset="-34"/>
            </a:endParaRPr>
          </a:p>
          <a:p>
            <a:pPr marL="0" indent="0">
              <a:buNone/>
            </a:pPr>
            <a:endParaRPr lang="th-TH" dirty="0" smtClean="0"/>
          </a:p>
          <a:p>
            <a:endParaRPr lang="th-TH" dirty="0"/>
          </a:p>
        </p:txBody>
      </p:sp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1950" y="4001294"/>
            <a:ext cx="29337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119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h-TH" b="1" dirty="0" smtClean="0">
                <a:solidFill>
                  <a:srgbClr val="FFFF00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๓.การสละมรดก</a:t>
            </a:r>
            <a:endParaRPr lang="th-TH" b="1" dirty="0">
              <a:solidFill>
                <a:srgbClr val="FFFF00"/>
              </a:solidFill>
              <a:latin typeface="IrisUPC" panose="020B0604020202020204" pitchFamily="34" charset="-34"/>
              <a:cs typeface="IrisUPC" panose="020B0604020202020204" pitchFamily="34" charset="-34"/>
            </a:endParaRPr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cs"/>
              <a:buAutoNum type="thaiNumPeriod"/>
            </a:pPr>
            <a:r>
              <a:rPr lang="th-TH" sz="3600" b="1" dirty="0" smtClean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ต้องเป็นทายาทโดยธรรม /พินัยกรรม</a:t>
            </a:r>
          </a:p>
          <a:p>
            <a:pPr marL="514350" indent="-514350">
              <a:buFont typeface="+mj-cs"/>
              <a:buAutoNum type="thaiNumPeriod"/>
            </a:pPr>
            <a:r>
              <a:rPr lang="th-TH" sz="3600" b="1" dirty="0" smtClean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ไม่รับทรัพย์มรดกส่วนที่ตกแก่ตน</a:t>
            </a:r>
          </a:p>
          <a:p>
            <a:pPr marL="514350" indent="-514350">
              <a:buFont typeface="+mj-cs"/>
              <a:buAutoNum type="thaiNumPeriod"/>
            </a:pPr>
            <a:r>
              <a:rPr lang="th-TH" sz="3600" b="1" dirty="0" smtClean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สละเมื่อเจ้ามรดกตายแล้ว</a:t>
            </a:r>
          </a:p>
          <a:p>
            <a:pPr marL="514350" indent="-514350">
              <a:buFont typeface="+mj-cs"/>
              <a:buAutoNum type="thaiNumPeriod"/>
            </a:pPr>
            <a:r>
              <a:rPr lang="th-TH" sz="3600" b="1" dirty="0" smtClean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แสดงเจตนาโดยชัดแจ้งเป็นหนังสือมอบไว้แก่พนักงานเจ้าหน้าที่</a:t>
            </a:r>
          </a:p>
          <a:p>
            <a:pPr marL="514350" indent="-514350">
              <a:buFont typeface="+mj-cs"/>
              <a:buAutoNum type="thaiNumPeriod"/>
            </a:pPr>
            <a:r>
              <a:rPr lang="th-TH" sz="3600" b="1" dirty="0" smtClean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ต้องสละทั้งหมดสละบางส่วนไม่ได้</a:t>
            </a:r>
          </a:p>
          <a:p>
            <a:pPr marL="514350" indent="-514350">
              <a:buFont typeface="+mj-cs"/>
              <a:buAutoNum type="thaiNumPeriod"/>
            </a:pPr>
            <a:r>
              <a:rPr lang="th-TH" sz="3600" b="1" dirty="0" smtClean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สละ</a:t>
            </a:r>
            <a:r>
              <a:rPr lang="th-TH" sz="4000" b="1" dirty="0" smtClean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แล้วถอนคืนไม่ได้</a:t>
            </a:r>
            <a:endParaRPr lang="th-TH" sz="3600" b="1" dirty="0">
              <a:solidFill>
                <a:schemeClr val="bg1"/>
              </a:solidFill>
              <a:latin typeface="IrisUPC" panose="020B0604020202020204" pitchFamily="34" charset="-34"/>
              <a:cs typeface="IrisUPC" panose="020B0604020202020204" pitchFamily="34" charset="-34"/>
            </a:endParaRPr>
          </a:p>
        </p:txBody>
      </p:sp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264024"/>
            <a:ext cx="2416175" cy="241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533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h-TH" b="1" dirty="0" smtClean="0">
                <a:solidFill>
                  <a:srgbClr val="FFFF00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๔.อายุความมรดก มาตรา </a:t>
            </a:r>
            <a:r>
              <a:rPr lang="th-TH" b="1" dirty="0">
                <a:solidFill>
                  <a:srgbClr val="FFFF00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๑๗๕๔</a:t>
            </a:r>
            <a:r>
              <a:rPr lang="th-TH" dirty="0">
                <a:solidFill>
                  <a:srgbClr val="FFFF00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 </a:t>
            </a:r>
            <a:endParaRPr lang="th-TH" b="1" dirty="0">
              <a:solidFill>
                <a:srgbClr val="FFFF00"/>
              </a:solidFill>
              <a:latin typeface="IrisUPC" panose="020B0604020202020204" pitchFamily="34" charset="-34"/>
              <a:cs typeface="IrisUPC" panose="020B0604020202020204" pitchFamily="34" charset="-34"/>
            </a:endParaRPr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>
          <a:xfrm>
            <a:off x="1028700" y="1778793"/>
            <a:ext cx="10515600" cy="1600200"/>
          </a:xfrm>
        </p:spPr>
        <p:txBody>
          <a:bodyPr>
            <a:normAutofit/>
          </a:bodyPr>
          <a:lstStyle/>
          <a:p>
            <a:pPr marL="514350" indent="-514350">
              <a:buFont typeface="+mj-cs"/>
              <a:buAutoNum type="thaiNumPeriod"/>
            </a:pPr>
            <a:r>
              <a:rPr lang="th-TH" sz="3900" b="1" dirty="0" smtClean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กรณี</a:t>
            </a:r>
            <a:r>
              <a:rPr lang="th-TH" sz="3900" b="1" dirty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ทายาทโดยธรรมฟ้องเรียกมรดกจะต้องฟ้องภายใน  ๑ ปี  นับแต่เจ้าของมรดกตาย </a:t>
            </a:r>
            <a:r>
              <a:rPr lang="th-TH" sz="3900" b="1" dirty="0" smtClean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/ได้</a:t>
            </a:r>
            <a:r>
              <a:rPr lang="th-TH" sz="3900" b="1" dirty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รู้หรือควรรู้ถึงความตายของเจ้าของมรดก</a:t>
            </a:r>
            <a:endParaRPr lang="en-US" sz="3900" b="1" dirty="0">
              <a:solidFill>
                <a:schemeClr val="bg1"/>
              </a:solidFill>
              <a:latin typeface="IrisUPC" panose="020B0604020202020204" pitchFamily="34" charset="-34"/>
              <a:cs typeface="IrisUPC" panose="020B0604020202020204" pitchFamily="34" charset="-34"/>
            </a:endParaRPr>
          </a:p>
          <a:p>
            <a:pPr marL="0" indent="0">
              <a:buNone/>
            </a:pPr>
            <a:endParaRPr lang="th-TH" dirty="0"/>
          </a:p>
        </p:txBody>
      </p:sp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0300" y="5016499"/>
            <a:ext cx="1333500" cy="1600200"/>
          </a:xfrm>
          <a:prstGeom prst="rect">
            <a:avLst/>
          </a:prstGeom>
        </p:spPr>
      </p:pic>
      <p:pic>
        <p:nvPicPr>
          <p:cNvPr id="5" name="รูปภาพ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9452" y="2581275"/>
            <a:ext cx="5415498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413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>
          <a:xfrm>
            <a:off x="1231900" y="771525"/>
            <a:ext cx="10515600" cy="4351338"/>
          </a:xfrm>
        </p:spPr>
        <p:txBody>
          <a:bodyPr/>
          <a:lstStyle/>
          <a:p>
            <a:pPr marL="742950" indent="-742950">
              <a:buAutoNum type="thaiNumPeriod" startAt="2"/>
            </a:pPr>
            <a:r>
              <a:rPr lang="th-TH" sz="3600" b="1" dirty="0" smtClean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ผู้รับ</a:t>
            </a:r>
            <a:r>
              <a:rPr lang="th-TH" sz="3600" b="1" dirty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พินัยกรรมฟ้องเรียกตามข้อกำหนดพินัยกรรม จะต้องฟ้องภายใน ๑ </a:t>
            </a:r>
            <a:r>
              <a:rPr lang="th-TH" sz="3600" b="1" dirty="0" smtClean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ปี</a:t>
            </a:r>
          </a:p>
          <a:p>
            <a:pPr marL="0" indent="0">
              <a:buNone/>
            </a:pPr>
            <a:r>
              <a:rPr lang="th-TH" sz="3600" b="1" dirty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 </a:t>
            </a:r>
            <a:r>
              <a:rPr lang="th-TH" sz="3600" b="1" dirty="0" smtClean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      </a:t>
            </a:r>
            <a:r>
              <a:rPr lang="th-TH" sz="3600" b="1" dirty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นับแต่ผู้รับพินัยกรรมได้รู้หรือควรได้รู้ถึงสิทธิซึ่งตนมีอยู่ตามพินัยกรรม</a:t>
            </a:r>
            <a:endParaRPr lang="en-US" sz="3600" b="1" dirty="0">
              <a:solidFill>
                <a:schemeClr val="bg1"/>
              </a:solidFill>
              <a:latin typeface="IrisUPC" panose="020B0604020202020204" pitchFamily="34" charset="-34"/>
              <a:cs typeface="IrisUPC" panose="020B0604020202020204" pitchFamily="34" charset="-34"/>
            </a:endParaRPr>
          </a:p>
          <a:p>
            <a:pPr marL="742950" indent="-742950">
              <a:buAutoNum type="thaiNumPeriod" startAt="3"/>
            </a:pPr>
            <a:r>
              <a:rPr lang="th-TH" sz="3600" b="1" dirty="0" smtClean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สิทธิ</a:t>
            </a:r>
            <a:r>
              <a:rPr lang="th-TH" sz="3600" b="1" dirty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เรียกร้องดังกล่าว มิให้ฟ้องร้องเมื่อพ้นกำหนด ๑๐ ปี  นับแต่เมื่อ</a:t>
            </a:r>
            <a:r>
              <a:rPr lang="th-TH" sz="3600" b="1" dirty="0" smtClean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เจ้าของมรดก</a:t>
            </a:r>
            <a:r>
              <a:rPr lang="th-TH" sz="3600" b="1" dirty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ตาย</a:t>
            </a:r>
            <a:endParaRPr lang="en-US" sz="3600" b="1" dirty="0">
              <a:solidFill>
                <a:schemeClr val="bg1"/>
              </a:solidFill>
              <a:latin typeface="IrisUPC" panose="020B0604020202020204" pitchFamily="34" charset="-34"/>
              <a:cs typeface="IrisUPC" panose="020B0604020202020204" pitchFamily="34" charset="-34"/>
            </a:endParaRPr>
          </a:p>
          <a:p>
            <a:endParaRPr lang="th-TH" dirty="0"/>
          </a:p>
        </p:txBody>
      </p:sp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5700" y="2628900"/>
            <a:ext cx="422910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132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h-TH" b="1" dirty="0" smtClean="0">
                <a:solidFill>
                  <a:srgbClr val="FFFF00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๕.การจัดการมรดก มาตรา ๑๗๑๓</a:t>
            </a:r>
            <a:endParaRPr lang="th-TH" b="1" dirty="0">
              <a:solidFill>
                <a:srgbClr val="FFFF00"/>
              </a:solidFill>
              <a:latin typeface="IrisUPC" panose="020B0604020202020204" pitchFamily="34" charset="-34"/>
              <a:cs typeface="IrisUPC" panose="020B0604020202020204" pitchFamily="34" charset="-34"/>
            </a:endParaRPr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>
          <a:xfrm>
            <a:off x="838200" y="2055813"/>
            <a:ext cx="10515600" cy="241299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th-TH" sz="3600" b="1" dirty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 </a:t>
            </a:r>
            <a:r>
              <a:rPr lang="th-TH" sz="3600" b="1" dirty="0" smtClean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    </a:t>
            </a:r>
            <a:r>
              <a:rPr lang="th-TH" sz="3600" b="1" u="sng" dirty="0" smtClean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ทายาท</a:t>
            </a:r>
            <a:r>
              <a:rPr lang="th-TH" sz="3600" b="1" dirty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หรือ</a:t>
            </a:r>
            <a:r>
              <a:rPr lang="th-TH" sz="3600" b="1" u="sng" dirty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ผู้มีส่วนได้เสีย </a:t>
            </a:r>
            <a:r>
              <a:rPr lang="th-TH" sz="3600" b="1" dirty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พนักงาน</a:t>
            </a:r>
            <a:r>
              <a:rPr lang="th-TH" sz="3600" b="1" u="sng" dirty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อัยการ</a:t>
            </a:r>
            <a:r>
              <a:rPr lang="th-TH" sz="3600" b="1" dirty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จะร้องต่อศาล ขอให้ตั้งผู้จัดการมรดก  ในกรณีดังต่อไปนี้</a:t>
            </a:r>
            <a:endParaRPr lang="en-US" sz="3600" b="1" dirty="0">
              <a:solidFill>
                <a:schemeClr val="bg1"/>
              </a:solidFill>
              <a:latin typeface="IrisUPC" panose="020B0604020202020204" pitchFamily="34" charset="-34"/>
              <a:cs typeface="IrisUPC" panose="020B0604020202020204" pitchFamily="34" charset="-34"/>
            </a:endParaRPr>
          </a:p>
          <a:p>
            <a:pPr marL="0" indent="0">
              <a:buNone/>
            </a:pPr>
            <a:r>
              <a:rPr lang="th-TH" sz="3600" b="1" dirty="0" smtClean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   ๑. </a:t>
            </a:r>
            <a:r>
              <a:rPr lang="th-TH" sz="3600" b="1" dirty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เมื่อเจ้ามรดกตาย ทายาทโดยธรรมหรือผู้รับพินัยกรรมได้สูญหายไป  หรืออยู่นอกราชอาณาเขต  หรือเป็นผู้เยาว์</a:t>
            </a:r>
            <a:endParaRPr lang="en-US" sz="3600" b="1" dirty="0">
              <a:solidFill>
                <a:schemeClr val="bg1"/>
              </a:solidFill>
              <a:latin typeface="IrisUPC" panose="020B0604020202020204" pitchFamily="34" charset="-34"/>
              <a:cs typeface="IrisUPC" panose="020B0604020202020204" pitchFamily="34" charset="-34"/>
            </a:endParaRPr>
          </a:p>
          <a:p>
            <a:pPr marL="0" indent="0">
              <a:buNone/>
            </a:pPr>
            <a:r>
              <a:rPr lang="th-TH" sz="3600" b="1" dirty="0" smtClean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 </a:t>
            </a:r>
            <a:endParaRPr lang="en-US" sz="3600" b="1" dirty="0">
              <a:solidFill>
                <a:schemeClr val="bg1"/>
              </a:solidFill>
              <a:latin typeface="IrisUPC" panose="020B0604020202020204" pitchFamily="34" charset="-34"/>
              <a:cs typeface="IrisUPC" panose="020B0604020202020204" pitchFamily="34" charset="-34"/>
            </a:endParaRPr>
          </a:p>
          <a:p>
            <a:pPr marL="0" indent="0">
              <a:buNone/>
            </a:pPr>
            <a:endParaRPr lang="th-TH" dirty="0"/>
          </a:p>
        </p:txBody>
      </p:sp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650" y="4711700"/>
            <a:ext cx="1784350" cy="1901508"/>
          </a:xfrm>
          <a:prstGeom prst="rect">
            <a:avLst/>
          </a:prstGeom>
        </p:spPr>
      </p:pic>
      <p:pic>
        <p:nvPicPr>
          <p:cNvPr id="5" name="รูปภาพ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550" y="3455987"/>
            <a:ext cx="4878354" cy="3249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041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th-TH" b="1" dirty="0" smtClean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   </a:t>
            </a:r>
            <a:r>
              <a:rPr lang="th-TH" sz="3600" b="1" dirty="0" smtClean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๒. </a:t>
            </a:r>
            <a:r>
              <a:rPr lang="th-TH" sz="3600" b="1" dirty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เมื่อผู้จัดการมรดกหรือทายาทไม่สามารถหรือไม่เต็มใจที่จะจัดการ  </a:t>
            </a:r>
            <a:r>
              <a:rPr lang="th-TH" sz="3600" b="1" dirty="0" smtClean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หรือ</a:t>
            </a:r>
          </a:p>
          <a:p>
            <a:pPr marL="0" indent="0">
              <a:buNone/>
            </a:pPr>
            <a:r>
              <a:rPr lang="th-TH" sz="3600" b="1" dirty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 </a:t>
            </a:r>
            <a:r>
              <a:rPr lang="th-TH" sz="3600" b="1" dirty="0" smtClean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     มี</a:t>
            </a:r>
            <a:r>
              <a:rPr lang="th-TH" sz="3600" b="1" dirty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เหตุขัดข้องในการจัดการ  หรือในการแบ่งปันมรดก</a:t>
            </a:r>
            <a:endParaRPr lang="en-US" sz="3600" b="1" dirty="0">
              <a:solidFill>
                <a:schemeClr val="bg1"/>
              </a:solidFill>
              <a:latin typeface="IrisUPC" panose="020B0604020202020204" pitchFamily="34" charset="-34"/>
              <a:cs typeface="IrisUPC" panose="020B0604020202020204" pitchFamily="34" charset="-34"/>
            </a:endParaRPr>
          </a:p>
          <a:p>
            <a:pPr marL="0" indent="0">
              <a:buNone/>
            </a:pPr>
            <a:r>
              <a:rPr lang="th-TH" sz="3600" b="1" dirty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   ๓. เมื่อข้อกำหนดพินัยกรรมซึ่งตั้งผู้จัดการมรดกไว้   ไม่มีผลบังคับได้</a:t>
            </a:r>
            <a:r>
              <a:rPr lang="th-TH" sz="3600" b="1" dirty="0" smtClean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ด้วย</a:t>
            </a:r>
          </a:p>
          <a:p>
            <a:pPr marL="0" indent="0">
              <a:buNone/>
            </a:pPr>
            <a:r>
              <a:rPr lang="th-TH" sz="3600" b="1" dirty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 </a:t>
            </a:r>
            <a:r>
              <a:rPr lang="th-TH" sz="3600" b="1" dirty="0" smtClean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      ประการใดๆ</a:t>
            </a:r>
            <a:endParaRPr lang="th-TH" sz="3600" b="1" dirty="0">
              <a:solidFill>
                <a:schemeClr val="bg1"/>
              </a:solidFill>
              <a:latin typeface="IrisUPC" panose="020B0604020202020204" pitchFamily="34" charset="-34"/>
              <a:cs typeface="IrisUPC" panose="020B0604020202020204" pitchFamily="34" charset="-34"/>
            </a:endParaRPr>
          </a:p>
          <a:p>
            <a:pPr marL="0" indent="0">
              <a:buNone/>
            </a:pPr>
            <a:r>
              <a:rPr lang="th-TH" sz="3600" b="1" dirty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   ๔. ถ้ามีข้อกำหนดการตั้งผู้จัดการมรดกในพินัยกรรมก็ให้ศาลตั้งตาม</a:t>
            </a:r>
            <a:r>
              <a:rPr lang="th-TH" sz="3600" b="1" dirty="0" smtClean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ข้อกำหนด</a:t>
            </a:r>
          </a:p>
          <a:p>
            <a:pPr marL="0" indent="0">
              <a:buNone/>
            </a:pPr>
            <a:r>
              <a:rPr lang="th-TH" sz="3600" b="1" dirty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 </a:t>
            </a:r>
            <a:r>
              <a:rPr lang="th-TH" sz="3600" b="1" dirty="0" smtClean="0">
                <a:solidFill>
                  <a:schemeClr val="bg1"/>
                </a:solidFill>
                <a:latin typeface="IrisUPC" panose="020B0604020202020204" pitchFamily="34" charset="-34"/>
                <a:cs typeface="IrisUPC" panose="020B0604020202020204" pitchFamily="34" charset="-34"/>
              </a:rPr>
              <a:t>      พินัยกรรม</a:t>
            </a:r>
            <a:endParaRPr lang="en-US" sz="3600" b="1" dirty="0">
              <a:solidFill>
                <a:schemeClr val="bg1"/>
              </a:solidFill>
              <a:latin typeface="IrisUPC" panose="020B0604020202020204" pitchFamily="34" charset="-34"/>
              <a:cs typeface="IrisUPC" panose="020B0604020202020204" pitchFamily="34" charset="-34"/>
            </a:endParaRPr>
          </a:p>
          <a:p>
            <a:endParaRPr lang="th-TH" dirty="0"/>
          </a:p>
        </p:txBody>
      </p:sp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9412" y="3308014"/>
            <a:ext cx="2681287" cy="3386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248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รูปภาพ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539" y="101600"/>
            <a:ext cx="4552345" cy="6629400"/>
          </a:xfrm>
          <a:prstGeom prst="rect">
            <a:avLst/>
          </a:prstGeom>
        </p:spPr>
      </p:pic>
      <p:pic>
        <p:nvPicPr>
          <p:cNvPr id="5" name="รูปภาพ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1100" y="54610"/>
            <a:ext cx="4762500" cy="662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629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2158686" y="482600"/>
            <a:ext cx="8229600" cy="5213215"/>
          </a:xfrm>
        </p:spPr>
        <p:txBody>
          <a:bodyPr>
            <a:noAutofit/>
          </a:bodyPr>
          <a:lstStyle/>
          <a:p>
            <a:pPr algn="ctr"/>
            <a:r>
              <a:rPr lang="th-TH" sz="13800" b="1" dirty="0">
                <a:solidFill>
                  <a:srgbClr val="FFFF00"/>
                </a:solidFill>
                <a:latin typeface="IrisUPC" pitchFamily="34" charset="-34"/>
                <a:cs typeface="IrisUPC" pitchFamily="34" charset="-34"/>
              </a:rPr>
              <a:t>จบการนำเสนอ</a:t>
            </a:r>
            <a:r>
              <a:rPr lang="th-TH" sz="11500" b="1" dirty="0">
                <a:latin typeface="IrisUPC" pitchFamily="34" charset="-34"/>
                <a:cs typeface="IrisUPC" pitchFamily="34" charset="-34"/>
              </a:rPr>
              <a:t/>
            </a:r>
            <a:br>
              <a:rPr lang="th-TH" sz="11500" b="1" dirty="0">
                <a:latin typeface="IrisUPC" pitchFamily="34" charset="-34"/>
                <a:cs typeface="IrisUPC" pitchFamily="34" charset="-34"/>
              </a:rPr>
            </a:br>
            <a:r>
              <a:rPr lang="en-US" sz="4800" b="1" dirty="0">
                <a:solidFill>
                  <a:srgbClr val="FFFF00"/>
                </a:solidFill>
                <a:latin typeface="IrisUPC" pitchFamily="34" charset="-34"/>
                <a:cs typeface="IrisUPC" pitchFamily="34" charset="-34"/>
              </a:rPr>
              <a:t>081</a:t>
            </a:r>
            <a:r>
              <a:rPr lang="th-TH" sz="4800" b="1" dirty="0">
                <a:solidFill>
                  <a:srgbClr val="FFFF00"/>
                </a:solidFill>
                <a:latin typeface="IrisUPC" pitchFamily="34" charset="-34"/>
                <a:cs typeface="IrisUPC" pitchFamily="34" charset="-34"/>
              </a:rPr>
              <a:t>-</a:t>
            </a:r>
            <a:r>
              <a:rPr lang="en-US" sz="4800" b="1" dirty="0">
                <a:solidFill>
                  <a:srgbClr val="FFFF00"/>
                </a:solidFill>
                <a:latin typeface="IrisUPC" pitchFamily="34" charset="-34"/>
                <a:cs typeface="IrisUPC" pitchFamily="34" charset="-34"/>
              </a:rPr>
              <a:t>9518034</a:t>
            </a:r>
            <a:endParaRPr lang="th-TH" sz="11500" b="1" dirty="0">
              <a:solidFill>
                <a:srgbClr val="FFFF00"/>
              </a:solidFill>
              <a:latin typeface="IrisUPC" pitchFamily="34" charset="-34"/>
              <a:cs typeface="IrisUPC" pitchFamily="34" charset="-34"/>
            </a:endParaRPr>
          </a:p>
        </p:txBody>
      </p:sp>
      <p:pic>
        <p:nvPicPr>
          <p:cNvPr id="3" name="รูปภาพ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9056" y="4651364"/>
            <a:ext cx="2193032" cy="1776356"/>
          </a:xfrm>
          <a:prstGeom prst="rect">
            <a:avLst/>
          </a:prstGeom>
        </p:spPr>
      </p:pic>
      <p:pic>
        <p:nvPicPr>
          <p:cNvPr id="5" name="รูปภาพ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3616409"/>
            <a:ext cx="220980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443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1510</Words>
  <Application>Microsoft Office PowerPoint</Application>
  <PresentationFormat>แบบจอกว้าง</PresentationFormat>
  <Paragraphs>128</Paragraphs>
  <Slides>40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7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40</vt:i4>
      </vt:variant>
    </vt:vector>
  </HeadingPairs>
  <TitlesOfParts>
    <vt:vector size="48" baseType="lpstr">
      <vt:lpstr>Angsana New</vt:lpstr>
      <vt:lpstr>Arial</vt:lpstr>
      <vt:lpstr>Calibri</vt:lpstr>
      <vt:lpstr>Calibri Light</vt:lpstr>
      <vt:lpstr>Cordia New</vt:lpstr>
      <vt:lpstr>IrisUPC</vt:lpstr>
      <vt:lpstr>JasmineUPC</vt:lpstr>
      <vt:lpstr>ธีมของ Office</vt:lpstr>
      <vt:lpstr>บรรพ ๖ มรดก</vt:lpstr>
      <vt:lpstr>งานนำเสนอ PowerPoint</vt:lpstr>
      <vt:lpstr>งานนำเสนอ PowerPoint</vt:lpstr>
      <vt:lpstr>๓.ผู้มีสิทธิรับมรดก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(๓) ถ้ามีทายาทตาม ม. ๑๖๒๙(๔),(๕),(๖) และทายาทนั้นยังมีชีวิตอยู่หรือมี       ผู้รับมรดกแทนที่ คู่สมรสที่ยังมีชีวิตอยู่มีสิทธิรับมรดกสองในสาม  (๔) ถ้าไม่มีทายาทดังที่ระบุไว้  ในม. ๑๖๒๙ คู่สมรสที่ยังมีชีวิตอยู่มีสิทธิรับมรดก       ทั้งหมด 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การเสียสิทธิรับมรดก</vt:lpstr>
      <vt:lpstr>งานนำเสนอ PowerPoint</vt:lpstr>
      <vt:lpstr>ฐานเป็นผู้ไม่สมควร  มาตรา ๑๖๐๖  </vt:lpstr>
      <vt:lpstr>งานนำเสนอ PowerPoint</vt:lpstr>
      <vt:lpstr>๒.การตัดไม่ให้รับมรดก</vt:lpstr>
      <vt:lpstr>๓.การสละมรดก</vt:lpstr>
      <vt:lpstr>๔.อายุความมรดก มาตรา ๑๗๕๔ </vt:lpstr>
      <vt:lpstr>งานนำเสนอ PowerPoint</vt:lpstr>
      <vt:lpstr>๕.การจัดการมรดก มาตรา ๑๗๑๓</vt:lpstr>
      <vt:lpstr>งานนำเสนอ PowerPoint</vt:lpstr>
      <vt:lpstr>งานนำเสนอ PowerPoint</vt:lpstr>
      <vt:lpstr>จบการนำเสนอ 081-9518034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บรรพ ๖ มรดก</dc:title>
  <dc:creator>Lenovo</dc:creator>
  <cp:lastModifiedBy>Lenovo</cp:lastModifiedBy>
  <cp:revision>1</cp:revision>
  <dcterms:created xsi:type="dcterms:W3CDTF">2019-04-18T04:52:09Z</dcterms:created>
  <dcterms:modified xsi:type="dcterms:W3CDTF">2019-04-18T04:52:23Z</dcterms:modified>
</cp:coreProperties>
</file>