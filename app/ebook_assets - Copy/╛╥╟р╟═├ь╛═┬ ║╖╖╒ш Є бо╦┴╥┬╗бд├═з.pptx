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8" r:id="rId33"/>
    <p:sldId id="287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9144000" cy="6858000" type="screen4x3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75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95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ภาพนิ่งชื่อเรื่อ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ชื่อเรื่อง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th-TH"/>
              <a:t>คลิกเพื่อแก้ไขลักษณะชื่อเรื่องต้นแบบ</a:t>
            </a:r>
            <a:endParaRPr kumimoji="0" lang="en-US"/>
          </a:p>
        </p:txBody>
      </p:sp>
      <p:sp>
        <p:nvSpPr>
          <p:cNvPr id="9" name="ชื่อเรื่องรอง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th-TH"/>
              <a:t>คลิกเพื่อแก้ไขลักษณะชื่อเรื่องรองต้นแบบ</a:t>
            </a:r>
            <a:endParaRPr kumimoji="0" lang="en-US"/>
          </a:p>
        </p:txBody>
      </p:sp>
      <p:sp>
        <p:nvSpPr>
          <p:cNvPr id="28" name="ตัวแทนวันที่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5CAE913C-CA0F-4764-B6EA-F2099C329C89}" type="datetimeFigureOut">
              <a:rPr lang="th-TH" smtClean="0"/>
              <a:t>04/05/62</a:t>
            </a:fld>
            <a:endParaRPr lang="th-TH"/>
          </a:p>
        </p:txBody>
      </p:sp>
      <p:sp>
        <p:nvSpPr>
          <p:cNvPr id="17" name="ตัวแทนท้ายกระดาษ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th-TH"/>
          </a:p>
        </p:txBody>
      </p:sp>
      <p:sp>
        <p:nvSpPr>
          <p:cNvPr id="10" name="สี่เหลี่ยมผืนผ้า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สี่เหลี่ยมผืนผ้า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สี่เหลี่ยมผืนผ้า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สี่เหลี่ยมผืนผ้า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ตัวเชื่อมต่อตรง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ตัวเชื่อมต่อตรง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ตัวเชื่อมต่อตรง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ตัวเชื่อมต่อตรง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ตัวเชื่อมต่อตรง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ตัวเชื่อมต่อตรง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สี่เหลี่ยมผืนผ้า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วงรี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วงรี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วงรี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วงรี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วงรี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ตัวแทนหมายเลขภาพนิ่ง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1558FCB5-0025-443E-ACCB-36BD98F57FF5}" type="slidenum">
              <a:rPr lang="th-TH" smtClean="0"/>
              <a:t>‹#›</a:t>
            </a:fld>
            <a:endParaRPr lang="th-TH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h-TH"/>
              <a:t>คลิกเพื่อแก้ไขลักษณะชื่อเรื่องต้นแบบ</a:t>
            </a:r>
            <a:endParaRPr kumimoji="0" lang="en-US"/>
          </a:p>
        </p:txBody>
      </p:sp>
      <p:sp>
        <p:nvSpPr>
          <p:cNvPr id="8" name="ตัวแทนเนื้อหา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th-TH"/>
              <a:t>คลิกเพื่อแก้ไขลักษณะของข้อความต้นแบบ</a:t>
            </a:r>
          </a:p>
          <a:p>
            <a:pPr lvl="1" eaLnBrk="1" latinLnBrk="0" hangingPunct="1"/>
            <a:r>
              <a:rPr lang="th-TH"/>
              <a:t>ระดับที่สอง</a:t>
            </a:r>
          </a:p>
          <a:p>
            <a:pPr lvl="2" eaLnBrk="1" latinLnBrk="0" hangingPunct="1"/>
            <a:r>
              <a:rPr lang="th-TH"/>
              <a:t>ระดับที่สาม</a:t>
            </a:r>
          </a:p>
          <a:p>
            <a:pPr lvl="3" eaLnBrk="1" latinLnBrk="0" hangingPunct="1"/>
            <a:r>
              <a:rPr lang="th-TH"/>
              <a:t>ระดับที่สี่</a:t>
            </a:r>
          </a:p>
          <a:p>
            <a:pPr lvl="4" eaLnBrk="1" latinLnBrk="0" hangingPunct="1"/>
            <a:r>
              <a:rPr lang="th-TH"/>
              <a:t>ระดับที่ห้า</a:t>
            </a:r>
            <a:endParaRPr kumimoji="0" lang="en-US"/>
          </a:p>
        </p:txBody>
      </p:sp>
      <p:sp>
        <p:nvSpPr>
          <p:cNvPr id="7" name="ตัวแทนวันที่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CAE913C-CA0F-4764-B6EA-F2099C329C89}" type="datetimeFigureOut">
              <a:rPr lang="th-TH" smtClean="0"/>
              <a:t>04/05/62</a:t>
            </a:fld>
            <a:endParaRPr lang="th-TH"/>
          </a:p>
        </p:txBody>
      </p:sp>
      <p:sp>
        <p:nvSpPr>
          <p:cNvPr id="9" name="ตัวแทนหมายเลขภาพนิ่ง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1558FCB5-0025-443E-ACCB-36BD98F57FF5}" type="slidenum">
              <a:rPr lang="th-TH" smtClean="0"/>
              <a:t>‹#›</a:t>
            </a:fld>
            <a:endParaRPr lang="th-TH"/>
          </a:p>
        </p:txBody>
      </p:sp>
      <p:sp>
        <p:nvSpPr>
          <p:cNvPr id="10" name="ตัวแทนท้ายกระดาษ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th-TH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ส่วนหัวของส่วน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th-TH"/>
              <a:t>คลิกเพื่อแก้ไขลักษณะชื่อเรื่องต้นแบบ</a:t>
            </a:r>
            <a:endParaRPr kumimoji="0" lang="en-US"/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th-TH"/>
              <a:t>คลิกเพื่อแก้ไขลักษณะของข้อความต้นแบบ</a:t>
            </a:r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5CAE913C-CA0F-4764-B6EA-F2099C329C89}" type="datetimeFigureOut">
              <a:rPr lang="th-TH" smtClean="0"/>
              <a:t>04/05/62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th-TH"/>
          </a:p>
        </p:txBody>
      </p:sp>
      <p:sp>
        <p:nvSpPr>
          <p:cNvPr id="9" name="สี่เหลี่ยมผืนผ้า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สี่เหลี่ยมผืนผ้า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สี่เหลี่ยมผืนผ้า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สี่เหลี่ยมผืนผ้า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ตัวเชื่อมต่อตรง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ตัวเชื่อมต่อตรง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ตัวเชื่อมต่อตรง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ตัวเชื่อมต่อตรง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ตัวเชื่อมต่อตรง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สี่เหลี่ยมผืนผ้า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วงรี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วงรี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วงรี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วงรี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วงรี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ตัวเชื่อมต่อตรง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1558FCB5-0025-443E-ACCB-36BD98F57FF5}" type="slidenum">
              <a:rPr lang="th-TH" smtClean="0"/>
              <a:t>‹#›</a:t>
            </a:fld>
            <a:endParaRPr lang="th-TH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h-TH"/>
              <a:t>คลิกเพื่อแก้ไขลักษณะชื่อเรื่องต้นแบบ</a:t>
            </a:r>
            <a:endParaRPr kumimoji="0" lang="en-US"/>
          </a:p>
        </p:txBody>
      </p:sp>
      <p:sp>
        <p:nvSpPr>
          <p:cNvPr id="5" name="ตัวแทน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E913C-CA0F-4764-B6EA-F2099C329C89}" type="datetimeFigureOut">
              <a:rPr lang="th-TH" smtClean="0"/>
              <a:t>04/05/62</a:t>
            </a:fld>
            <a:endParaRPr lang="th-TH"/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8FCB5-0025-443E-ACCB-36BD98F57FF5}" type="slidenum">
              <a:rPr lang="th-TH" smtClean="0"/>
              <a:t>‹#›</a:t>
            </a:fld>
            <a:endParaRPr lang="th-TH"/>
          </a:p>
        </p:txBody>
      </p:sp>
      <p:sp>
        <p:nvSpPr>
          <p:cNvPr id="9" name="ตัวแทนเนื้อหา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th-TH"/>
              <a:t>คลิกเพื่อแก้ไขลักษณะของข้อความต้นแบบ</a:t>
            </a:r>
          </a:p>
          <a:p>
            <a:pPr lvl="1" eaLnBrk="1" latinLnBrk="0" hangingPunct="1"/>
            <a:r>
              <a:rPr lang="th-TH"/>
              <a:t>ระดับที่สอง</a:t>
            </a:r>
          </a:p>
          <a:p>
            <a:pPr lvl="2" eaLnBrk="1" latinLnBrk="0" hangingPunct="1"/>
            <a:r>
              <a:rPr lang="th-TH"/>
              <a:t>ระดับที่สาม</a:t>
            </a:r>
          </a:p>
          <a:p>
            <a:pPr lvl="3" eaLnBrk="1" latinLnBrk="0" hangingPunct="1"/>
            <a:r>
              <a:rPr lang="th-TH"/>
              <a:t>ระดับที่สี่</a:t>
            </a:r>
          </a:p>
          <a:p>
            <a:pPr lvl="4" eaLnBrk="1" latinLnBrk="0" hangingPunct="1"/>
            <a:r>
              <a:rPr lang="th-TH"/>
              <a:t>ระดับที่ห้า</a:t>
            </a:r>
            <a:endParaRPr kumimoji="0" lang="en-US"/>
          </a:p>
        </p:txBody>
      </p:sp>
      <p:sp>
        <p:nvSpPr>
          <p:cNvPr id="11" name="ตัวแทนเนื้อหา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th-TH"/>
              <a:t>คลิกเพื่อแก้ไขลักษณะของข้อความต้นแบบ</a:t>
            </a:r>
          </a:p>
          <a:p>
            <a:pPr lvl="1" eaLnBrk="1" latinLnBrk="0" hangingPunct="1"/>
            <a:r>
              <a:rPr lang="th-TH"/>
              <a:t>ระดับที่สอง</a:t>
            </a:r>
          </a:p>
          <a:p>
            <a:pPr lvl="2" eaLnBrk="1" latinLnBrk="0" hangingPunct="1"/>
            <a:r>
              <a:rPr lang="th-TH"/>
              <a:t>ระดับที่สาม</a:t>
            </a:r>
          </a:p>
          <a:p>
            <a:pPr lvl="3" eaLnBrk="1" latinLnBrk="0" hangingPunct="1"/>
            <a:r>
              <a:rPr lang="th-TH"/>
              <a:t>ระดับที่สี่</a:t>
            </a:r>
          </a:p>
          <a:p>
            <a:pPr lvl="4" eaLnBrk="1" latinLnBrk="0" hangingPunct="1"/>
            <a:r>
              <a:rPr lang="th-TH"/>
              <a:t>ระดับที่ห้า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th-TH"/>
              <a:t>คลิกเพื่อแก้ไขลักษณะชื่อเรื่องต้นแบบ</a:t>
            </a:r>
            <a:endParaRPr kumimoji="0" lang="en-US"/>
          </a:p>
        </p:txBody>
      </p:sp>
      <p:sp>
        <p:nvSpPr>
          <p:cNvPr id="7" name="ตัวแทนวันที่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E913C-CA0F-4764-B6EA-F2099C329C89}" type="datetimeFigureOut">
              <a:rPr lang="th-TH" smtClean="0"/>
              <a:t>04/05/62</a:t>
            </a:fld>
            <a:endParaRPr lang="th-TH"/>
          </a:p>
        </p:txBody>
      </p:sp>
      <p:sp>
        <p:nvSpPr>
          <p:cNvPr id="8" name="ตัวแทนท้ายกระดา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ตัวแทนหมายเลขภาพนิ่ง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8FCB5-0025-443E-ACCB-36BD98F57FF5}" type="slidenum">
              <a:rPr lang="th-TH" smtClean="0"/>
              <a:t>‹#›</a:t>
            </a:fld>
            <a:endParaRPr lang="th-TH"/>
          </a:p>
        </p:txBody>
      </p:sp>
      <p:sp>
        <p:nvSpPr>
          <p:cNvPr id="11" name="ตัวแทนเนื้อหา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th-TH"/>
              <a:t>คลิกเพื่อแก้ไขลักษณะของข้อความต้นแบบ</a:t>
            </a:r>
          </a:p>
          <a:p>
            <a:pPr lvl="1" eaLnBrk="1" latinLnBrk="0" hangingPunct="1"/>
            <a:r>
              <a:rPr lang="th-TH"/>
              <a:t>ระดับที่สอง</a:t>
            </a:r>
          </a:p>
          <a:p>
            <a:pPr lvl="2" eaLnBrk="1" latinLnBrk="0" hangingPunct="1"/>
            <a:r>
              <a:rPr lang="th-TH"/>
              <a:t>ระดับที่สาม</a:t>
            </a:r>
          </a:p>
          <a:p>
            <a:pPr lvl="3" eaLnBrk="1" latinLnBrk="0" hangingPunct="1"/>
            <a:r>
              <a:rPr lang="th-TH"/>
              <a:t>ระดับที่สี่</a:t>
            </a:r>
          </a:p>
          <a:p>
            <a:pPr lvl="4" eaLnBrk="1" latinLnBrk="0" hangingPunct="1"/>
            <a:r>
              <a:rPr lang="th-TH"/>
              <a:t>ระดับที่ห้า</a:t>
            </a:r>
            <a:endParaRPr kumimoji="0" lang="en-US"/>
          </a:p>
        </p:txBody>
      </p:sp>
      <p:sp>
        <p:nvSpPr>
          <p:cNvPr id="13" name="ตัวแทนเนื้อหา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th-TH"/>
              <a:t>คลิกเพื่อแก้ไขลักษณะของข้อความต้นแบบ</a:t>
            </a:r>
          </a:p>
          <a:p>
            <a:pPr lvl="1" eaLnBrk="1" latinLnBrk="0" hangingPunct="1"/>
            <a:r>
              <a:rPr lang="th-TH"/>
              <a:t>ระดับที่สอง</a:t>
            </a:r>
          </a:p>
          <a:p>
            <a:pPr lvl="2" eaLnBrk="1" latinLnBrk="0" hangingPunct="1"/>
            <a:r>
              <a:rPr lang="th-TH"/>
              <a:t>ระดับที่สาม</a:t>
            </a:r>
          </a:p>
          <a:p>
            <a:pPr lvl="3" eaLnBrk="1" latinLnBrk="0" hangingPunct="1"/>
            <a:r>
              <a:rPr lang="th-TH"/>
              <a:t>ระดับที่สี่</a:t>
            </a:r>
          </a:p>
          <a:p>
            <a:pPr lvl="4" eaLnBrk="1" latinLnBrk="0" hangingPunct="1"/>
            <a:r>
              <a:rPr lang="th-TH"/>
              <a:t>ระดับที่ห้า</a:t>
            </a:r>
            <a:endParaRPr kumimoji="0" lang="en-US"/>
          </a:p>
        </p:txBody>
      </p:sp>
      <p:sp>
        <p:nvSpPr>
          <p:cNvPr id="12" name="ตัวแทนข้อความ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th-TH"/>
              <a:t>คลิกเพื่อแก้ไขลักษณะของข้อความต้นแบบ</a:t>
            </a:r>
          </a:p>
        </p:txBody>
      </p:sp>
      <p:sp>
        <p:nvSpPr>
          <p:cNvPr id="14" name="ตัวแทนข้อความ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th-TH"/>
              <a:t>คลิกเพื่อแก้ไขลักษณะของข้อความต้นแบบ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h-TH"/>
              <a:t>คลิกเพื่อแก้ไขลักษณะชื่อเรื่องต้นแบบ</a:t>
            </a:r>
            <a:endParaRPr kumimoji="0" lang="en-US"/>
          </a:p>
        </p:txBody>
      </p:sp>
      <p:sp>
        <p:nvSpPr>
          <p:cNvPr id="6" name="ตัวแทนวันที่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CAE913C-CA0F-4764-B6EA-F2099C329C89}" type="datetimeFigureOut">
              <a:rPr lang="th-TH" smtClean="0"/>
              <a:t>04/05/62</a:t>
            </a:fld>
            <a:endParaRPr lang="th-TH"/>
          </a:p>
        </p:txBody>
      </p:sp>
      <p:sp>
        <p:nvSpPr>
          <p:cNvPr id="7" name="ตัวแทนหมายเลขภาพนิ่ง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1558FCB5-0025-443E-ACCB-36BD98F57FF5}" type="slidenum">
              <a:rPr lang="th-TH" smtClean="0"/>
              <a:t>‹#›</a:t>
            </a:fld>
            <a:endParaRPr lang="th-TH"/>
          </a:p>
        </p:txBody>
      </p:sp>
      <p:sp>
        <p:nvSpPr>
          <p:cNvPr id="8" name="ตัวแทนท้ายกระดาษ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th-TH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วันที่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E913C-CA0F-4764-B6EA-F2099C329C89}" type="datetimeFigureOut">
              <a:rPr lang="th-TH" smtClean="0"/>
              <a:t>04/05/62</a:t>
            </a:fld>
            <a:endParaRPr lang="th-TH"/>
          </a:p>
        </p:txBody>
      </p:sp>
      <p:sp>
        <p:nvSpPr>
          <p:cNvPr id="3" name="ตัวแทนท้ายกระดา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ตัวแทนหมายเลขภาพนิ่ง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8FCB5-0025-443E-ACCB-36BD98F57FF5}" type="slidenum">
              <a:rPr lang="th-TH" smtClean="0"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เนื้อหาพร้อมคำอธิบายภาพ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ตัวเชื่อมต่อตรง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th-TH"/>
              <a:t>คลิกเพื่อแก้ไขลักษณะชื่อเรื่องต้นแบบ</a:t>
            </a:r>
            <a:endParaRPr kumimoji="0" lang="en-US"/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th-TH"/>
              <a:t>คลิกเพื่อแก้ไขลักษณะของข้อความต้นแบบ</a:t>
            </a:r>
          </a:p>
        </p:txBody>
      </p:sp>
      <p:sp>
        <p:nvSpPr>
          <p:cNvPr id="8" name="ตัวเชื่อมต่อตรง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ตัวเชื่อมต่อตรง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ตัวเชื่อมต่อตรง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สี่เหลี่ยมผืนผ้า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ตัวเชื่อมต่อตรง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วงรี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ตัวแทนเนื้อหา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th-TH"/>
              <a:t>คลิกเพื่อแก้ไขลักษณะของข้อความต้นแบบ</a:t>
            </a:r>
          </a:p>
          <a:p>
            <a:pPr lvl="1" eaLnBrk="1" latinLnBrk="0" hangingPunct="1"/>
            <a:r>
              <a:rPr lang="th-TH"/>
              <a:t>ระดับที่สอง</a:t>
            </a:r>
          </a:p>
          <a:p>
            <a:pPr lvl="2" eaLnBrk="1" latinLnBrk="0" hangingPunct="1"/>
            <a:r>
              <a:rPr lang="th-TH"/>
              <a:t>ระดับที่สาม</a:t>
            </a:r>
          </a:p>
          <a:p>
            <a:pPr lvl="3" eaLnBrk="1" latinLnBrk="0" hangingPunct="1"/>
            <a:r>
              <a:rPr lang="th-TH"/>
              <a:t>ระดับที่สี่</a:t>
            </a:r>
          </a:p>
          <a:p>
            <a:pPr lvl="4" eaLnBrk="1" latinLnBrk="0" hangingPunct="1"/>
            <a:r>
              <a:rPr lang="th-TH"/>
              <a:t>ระดับที่ห้า</a:t>
            </a:r>
            <a:endParaRPr kumimoji="0" lang="en-US"/>
          </a:p>
        </p:txBody>
      </p:sp>
      <p:sp>
        <p:nvSpPr>
          <p:cNvPr id="21" name="ตัวแทนวันที่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CAE913C-CA0F-4764-B6EA-F2099C329C89}" type="datetimeFigureOut">
              <a:rPr lang="th-TH" smtClean="0"/>
              <a:t>04/05/62</a:t>
            </a:fld>
            <a:endParaRPr lang="th-TH"/>
          </a:p>
        </p:txBody>
      </p:sp>
      <p:sp>
        <p:nvSpPr>
          <p:cNvPr id="22" name="ตัวแทนหมายเลขภาพนิ่ง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1558FCB5-0025-443E-ACCB-36BD98F57FF5}" type="slidenum">
              <a:rPr lang="th-TH" smtClean="0"/>
              <a:t>‹#›</a:t>
            </a:fld>
            <a:endParaRPr lang="th-TH"/>
          </a:p>
        </p:txBody>
      </p:sp>
      <p:sp>
        <p:nvSpPr>
          <p:cNvPr id="23" name="ตัวแทนท้ายกระดาษ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th-TH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ตัวเชื่อมต่อตรง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วงรี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th-TH"/>
              <a:t>คลิกเพื่อแก้ไขลักษณะชื่อเรื่องต้นแบบ</a:t>
            </a:r>
            <a:endParaRPr kumimoji="0" lang="en-US"/>
          </a:p>
        </p:txBody>
      </p:sp>
      <p:sp>
        <p:nvSpPr>
          <p:cNvPr id="3" name="ตัวแทนรูปภาพ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th-TH"/>
              <a:t>คลิกไอคอนเพื่อเพิ่มรูปภาพ</a:t>
            </a:r>
            <a:endParaRPr kumimoji="0" lang="en-US" dirty="0"/>
          </a:p>
        </p:txBody>
      </p:sp>
      <p:sp>
        <p:nvSpPr>
          <p:cNvPr id="4" name="ตัวแทนข้อความ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th-TH"/>
              <a:t>คลิกเพื่อแก้ไขลักษณะของข้อความต้นแบบ</a:t>
            </a:r>
          </a:p>
        </p:txBody>
      </p:sp>
      <p:sp>
        <p:nvSpPr>
          <p:cNvPr id="10" name="ตัวเชื่อมต่อตรง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สี่เหลี่ยมผืนผ้า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ตัวเชื่อมต่อตรง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ตัวเชื่อมต่อตรง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ตัวเชื่อมต่อตรง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ตัวแทนวันที่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CAE913C-CA0F-4764-B6EA-F2099C329C89}" type="datetimeFigureOut">
              <a:rPr lang="th-TH" smtClean="0"/>
              <a:t>04/05/62</a:t>
            </a:fld>
            <a:endParaRPr lang="th-TH"/>
          </a:p>
        </p:txBody>
      </p:sp>
      <p:sp>
        <p:nvSpPr>
          <p:cNvPr id="18" name="ตัวแทนหมายเลขภาพนิ่ง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1558FCB5-0025-443E-ACCB-36BD98F57FF5}" type="slidenum">
              <a:rPr lang="th-TH" smtClean="0"/>
              <a:t>‹#›</a:t>
            </a:fld>
            <a:endParaRPr lang="th-TH"/>
          </a:p>
        </p:txBody>
      </p:sp>
      <p:sp>
        <p:nvSpPr>
          <p:cNvPr id="21" name="ตัวแทนท้ายกระดาษ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th-TH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h-TH"/>
              <a:t>คลิกเพื่อแก้ไขลักษณะชื่อเรื่องต้นแบบ</a:t>
            </a:r>
            <a:endParaRPr kumimoji="0" lang="en-US"/>
          </a:p>
        </p:txBody>
      </p:sp>
      <p:sp>
        <p:nvSpPr>
          <p:cNvPr id="3" name="ตัวแทนข้อความแนวตั้ง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th-TH"/>
              <a:t>คลิกเพื่อแก้ไขลักษณะของข้อความต้นแบบ</a:t>
            </a:r>
          </a:p>
          <a:p>
            <a:pPr lvl="1" eaLnBrk="1" latinLnBrk="0" hangingPunct="1"/>
            <a:r>
              <a:rPr lang="th-TH"/>
              <a:t>ระดับที่สอง</a:t>
            </a:r>
          </a:p>
          <a:p>
            <a:pPr lvl="2" eaLnBrk="1" latinLnBrk="0" hangingPunct="1"/>
            <a:r>
              <a:rPr lang="th-TH"/>
              <a:t>ระดับที่สาม</a:t>
            </a:r>
          </a:p>
          <a:p>
            <a:pPr lvl="3" eaLnBrk="1" latinLnBrk="0" hangingPunct="1"/>
            <a:r>
              <a:rPr lang="th-TH"/>
              <a:t>ระดับที่สี่</a:t>
            </a:r>
          </a:p>
          <a:p>
            <a:pPr lvl="4" eaLnBrk="1" latinLnBrk="0" hangingPunct="1"/>
            <a:r>
              <a:rPr lang="th-TH"/>
              <a:t>ระดับที่ห้า</a:t>
            </a:r>
            <a:endParaRPr kumimoji="0" lang="en-US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E913C-CA0F-4764-B6EA-F2099C329C89}" type="datetimeFigureOut">
              <a:rPr lang="th-TH" smtClean="0"/>
              <a:t>04/05/62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8FCB5-0025-443E-ACCB-36BD98F57FF5}" type="slidenum">
              <a:rPr lang="th-TH" smtClean="0"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th-TH"/>
              <a:t>คลิกเพื่อแก้ไขลักษณะชื่อเรื่องต้นแบบ</a:t>
            </a:r>
            <a:endParaRPr kumimoji="0" lang="en-US"/>
          </a:p>
        </p:txBody>
      </p:sp>
      <p:sp>
        <p:nvSpPr>
          <p:cNvPr id="3" name="ตัวแทนข้อความแนวตั้ง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th-TH"/>
              <a:t>คลิกเพื่อแก้ไขลักษณะของข้อความต้นแบบ</a:t>
            </a:r>
          </a:p>
          <a:p>
            <a:pPr lvl="1" eaLnBrk="1" latinLnBrk="0" hangingPunct="1"/>
            <a:r>
              <a:rPr lang="th-TH"/>
              <a:t>ระดับที่สอง</a:t>
            </a:r>
          </a:p>
          <a:p>
            <a:pPr lvl="2" eaLnBrk="1" latinLnBrk="0" hangingPunct="1"/>
            <a:r>
              <a:rPr lang="th-TH"/>
              <a:t>ระดับที่สาม</a:t>
            </a:r>
          </a:p>
          <a:p>
            <a:pPr lvl="3" eaLnBrk="1" latinLnBrk="0" hangingPunct="1"/>
            <a:r>
              <a:rPr lang="th-TH"/>
              <a:t>ระดับที่สี่</a:t>
            </a:r>
          </a:p>
          <a:p>
            <a:pPr lvl="4" eaLnBrk="1" latinLnBrk="0" hangingPunct="1"/>
            <a:r>
              <a:rPr lang="th-TH"/>
              <a:t>ระดับที่ห้า</a:t>
            </a:r>
            <a:endParaRPr kumimoji="0" lang="en-US"/>
          </a:p>
        </p:txBody>
      </p:sp>
      <p:sp>
        <p:nvSpPr>
          <p:cNvPr id="4" name="ตัวแทน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E913C-CA0F-4764-B6EA-F2099C329C89}" type="datetimeFigureOut">
              <a:rPr lang="th-TH" smtClean="0"/>
              <a:t>04/05/62</a:t>
            </a:fld>
            <a:endParaRPr lang="th-TH"/>
          </a:p>
        </p:txBody>
      </p:sp>
      <p:sp>
        <p:nvSpPr>
          <p:cNvPr id="5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8FCB5-0025-443E-ACCB-36BD98F57FF5}" type="slidenum">
              <a:rPr lang="th-TH" smtClean="0"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ตัวเชื่อมต่อตรง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ตัวแทนชื่อเรื่อง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th-TH"/>
              <a:t>คลิกเพื่อแก้ไขลักษณะชื่อเรื่องต้นแบบ</a:t>
            </a:r>
            <a:endParaRPr kumimoji="0" lang="en-US"/>
          </a:p>
        </p:txBody>
      </p:sp>
      <p:sp>
        <p:nvSpPr>
          <p:cNvPr id="13" name="ตัวแทนข้อความ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th-TH"/>
              <a:t>คลิกเพื่อแก้ไขลักษณะของข้อความต้นแบบ</a:t>
            </a:r>
          </a:p>
          <a:p>
            <a:pPr lvl="1" eaLnBrk="1" latinLnBrk="0" hangingPunct="1"/>
            <a:r>
              <a:rPr kumimoji="0" lang="th-TH"/>
              <a:t>ระดับที่สอง</a:t>
            </a:r>
          </a:p>
          <a:p>
            <a:pPr lvl="2" eaLnBrk="1" latinLnBrk="0" hangingPunct="1"/>
            <a:r>
              <a:rPr kumimoji="0" lang="th-TH"/>
              <a:t>ระดับที่สาม</a:t>
            </a:r>
          </a:p>
          <a:p>
            <a:pPr lvl="3" eaLnBrk="1" latinLnBrk="0" hangingPunct="1"/>
            <a:r>
              <a:rPr kumimoji="0" lang="th-TH"/>
              <a:t>ระดับที่สี่</a:t>
            </a:r>
          </a:p>
          <a:p>
            <a:pPr lvl="4" eaLnBrk="1" latinLnBrk="0" hangingPunct="1"/>
            <a:r>
              <a:rPr kumimoji="0" lang="th-TH"/>
              <a:t>ระดับที่ห้า</a:t>
            </a:r>
            <a:endParaRPr kumimoji="0" lang="en-US"/>
          </a:p>
        </p:txBody>
      </p:sp>
      <p:sp>
        <p:nvSpPr>
          <p:cNvPr id="14" name="ตัวแทนวันที่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5CAE913C-CA0F-4764-B6EA-F2099C329C89}" type="datetimeFigureOut">
              <a:rPr lang="th-TH" smtClean="0"/>
              <a:t>04/05/62</a:t>
            </a:fld>
            <a:endParaRPr lang="th-TH"/>
          </a:p>
        </p:txBody>
      </p:sp>
      <p:sp>
        <p:nvSpPr>
          <p:cNvPr id="3" name="ตัวแทนท้ายกระดาษ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th-TH"/>
          </a:p>
        </p:txBody>
      </p:sp>
      <p:sp>
        <p:nvSpPr>
          <p:cNvPr id="7" name="ตัวเชื่อมต่อตรง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ตัวเชื่อมต่อตรง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สี่เหลี่ยมผืนผ้า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ตัวเชื่อมต่อตรง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วงรี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ตัวแทนหมายเลขภาพนิ่ง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1558FCB5-0025-443E-ACCB-36BD98F57FF5}" type="slidenum">
              <a:rPr lang="th-TH" smtClean="0"/>
              <a:t>‹#›</a:t>
            </a:fld>
            <a:endParaRPr 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ctrTitle"/>
          </p:nvPr>
        </p:nvSpPr>
        <p:spPr>
          <a:xfrm>
            <a:off x="683568" y="1412776"/>
            <a:ext cx="7920880" cy="2664296"/>
          </a:xfrm>
        </p:spPr>
        <p:txBody>
          <a:bodyPr>
            <a:normAutofit/>
          </a:bodyPr>
          <a:lstStyle/>
          <a:p>
            <a:br>
              <a:rPr lang="th-TH" b="1" dirty="0">
                <a:latin typeface="TH SarabunIT๙" panose="020B0500040200020003" pitchFamily="34" charset="-34"/>
                <a:cs typeface="TH SarabunIT๙" panose="020B0500040200020003" pitchFamily="34" charset="-34"/>
              </a:rPr>
            </a:br>
            <a:r>
              <a:rPr lang="th-TH" sz="4400" b="1" dirty="0">
                <a:solidFill>
                  <a:schemeClr val="tx1"/>
                </a:solidFill>
                <a:latin typeface="TH SarabunIT๙" panose="020B0500040200020003" pitchFamily="34" charset="-34"/>
                <a:cs typeface="TH SarabunIT๙" panose="020B0500040200020003" pitchFamily="34" charset="-34"/>
              </a:rPr>
              <a:t>บทที่ 2</a:t>
            </a:r>
            <a:br>
              <a:rPr lang="th-TH" sz="4400" b="1" dirty="0">
                <a:solidFill>
                  <a:schemeClr val="tx1"/>
                </a:solidFill>
              </a:rPr>
            </a:br>
            <a:r>
              <a:rPr lang="th-TH" sz="4400" b="1" dirty="0">
                <a:solidFill>
                  <a:schemeClr val="tx1"/>
                </a:solidFill>
              </a:rPr>
              <a:t>กฎหมายปกครองและการพิจารณาคดีปกครอง</a:t>
            </a:r>
          </a:p>
        </p:txBody>
      </p:sp>
    </p:spTree>
    <p:extLst>
      <p:ext uri="{BB962C8B-B14F-4D97-AF65-F5344CB8AC3E}">
        <p14:creationId xmlns:p14="http://schemas.microsoft.com/office/powerpoint/2010/main" val="265928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136904" cy="4608512"/>
          </a:xfrm>
        </p:spPr>
        <p:txBody>
          <a:bodyPr>
            <a:normAutofit/>
          </a:bodyPr>
          <a:lstStyle/>
          <a:p>
            <a:r>
              <a:rPr lang="th-TH" sz="4000" b="1" dirty="0">
                <a:solidFill>
                  <a:schemeClr val="tx1"/>
                </a:solidFill>
                <a:latin typeface="TH SarabunIT๙" panose="020B0500040200020003" pitchFamily="34" charset="-34"/>
                <a:cs typeface="TH SarabunIT๙" panose="020B0500040200020003" pitchFamily="34" charset="-34"/>
              </a:rPr>
              <a:t>เนื้อหาในการเรียน มี 3 ส่วน คือ</a:t>
            </a:r>
            <a:br>
              <a:rPr lang="th-TH" sz="4400" b="1" dirty="0">
                <a:solidFill>
                  <a:schemeClr val="tx1"/>
                </a:solidFill>
                <a:latin typeface="TH SarabunIT๙" panose="020B0500040200020003" pitchFamily="34" charset="-34"/>
                <a:cs typeface="TH SarabunIT๙" panose="020B0500040200020003" pitchFamily="34" charset="-34"/>
              </a:rPr>
            </a:br>
            <a:r>
              <a:rPr lang="th-TH" sz="3100" b="1" dirty="0">
                <a:solidFill>
                  <a:srgbClr val="C00000"/>
                </a:solidFill>
                <a:latin typeface="TH SarabunIT๙" panose="020B0500040200020003" pitchFamily="34" charset="-34"/>
                <a:cs typeface="TH SarabunIT๙" panose="020B0500040200020003" pitchFamily="34" charset="-34"/>
              </a:rPr>
              <a:t>ส่วนที่ 1</a:t>
            </a:r>
            <a:r>
              <a:rPr lang="th-TH" sz="3100" b="1" dirty="0">
                <a:solidFill>
                  <a:schemeClr val="tx1"/>
                </a:solidFill>
                <a:latin typeface="TH SarabunIT๙" panose="020B0500040200020003" pitchFamily="34" charset="-34"/>
                <a:cs typeface="TH SarabunIT๙" panose="020B0500040200020003" pitchFamily="34" charset="-34"/>
              </a:rPr>
              <a:t> หลักการพื้นฐานของกฎหมายปกครอง</a:t>
            </a:r>
            <a:br>
              <a:rPr lang="th-TH" sz="3100" b="1" dirty="0">
                <a:solidFill>
                  <a:schemeClr val="tx1"/>
                </a:solidFill>
                <a:latin typeface="TH SarabunIT๙" panose="020B0500040200020003" pitchFamily="34" charset="-34"/>
                <a:cs typeface="TH SarabunIT๙" panose="020B0500040200020003" pitchFamily="34" charset="-34"/>
              </a:rPr>
            </a:br>
            <a:r>
              <a:rPr lang="th-TH" sz="3100" b="1" dirty="0">
                <a:solidFill>
                  <a:srgbClr val="C00000"/>
                </a:solidFill>
                <a:latin typeface="TH SarabunIT๙" panose="020B0500040200020003" pitchFamily="34" charset="-34"/>
                <a:cs typeface="TH SarabunIT๙" panose="020B0500040200020003" pitchFamily="34" charset="-34"/>
              </a:rPr>
              <a:t>ส่วนที่ 2</a:t>
            </a:r>
            <a:r>
              <a:rPr lang="th-TH" sz="3100" b="1" dirty="0">
                <a:solidFill>
                  <a:schemeClr val="tx1"/>
                </a:solidFill>
                <a:latin typeface="TH SarabunIT๙" panose="020B0500040200020003" pitchFamily="34" charset="-34"/>
                <a:cs typeface="TH SarabunIT๙" panose="020B0500040200020003" pitchFamily="34" charset="-34"/>
              </a:rPr>
              <a:t> พ.ร.บ.วิธีปฏิบัติราชการทางปกครอง พ.ศ.2539</a:t>
            </a:r>
            <a:br>
              <a:rPr lang="th-TH" sz="3100" b="1" dirty="0">
                <a:solidFill>
                  <a:schemeClr val="tx1"/>
                </a:solidFill>
                <a:latin typeface="TH SarabunIT๙" panose="020B0500040200020003" pitchFamily="34" charset="-34"/>
                <a:cs typeface="TH SarabunIT๙" panose="020B0500040200020003" pitchFamily="34" charset="-34"/>
              </a:rPr>
            </a:br>
            <a:r>
              <a:rPr lang="th-TH" sz="3100" b="1" dirty="0">
                <a:solidFill>
                  <a:srgbClr val="C00000"/>
                </a:solidFill>
                <a:latin typeface="TH SarabunIT๙" panose="020B0500040200020003" pitchFamily="34" charset="-34"/>
                <a:cs typeface="TH SarabunIT๙" panose="020B0500040200020003" pitchFamily="34" charset="-34"/>
              </a:rPr>
              <a:t>ส่วนที่ 3</a:t>
            </a:r>
            <a:r>
              <a:rPr lang="th-TH" sz="3100" b="1" dirty="0">
                <a:solidFill>
                  <a:schemeClr val="tx1"/>
                </a:solidFill>
                <a:latin typeface="TH SarabunIT๙" panose="020B0500040200020003" pitchFamily="34" charset="-34"/>
                <a:cs typeface="TH SarabunIT๙" panose="020B0500040200020003" pitchFamily="34" charset="-34"/>
              </a:rPr>
              <a:t> พ.ร.บ.จัดตั้งศาลปกครองและวิธีพิจารณาคดีปกครอง พ.ศ.2542</a:t>
            </a:r>
            <a:br>
              <a:rPr lang="th-TH" sz="3100" dirty="0">
                <a:latin typeface="TH SarabunIT๙" panose="020B0500040200020003" pitchFamily="34" charset="-34"/>
                <a:cs typeface="TH SarabunIT๙" panose="020B0500040200020003" pitchFamily="34" charset="-34"/>
              </a:rPr>
            </a:br>
            <a:endParaRPr lang="th-TH" sz="3100" dirty="0">
              <a:latin typeface="TH SarabunIT๙" panose="020B0500040200020003" pitchFamily="34" charset="-34"/>
              <a:cs typeface="TH SarabunIT๙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765155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h-TH" sz="4000" b="1" dirty="0">
                <a:solidFill>
                  <a:schemeClr val="accent3"/>
                </a:solidFill>
                <a:latin typeface="TH SarabunIT๙" panose="020B0500040200020003" pitchFamily="34" charset="-34"/>
                <a:cs typeface="TH SarabunIT๙" panose="020B0500040200020003" pitchFamily="34" charset="-34"/>
              </a:rPr>
              <a:t>ส่วนที่ 1 หลักการพื้นฐานของกฎหมายปกครอง</a:t>
            </a:r>
          </a:p>
        </p:txBody>
      </p:sp>
      <p:sp>
        <p:nvSpPr>
          <p:cNvPr id="3" name="ตัวแทนเนื้อหา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19256" cy="4873752"/>
          </a:xfrm>
        </p:spPr>
        <p:txBody>
          <a:bodyPr>
            <a:normAutofit/>
          </a:bodyPr>
          <a:lstStyle/>
          <a:p>
            <a:pPr marL="0" indent="0" algn="thaiDist">
              <a:buNone/>
            </a:pPr>
            <a:r>
              <a:rPr lang="th-TH" sz="3600" b="1" dirty="0">
                <a:solidFill>
                  <a:schemeClr val="accent3"/>
                </a:solidFill>
                <a:latin typeface="TH SarabunIT๙" panose="020B0500040200020003" pitchFamily="34" charset="-34"/>
                <a:cs typeface="TH SarabunIT๙" panose="020B0500040200020003" pitchFamily="34" charset="-34"/>
              </a:rPr>
              <a:t>กฎหมายปกครอง </a:t>
            </a:r>
            <a:r>
              <a:rPr lang="en-US" sz="3600" b="1" dirty="0">
                <a:solidFill>
                  <a:schemeClr val="accent3"/>
                </a:solidFill>
                <a:latin typeface="TH SarabunIT๙" panose="020B0500040200020003" pitchFamily="34" charset="-34"/>
                <a:cs typeface="TH SarabunIT๙" panose="020B0500040200020003" pitchFamily="34" charset="-34"/>
              </a:rPr>
              <a:t>: </a:t>
            </a:r>
            <a:r>
              <a:rPr lang="th-TH" sz="3600" b="1" dirty="0">
                <a:solidFill>
                  <a:schemeClr val="accent3"/>
                </a:solidFill>
                <a:latin typeface="TH SarabunIT๙" panose="020B0500040200020003" pitchFamily="34" charset="-34"/>
                <a:cs typeface="TH SarabunIT๙" panose="020B0500040200020003" pitchFamily="34" charset="-34"/>
              </a:rPr>
              <a:t>เป็นกฎหมายที่ให้อำนาจแก่ฝ่ายปกครอง เพื่อให้การดำเนินกิจกรรมทางปกครองบรรลุวัตถุประสงค์ได้อย่างมีประสิทธิภาพ ฝ่ายปกครองบังคับเอกชนให้ปฏิบัติตามกฎหมายหรือออกคำสั่งได้เองฝ่ายเดียวโดยเอกชนไม่จำต้องยินยอม</a:t>
            </a:r>
          </a:p>
          <a:p>
            <a:pPr marL="0" indent="0">
              <a:buNone/>
            </a:pPr>
            <a:endParaRPr lang="th-TH" sz="3600" b="1" dirty="0">
              <a:latin typeface="TH SarabunIT๙" panose="020B0500040200020003" pitchFamily="34" charset="-34"/>
              <a:cs typeface="TH SarabunIT๙" panose="020B0500040200020003" pitchFamily="34" charset="-34"/>
            </a:endParaRPr>
          </a:p>
          <a:p>
            <a:pPr marL="0" indent="0" algn="ctr">
              <a:buNone/>
            </a:pPr>
            <a:r>
              <a:rPr lang="th-TH" sz="3600" b="1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 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858" y="4293096"/>
            <a:ext cx="3959349" cy="1368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2183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ตัวแทนเนื้อหา 2"/>
          <p:cNvSpPr>
            <a:spLocks noGrp="1"/>
          </p:cNvSpPr>
          <p:nvPr>
            <p:ph sz="quarter" idx="1"/>
          </p:nvPr>
        </p:nvSpPr>
        <p:spPr>
          <a:xfrm>
            <a:off x="755576" y="980728"/>
            <a:ext cx="7467600" cy="4873752"/>
          </a:xfrm>
        </p:spPr>
        <p:txBody>
          <a:bodyPr/>
          <a:lstStyle/>
          <a:p>
            <a:pPr algn="thaiDist"/>
            <a:r>
              <a:rPr lang="th-TH" sz="6600" dirty="0"/>
              <a:t> - </a:t>
            </a:r>
            <a:r>
              <a:rPr lang="th-TH" sz="6600" dirty="0">
                <a:solidFill>
                  <a:srgbClr val="C00000"/>
                </a:solidFill>
              </a:rPr>
              <a:t>ความหมาย</a:t>
            </a:r>
            <a:r>
              <a:rPr lang="th-TH" sz="6600" dirty="0"/>
              <a:t>ของฝ่ายปกครอง</a:t>
            </a:r>
          </a:p>
          <a:p>
            <a:pPr algn="thaiDist"/>
            <a:r>
              <a:rPr lang="th-TH" sz="6600" dirty="0"/>
              <a:t> - </a:t>
            </a:r>
            <a:r>
              <a:rPr lang="th-TH" sz="6600" dirty="0">
                <a:solidFill>
                  <a:srgbClr val="C00000"/>
                </a:solidFill>
              </a:rPr>
              <a:t>ประเภท</a:t>
            </a:r>
            <a:r>
              <a:rPr lang="th-TH" sz="6600" dirty="0"/>
              <a:t>ของฝ่ายปกครอง             </a:t>
            </a:r>
          </a:p>
          <a:p>
            <a:pPr algn="thaiDist"/>
            <a:r>
              <a:rPr lang="th-TH" sz="6600" dirty="0"/>
              <a:t> - </a:t>
            </a:r>
            <a:r>
              <a:rPr lang="th-TH" sz="6600" dirty="0">
                <a:solidFill>
                  <a:srgbClr val="C00000"/>
                </a:solidFill>
              </a:rPr>
              <a:t>การกระทำ</a:t>
            </a:r>
            <a:r>
              <a:rPr lang="th-TH" sz="6600" dirty="0"/>
              <a:t>ทางปกครอง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730567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ตัวแทนเนื้อหา 2"/>
          <p:cNvSpPr>
            <a:spLocks noGrp="1"/>
          </p:cNvSpPr>
          <p:nvPr>
            <p:ph sz="quarter" idx="1"/>
          </p:nvPr>
        </p:nvSpPr>
        <p:spPr>
          <a:xfrm>
            <a:off x="457200" y="620688"/>
            <a:ext cx="7931224" cy="4680520"/>
          </a:xfrm>
        </p:spPr>
        <p:txBody>
          <a:bodyPr/>
          <a:lstStyle/>
          <a:p>
            <a:pPr algn="ctr"/>
            <a:r>
              <a:rPr lang="th-TH" sz="4000" dirty="0"/>
              <a:t> </a:t>
            </a:r>
            <a:r>
              <a:rPr lang="th-TH" sz="5400" dirty="0"/>
              <a:t>ความหมายของฝ่ายปกครอง</a:t>
            </a:r>
          </a:p>
          <a:p>
            <a:pPr marL="0" indent="0" algn="thaiDist">
              <a:buNone/>
            </a:pPr>
            <a:r>
              <a:rPr lang="th-TH" sz="3600" b="1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ฝ่ายปกครอง </a:t>
            </a:r>
            <a:r>
              <a:rPr lang="th-TH" sz="3600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เป็นองค์กรของรัฐ </a:t>
            </a:r>
            <a:r>
              <a:rPr lang="th-TH" sz="3600" b="1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“ฝ่ายบริหาร”</a:t>
            </a:r>
            <a:r>
              <a:rPr lang="th-TH" sz="3600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 ที่ทำภารกิจทางปกครองอันเป็นส่วนหนึ่งของภารกิจทางบริหาร ส่วนใหญ่มักใช้อำนาจมหาชนจากกฎหมายระดับพระราชบัญญัติ (พ.ร.บ.) </a:t>
            </a:r>
          </a:p>
          <a:p>
            <a:pPr marL="0" indent="0" algn="thaiDist">
              <a:buNone/>
            </a:pPr>
            <a:r>
              <a:rPr lang="th-TH" sz="3600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หรือพระราชบัญญัติประกอบรัฐธรรมนูญ (</a:t>
            </a:r>
            <a:r>
              <a:rPr lang="th-TH" sz="3600" dirty="0" err="1">
                <a:latin typeface="TH SarabunIT๙" panose="020B0500040200020003" pitchFamily="34" charset="-34"/>
                <a:cs typeface="TH SarabunIT๙" panose="020B0500040200020003" pitchFamily="34" charset="-34"/>
              </a:rPr>
              <a:t>พ.ร.ป</a:t>
            </a:r>
            <a:r>
              <a:rPr lang="th-TH" sz="3600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.) เพื่อจัดทำบริการสาธารณะ และสามารถดำเนินงานได้โดยไม่ต้องมีผู้ร้องขอซึ่งต้อง</a:t>
            </a:r>
            <a:r>
              <a:rPr lang="th-TH" sz="3600" b="1" u="sng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มีกฎหมายให้อำนาจ </a:t>
            </a:r>
          </a:p>
        </p:txBody>
      </p:sp>
    </p:spTree>
    <p:extLst>
      <p:ext uri="{BB962C8B-B14F-4D97-AF65-F5344CB8AC3E}">
        <p14:creationId xmlns:p14="http://schemas.microsoft.com/office/powerpoint/2010/main" val="1509496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ตัวแทนเนื้อหา 2"/>
          <p:cNvSpPr>
            <a:spLocks noGrp="1"/>
          </p:cNvSpPr>
          <p:nvPr>
            <p:ph sz="quarter" idx="1"/>
          </p:nvPr>
        </p:nvSpPr>
        <p:spPr>
          <a:xfrm>
            <a:off x="251520" y="1124486"/>
            <a:ext cx="8496944" cy="16127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h-TH" sz="3600" dirty="0">
                <a:solidFill>
                  <a:srgbClr val="002060"/>
                </a:solidFill>
                <a:latin typeface="TH SarabunIT๙" panose="020B0500040200020003" pitchFamily="34" charset="-34"/>
                <a:cs typeface="TH SarabunIT๙" panose="020B0500040200020003" pitchFamily="34" charset="-34"/>
              </a:rPr>
              <a:t>“รัฐหรือเจ้าหน้าที่ของรัฐจะกระทำการใดๆต้องมีกฎหมายให้อำนาจ”</a:t>
            </a:r>
          </a:p>
          <a:p>
            <a:pPr marL="0" indent="0" algn="ctr">
              <a:buNone/>
            </a:pPr>
            <a:endParaRPr lang="th-TH" sz="3600" dirty="0">
              <a:solidFill>
                <a:srgbClr val="002060"/>
              </a:solidFill>
              <a:latin typeface="TH SarabunIT๙" panose="020B0500040200020003" pitchFamily="34" charset="-34"/>
              <a:cs typeface="TH SarabunIT๙" panose="020B0500040200020003" pitchFamily="34" charset="-34"/>
            </a:endParaRPr>
          </a:p>
          <a:p>
            <a:pPr marL="0" indent="0" algn="ctr">
              <a:buNone/>
            </a:pPr>
            <a:endParaRPr lang="th-TH" sz="3600" dirty="0">
              <a:solidFill>
                <a:srgbClr val="002060"/>
              </a:solidFill>
              <a:latin typeface="TH SarabunIT๙" panose="020B0500040200020003" pitchFamily="34" charset="-34"/>
              <a:cs typeface="TH SarabunIT๙" panose="020B0500040200020003" pitchFamily="34" charset="-34"/>
            </a:endParaRP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4025" y="1844824"/>
            <a:ext cx="3212829" cy="3005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5602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ตัวแทนเนื้อหา 2"/>
          <p:cNvSpPr>
            <a:spLocks noGrp="1"/>
          </p:cNvSpPr>
          <p:nvPr>
            <p:ph sz="quarter" idx="1"/>
          </p:nvPr>
        </p:nvSpPr>
        <p:spPr>
          <a:xfrm>
            <a:off x="683568" y="332656"/>
            <a:ext cx="7992888" cy="4873752"/>
          </a:xfrm>
        </p:spPr>
        <p:txBody>
          <a:bodyPr>
            <a:normAutofit/>
          </a:bodyPr>
          <a:lstStyle/>
          <a:p>
            <a:pPr algn="ctr"/>
            <a:r>
              <a:rPr lang="th-TH" sz="5400" dirty="0"/>
              <a:t>ประเภทของฝ่ายปกครอง</a:t>
            </a:r>
          </a:p>
          <a:p>
            <a:pPr marL="0" indent="0" algn="thaiDist">
              <a:buNone/>
            </a:pPr>
            <a:r>
              <a:rPr lang="th-TH" sz="4000" b="1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มี 2 ประเภท คือ</a:t>
            </a:r>
          </a:p>
          <a:p>
            <a:pPr marL="0" indent="0" algn="thaiDist">
              <a:buNone/>
            </a:pPr>
            <a:r>
              <a:rPr lang="th-TH" sz="4000" b="1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1.</a:t>
            </a:r>
            <a:r>
              <a:rPr lang="th-TH" sz="4000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 ฝ่ายปกครองที่</a:t>
            </a:r>
            <a:r>
              <a:rPr lang="th-TH" sz="4000" b="1" u="sng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ไม่อยู่</a:t>
            </a:r>
            <a:r>
              <a:rPr lang="th-TH" sz="4000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ในบังคับบัญชาหรือกำกับดูแล    </a:t>
            </a:r>
            <a:r>
              <a:rPr lang="th-TH" sz="4000" b="1" u="sng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ของรัฐบาล</a:t>
            </a:r>
          </a:p>
          <a:p>
            <a:pPr marL="0" indent="0" algn="thaiDist">
              <a:buNone/>
            </a:pPr>
            <a:r>
              <a:rPr lang="th-TH" sz="4000" b="1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2.</a:t>
            </a:r>
            <a:r>
              <a:rPr lang="th-TH" sz="4000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 ฝ่ายปกครองที่</a:t>
            </a:r>
            <a:r>
              <a:rPr lang="th-TH" sz="4000" b="1" u="sng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อยู่</a:t>
            </a:r>
            <a:r>
              <a:rPr lang="th-TH" sz="4000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ในบังคับบัญชาหรือกำกับดูแล      </a:t>
            </a:r>
            <a:r>
              <a:rPr lang="th-TH" sz="4000" b="1" u="sng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ของรัฐบาล</a:t>
            </a:r>
          </a:p>
        </p:txBody>
      </p:sp>
    </p:spTree>
    <p:extLst>
      <p:ext uri="{BB962C8B-B14F-4D97-AF65-F5344CB8AC3E}">
        <p14:creationId xmlns:p14="http://schemas.microsoft.com/office/powerpoint/2010/main" val="2317302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th-TH" sz="3600" b="1" dirty="0">
                <a:solidFill>
                  <a:schemeClr val="tx1"/>
                </a:solidFill>
                <a:latin typeface="TH SarabunIT๙" pitchFamily="34" charset="-34"/>
                <a:cs typeface="TH SarabunIT๙" pitchFamily="34" charset="-34"/>
              </a:rPr>
              <a:t>1. ฝ่ายปกครองที่</a:t>
            </a:r>
            <a:r>
              <a:rPr lang="th-TH" sz="3600" b="1" u="sng" dirty="0">
                <a:solidFill>
                  <a:schemeClr val="tx1"/>
                </a:solidFill>
                <a:latin typeface="TH SarabunIT๙" pitchFamily="34" charset="-34"/>
                <a:cs typeface="TH SarabunIT๙" pitchFamily="34" charset="-34"/>
              </a:rPr>
              <a:t>ไม่อยู่</a:t>
            </a:r>
            <a:r>
              <a:rPr lang="th-TH" sz="3600" b="1" dirty="0">
                <a:solidFill>
                  <a:schemeClr val="tx1"/>
                </a:solidFill>
                <a:latin typeface="TH SarabunIT๙" pitchFamily="34" charset="-34"/>
                <a:cs typeface="TH SarabunIT๙" pitchFamily="34" charset="-34"/>
              </a:rPr>
              <a:t>ในบังคับบัญชาหรือกำกับดูแล</a:t>
            </a:r>
            <a:r>
              <a:rPr lang="th-TH" sz="3600" b="1" u="sng" dirty="0">
                <a:solidFill>
                  <a:schemeClr val="tx1"/>
                </a:solidFill>
                <a:latin typeface="TH SarabunIT๙" pitchFamily="34" charset="-34"/>
                <a:cs typeface="TH SarabunIT๙" pitchFamily="34" charset="-34"/>
              </a:rPr>
              <a:t>ของรัฐบาล</a:t>
            </a:r>
          </a:p>
        </p:txBody>
      </p:sp>
      <p:sp>
        <p:nvSpPr>
          <p:cNvPr id="3" name="ตัวแทนเนื้อหา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algn="thaiDist"/>
            <a:r>
              <a:rPr lang="th-TH" sz="3200" b="1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 คณะรัฐมน</a:t>
            </a:r>
            <a:r>
              <a:rPr lang="th-TH" sz="3200" b="1" u="sng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ตรี</a:t>
            </a:r>
            <a:r>
              <a:rPr lang="th-TH" sz="3200" b="1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 (ครม.) นายกรัฐมน</a:t>
            </a:r>
            <a:r>
              <a:rPr lang="th-TH" sz="3200" b="1" u="sng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ตรี</a:t>
            </a:r>
            <a:r>
              <a:rPr lang="th-TH" sz="3200" b="1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 และรัฐมน</a:t>
            </a:r>
            <a:r>
              <a:rPr lang="th-TH" sz="3200" b="1" u="sng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ตรี</a:t>
            </a:r>
            <a:r>
              <a:rPr lang="th-TH" sz="3200" b="1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แต่ละคน  ได้รับอำนาจจากกฎหมายระดับรัฐธรรมนูญ และกฎหมายระดับ พ.ร.บ. และ </a:t>
            </a:r>
            <a:r>
              <a:rPr lang="th-TH" sz="3200" b="1" dirty="0" err="1">
                <a:latin typeface="TH SarabunIT๙" panose="020B0500040200020003" pitchFamily="34" charset="-34"/>
                <a:cs typeface="TH SarabunIT๙" panose="020B0500040200020003" pitchFamily="34" charset="-34"/>
              </a:rPr>
              <a:t>พ.ร.ป</a:t>
            </a:r>
            <a:r>
              <a:rPr lang="th-TH" sz="3200" b="1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.  </a:t>
            </a:r>
          </a:p>
          <a:p>
            <a:pPr marL="0" indent="0" algn="thaiDist">
              <a:buNone/>
            </a:pPr>
            <a:r>
              <a:rPr lang="th-TH" sz="3200" b="1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 </a:t>
            </a:r>
            <a:r>
              <a:rPr lang="th-TH" sz="2000" b="1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** หากใช้อำนาจตามกฎหมายระดับ พ.ร.บ. หรือ </a:t>
            </a:r>
            <a:r>
              <a:rPr lang="th-TH" sz="2000" b="1" dirty="0" err="1">
                <a:latin typeface="TH SarabunIT๙" panose="020B0500040200020003" pitchFamily="34" charset="-34"/>
                <a:cs typeface="TH SarabunIT๙" panose="020B0500040200020003" pitchFamily="34" charset="-34"/>
              </a:rPr>
              <a:t>พ.ร.ป</a:t>
            </a:r>
            <a:r>
              <a:rPr lang="th-TH" sz="2000" b="1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. ย่อมเป็นการใช้อำนาจในฐานะฝ่ายปกครอง</a:t>
            </a:r>
          </a:p>
          <a:p>
            <a:pPr algn="thaiDist"/>
            <a:r>
              <a:rPr lang="th-TH" sz="3200" b="1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 องค์กร</a:t>
            </a:r>
            <a:r>
              <a:rPr lang="th-TH" sz="3200" b="1" u="sng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อิสระ</a:t>
            </a:r>
            <a:r>
              <a:rPr lang="th-TH" sz="3200" b="1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ตามรัฐธรรมนูญ </a:t>
            </a:r>
            <a:r>
              <a:rPr lang="th-TH" sz="1600" b="1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(</a:t>
            </a:r>
            <a:r>
              <a:rPr lang="th-TH" sz="1600" b="1" dirty="0" err="1">
                <a:latin typeface="TH SarabunIT๙" panose="020B0500040200020003" pitchFamily="34" charset="-34"/>
                <a:cs typeface="TH SarabunIT๙" panose="020B0500040200020003" pitchFamily="34" charset="-34"/>
              </a:rPr>
              <a:t>กกต</a:t>
            </a:r>
            <a:r>
              <a:rPr lang="th-TH" sz="1600" b="1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.,ผู้ตรวจการแผ่นดิน,คณะกรรมการ </a:t>
            </a:r>
            <a:r>
              <a:rPr lang="th-TH" sz="1600" b="1" dirty="0" err="1">
                <a:latin typeface="TH SarabunIT๙" panose="020B0500040200020003" pitchFamily="34" charset="-34"/>
                <a:cs typeface="TH SarabunIT๙" panose="020B0500040200020003" pitchFamily="34" charset="-34"/>
              </a:rPr>
              <a:t>ปปช</a:t>
            </a:r>
            <a:r>
              <a:rPr lang="th-TH" sz="1600" b="1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.,คณะกรรมการสิทธิมนุษยชนแห่งชาติ </a:t>
            </a:r>
            <a:r>
              <a:rPr lang="en-US" sz="1600" b="1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: </a:t>
            </a:r>
            <a:r>
              <a:rPr lang="th-TH" sz="1600" b="1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หมวด 12 องค์กรอิสระ รัฐธรรมนูญแห่งราชอาณาจักไทย พุทธศักราช 2560 มาตรา 215 - 247)</a:t>
            </a:r>
          </a:p>
          <a:p>
            <a:pPr algn="thaiDist"/>
            <a:r>
              <a:rPr lang="th-TH" sz="3200" b="1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 องค์กร</a:t>
            </a:r>
            <a:r>
              <a:rPr lang="th-TH" sz="3200" b="1" u="sng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อื่น</a:t>
            </a:r>
            <a:r>
              <a:rPr lang="th-TH" sz="3200" b="1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ตามรัฐธรรมนูญ </a:t>
            </a:r>
            <a:r>
              <a:rPr lang="th-TH" sz="2000" b="1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(</a:t>
            </a:r>
            <a:r>
              <a:rPr lang="th-TH" sz="2000" b="1" dirty="0" err="1">
                <a:latin typeface="TH SarabunIT๙" panose="020B0500040200020003" pitchFamily="34" charset="-34"/>
                <a:cs typeface="TH SarabunIT๙" panose="020B0500040200020003" pitchFamily="34" charset="-34"/>
              </a:rPr>
              <a:t>รธน</a:t>
            </a:r>
            <a:r>
              <a:rPr lang="th-TH" sz="2000" b="1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.ปี 2560 ไม่ได้บัญญัติองค์กรอื่นไว้เช่นเดียวกับ       </a:t>
            </a:r>
            <a:r>
              <a:rPr lang="th-TH" sz="2000" b="1" dirty="0" err="1">
                <a:latin typeface="TH SarabunIT๙" panose="020B0500040200020003" pitchFamily="34" charset="-34"/>
                <a:cs typeface="TH SarabunIT๙" panose="020B0500040200020003" pitchFamily="34" charset="-34"/>
              </a:rPr>
              <a:t>รธน</a:t>
            </a:r>
            <a:r>
              <a:rPr lang="th-TH" sz="2000" b="1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.ปี 2550 มีแต่องค์กรอัยการในหมวด 13 เท่านั้น)</a:t>
            </a:r>
          </a:p>
          <a:p>
            <a:pPr algn="thaiDist"/>
            <a:r>
              <a:rPr lang="th-TH" sz="3200" b="1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หน่วยงาน</a:t>
            </a:r>
            <a:r>
              <a:rPr lang="th-TH" sz="3200" b="1" u="sng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อิสระ</a:t>
            </a:r>
            <a:r>
              <a:rPr lang="th-TH" sz="3200" b="1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ของรัฐ </a:t>
            </a:r>
            <a:r>
              <a:rPr lang="th-TH" sz="2000" b="1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องค์กรตุลาการ องค์กรนิติบัญญัติ เช่น สำนักงานศาลยุติธรรม สำนักงานศาลปกครอง สำนักงานคณะกรรมการการเลือกตั้ง สำนักงานอัยการสูงสุด (สังเกตว่าเป็นหน่วยธุรการ มักขึ้นต้นด้วยคำว่าสำนักงาน)  </a:t>
            </a:r>
            <a:r>
              <a:rPr lang="th-TH" sz="3200" b="1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   </a:t>
            </a:r>
          </a:p>
          <a:p>
            <a:pPr algn="thaiDist"/>
            <a:endParaRPr lang="th-TH" sz="1600" b="1" dirty="0">
              <a:latin typeface="TH SarabunIT๙" panose="020B0500040200020003" pitchFamily="34" charset="-34"/>
              <a:cs typeface="TH SarabunIT๙" panose="020B0500040200020003" pitchFamily="34" charset="-34"/>
            </a:endParaRPr>
          </a:p>
          <a:p>
            <a:endParaRPr lang="th-TH" sz="1600" b="1" dirty="0">
              <a:latin typeface="TH SarabunIT๙" panose="020B0500040200020003" pitchFamily="34" charset="-34"/>
              <a:cs typeface="TH SarabunIT๙" panose="020B0500040200020003" pitchFamily="34" charset="-34"/>
            </a:endParaRPr>
          </a:p>
          <a:p>
            <a:pPr marL="0" indent="0">
              <a:buNone/>
            </a:pP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333050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h-TH" sz="3600" dirty="0">
                <a:solidFill>
                  <a:schemeClr val="tx1"/>
                </a:solidFill>
                <a:latin typeface="TH SarabunIT๙" pitchFamily="34" charset="-34"/>
                <a:cs typeface="TH SarabunIT๙" pitchFamily="34" charset="-34"/>
              </a:rPr>
              <a:t>2</a:t>
            </a:r>
            <a:r>
              <a:rPr lang="th-TH" sz="3600" dirty="0">
                <a:solidFill>
                  <a:schemeClr val="tx1"/>
                </a:solidFill>
              </a:rPr>
              <a:t>. ฝ่ายปกครองที่</a:t>
            </a:r>
            <a:r>
              <a:rPr lang="th-TH" sz="3600" u="sng" dirty="0">
                <a:solidFill>
                  <a:schemeClr val="tx1"/>
                </a:solidFill>
              </a:rPr>
              <a:t>อยู่</a:t>
            </a:r>
            <a:r>
              <a:rPr lang="th-TH" sz="3600" dirty="0">
                <a:solidFill>
                  <a:schemeClr val="tx1"/>
                </a:solidFill>
              </a:rPr>
              <a:t>ในบังคับบัญชาหรือกำกับดูแล</a:t>
            </a:r>
            <a:r>
              <a:rPr lang="th-TH" sz="3600" u="sng" dirty="0">
                <a:solidFill>
                  <a:schemeClr val="tx1"/>
                </a:solidFill>
              </a:rPr>
              <a:t>ของรัฐบาล</a:t>
            </a:r>
          </a:p>
        </p:txBody>
      </p:sp>
      <p:sp>
        <p:nvSpPr>
          <p:cNvPr id="3" name="ตัวแทนเนื้อหา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th-TH" sz="4000" dirty="0"/>
              <a:t>ราชการส่วนกลาง </a:t>
            </a:r>
            <a:r>
              <a:rPr lang="th-TH" sz="2200" b="1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(กระทรวง ทบวง กรม หรือเทียบเท่า)</a:t>
            </a:r>
          </a:p>
          <a:p>
            <a:r>
              <a:rPr lang="th-TH" sz="4000" dirty="0"/>
              <a:t>ราชการส่วนภูมิภาค </a:t>
            </a:r>
            <a:r>
              <a:rPr lang="th-TH" sz="2200" b="1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(จังหวัดและอำเภอ </a:t>
            </a:r>
            <a:r>
              <a:rPr lang="en-US" sz="2200" b="1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: </a:t>
            </a:r>
            <a:r>
              <a:rPr lang="th-TH" sz="2200" b="1" u="sng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จังหวัด</a:t>
            </a:r>
            <a:r>
              <a:rPr lang="th-TH" sz="2200" b="1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เท่านั้น</a:t>
            </a:r>
            <a:r>
              <a:rPr lang="th-TH" sz="2200" b="1" u="sng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เป็นนิติบุคคล</a:t>
            </a:r>
            <a:r>
              <a:rPr lang="th-TH" sz="2200" b="1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)</a:t>
            </a:r>
            <a:endParaRPr lang="th-TH" sz="2200" b="1" dirty="0"/>
          </a:p>
          <a:p>
            <a:r>
              <a:rPr lang="th-TH" sz="4000" dirty="0"/>
              <a:t>ราชการส่วนท้องถิ่น </a:t>
            </a:r>
            <a:r>
              <a:rPr lang="th-TH" b="1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(เทศบาล,</a:t>
            </a:r>
            <a:r>
              <a:rPr lang="th-TH" b="1" dirty="0" err="1">
                <a:latin typeface="TH SarabunIT๙" panose="020B0500040200020003" pitchFamily="34" charset="-34"/>
                <a:cs typeface="TH SarabunIT๙" panose="020B0500040200020003" pitchFamily="34" charset="-34"/>
              </a:rPr>
              <a:t>อบต</a:t>
            </a:r>
            <a:r>
              <a:rPr lang="th-TH" b="1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.,</a:t>
            </a:r>
            <a:r>
              <a:rPr lang="th-TH" b="1" dirty="0" err="1">
                <a:latin typeface="TH SarabunIT๙" panose="020B0500040200020003" pitchFamily="34" charset="-34"/>
                <a:cs typeface="TH SarabunIT๙" panose="020B0500040200020003" pitchFamily="34" charset="-34"/>
              </a:rPr>
              <a:t>อบจ</a:t>
            </a:r>
            <a:r>
              <a:rPr lang="th-TH" b="1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.,กรุงเทพ และเมืองพัทยา)</a:t>
            </a:r>
            <a:endParaRPr lang="th-TH" sz="4000" dirty="0"/>
          </a:p>
          <a:p>
            <a:r>
              <a:rPr lang="th-TH" sz="4000" dirty="0"/>
              <a:t>รัฐวิสาหกิจ </a:t>
            </a:r>
          </a:p>
          <a:p>
            <a:r>
              <a:rPr lang="th-TH" sz="4000" dirty="0"/>
              <a:t>องค์การมหาชน</a:t>
            </a:r>
          </a:p>
          <a:p>
            <a:r>
              <a:rPr lang="th-TH" sz="4000" dirty="0"/>
              <a:t>หน่วยงานที่ได้รับมอบหมายให้ใช้อำนาจทางปกครอง       </a:t>
            </a:r>
            <a:r>
              <a:rPr lang="th-TH" sz="1600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**</a:t>
            </a:r>
            <a:r>
              <a:rPr lang="th-TH" sz="4000" dirty="0"/>
              <a:t> </a:t>
            </a:r>
            <a:r>
              <a:rPr lang="th-TH" sz="1800" b="1" dirty="0" err="1">
                <a:latin typeface="TH SarabunIT๙" panose="020B0500040200020003" pitchFamily="34" charset="-34"/>
                <a:cs typeface="TH SarabunIT๙" panose="020B0500040200020003" pitchFamily="34" charset="-34"/>
              </a:rPr>
              <a:t>ตร</a:t>
            </a:r>
            <a:r>
              <a:rPr lang="th-TH" sz="1800" b="1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. เป็นราชการส่วนกลาง มีฐานะเทียบเท่ากรม มี </a:t>
            </a:r>
            <a:r>
              <a:rPr lang="th-TH" sz="1800" b="1" dirty="0" err="1">
                <a:latin typeface="TH SarabunIT๙" panose="020B0500040200020003" pitchFamily="34" charset="-34"/>
                <a:cs typeface="TH SarabunIT๙" panose="020B0500040200020003" pitchFamily="34" charset="-34"/>
              </a:rPr>
              <a:t>ผบ.ตร</a:t>
            </a:r>
            <a:r>
              <a:rPr lang="th-TH" sz="1800" b="1" dirty="0">
                <a:latin typeface="TH SarabunIT๙" panose="020B0500040200020003" pitchFamily="34" charset="-34"/>
                <a:cs typeface="TH SarabunIT๙" panose="020B0500040200020003" pitchFamily="34" charset="-34"/>
              </a:rPr>
              <a:t>. เป็นผู้บังคับบัญชาสูงสุดเทียบเท่าอธิบดีกรม</a:t>
            </a:r>
          </a:p>
        </p:txBody>
      </p:sp>
    </p:spTree>
    <p:extLst>
      <p:ext uri="{BB962C8B-B14F-4D97-AF65-F5344CB8AC3E}">
        <p14:creationId xmlns:p14="http://schemas.microsoft.com/office/powerpoint/2010/main" val="678053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ตัวแทนเนื้อหา 2"/>
          <p:cNvSpPr>
            <a:spLocks noGrp="1"/>
          </p:cNvSpPr>
          <p:nvPr>
            <p:ph sz="quarter" idx="1"/>
          </p:nvPr>
        </p:nvSpPr>
        <p:spPr>
          <a:xfrm>
            <a:off x="755576" y="332656"/>
            <a:ext cx="7467600" cy="4873752"/>
          </a:xfrm>
        </p:spPr>
        <p:txBody>
          <a:bodyPr>
            <a:normAutofit/>
          </a:bodyPr>
          <a:lstStyle/>
          <a:p>
            <a:pPr algn="ctr"/>
            <a:r>
              <a:rPr lang="th-TH" sz="5400" dirty="0"/>
              <a:t>การกระทำทางปกครอง</a:t>
            </a:r>
          </a:p>
          <a:p>
            <a:pPr algn="ctr">
              <a:buFontTx/>
              <a:buChar char="-"/>
            </a:pPr>
            <a:r>
              <a:rPr lang="th-TH" sz="5400" dirty="0"/>
              <a:t>ความหมาย</a:t>
            </a:r>
          </a:p>
          <a:p>
            <a:pPr algn="ctr">
              <a:buFontTx/>
              <a:buChar char="-"/>
            </a:pPr>
            <a:r>
              <a:rPr lang="th-TH" sz="5400" dirty="0"/>
              <a:t>ประเภท</a:t>
            </a:r>
          </a:p>
          <a:p>
            <a:pPr algn="ctr">
              <a:buFontTx/>
              <a:buChar char="-"/>
            </a:pPr>
            <a:r>
              <a:rPr lang="th-TH" sz="5400" dirty="0"/>
              <a:t>สัญญา</a:t>
            </a:r>
          </a:p>
        </p:txBody>
      </p:sp>
    </p:spTree>
    <p:extLst>
      <p:ext uri="{BB962C8B-B14F-4D97-AF65-F5344CB8AC3E}">
        <p14:creationId xmlns:p14="http://schemas.microsoft.com/office/powerpoint/2010/main" val="1055848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h-TH" sz="4800" dirty="0">
                <a:solidFill>
                  <a:schemeClr val="tx1"/>
                </a:solidFill>
              </a:rPr>
              <a:t>ความหมายของการกระทำทางปกครอง</a:t>
            </a:r>
          </a:p>
        </p:txBody>
      </p:sp>
      <p:sp>
        <p:nvSpPr>
          <p:cNvPr id="3" name="ตัวแทนเนื้อหา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algn="thaiDist"/>
            <a:r>
              <a:rPr lang="th-TH" sz="4000" dirty="0"/>
              <a:t>เป็นการกระทำทางการบริหารประเภทหนึ่ง </a:t>
            </a:r>
            <a:r>
              <a:rPr lang="th-TH" sz="4000" u="sng" dirty="0">
                <a:solidFill>
                  <a:srgbClr val="FF0000"/>
                </a:solidFill>
              </a:rPr>
              <a:t>ใช้อำนาจระดับ พ.ร.บ.หรือ </a:t>
            </a:r>
            <a:r>
              <a:rPr lang="th-TH" sz="4000" u="sng" dirty="0" err="1">
                <a:solidFill>
                  <a:srgbClr val="FF0000"/>
                </a:solidFill>
              </a:rPr>
              <a:t>พ.ร.ป</a:t>
            </a:r>
            <a:r>
              <a:rPr lang="th-TH" sz="4000" u="sng" dirty="0">
                <a:solidFill>
                  <a:srgbClr val="FF0000"/>
                </a:solidFill>
              </a:rPr>
              <a:t>. ในการจัดทำบริการสาธารณะ เพื่อตอบสนองความต้องการของส่วนรวม</a:t>
            </a:r>
            <a:r>
              <a:rPr lang="th-TH" sz="4000" dirty="0"/>
              <a:t> มีลักษณะเป็นงานประจำตกอยู่ภายใต้การควบคุมตรวจสอบความชอบด้วยกฎหมาย เช่น การตราพระราชกฤษฎีกา (</a:t>
            </a:r>
            <a:r>
              <a:rPr lang="th-TH" sz="4000" dirty="0" err="1"/>
              <a:t>พ.ร.ฎ</a:t>
            </a:r>
            <a:r>
              <a:rPr lang="th-TH" sz="4000" dirty="0"/>
              <a:t>.) กฎกระทรวง คำสั่งลงโทษทางวินัยข้าราชการ การรื้อถอนอาคารโดยเจ้าพนักงาน การทำสัญญาจ้างเอกชนก่อสร้างถนนสาธารณะ เป็นต้น</a:t>
            </a:r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555630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620688"/>
            <a:ext cx="4377307" cy="2444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3115" y="1236749"/>
            <a:ext cx="3214643" cy="18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3470001"/>
            <a:ext cx="4530684" cy="2537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1072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h-TH" sz="4800" dirty="0">
                <a:solidFill>
                  <a:schemeClr val="tx1"/>
                </a:solidFill>
              </a:rPr>
              <a:t>ประเภทของการกระทำทางปกครอง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thaiDist"/>
            <a:r>
              <a:rPr lang="th-TH" sz="3200" dirty="0"/>
              <a:t>การกระทำในทางข้อเท็จจริง              ไม่มุ่งต่อการผูกนิติสัมพันธ์</a:t>
            </a:r>
          </a:p>
          <a:p>
            <a:pPr algn="thaiDist"/>
            <a:r>
              <a:rPr lang="th-TH" sz="3200" dirty="0"/>
              <a:t>การกระทำที่มุ่งต่อผลทางกฎหมาย</a:t>
            </a:r>
          </a:p>
          <a:p>
            <a:pPr marL="0" indent="0" algn="thaiDist">
              <a:buNone/>
            </a:pPr>
            <a:r>
              <a:rPr lang="th-TH" sz="3200" dirty="0"/>
              <a:t>    - การกระทำฝ่ายเดียว (กฎ,คำสั่ง)</a:t>
            </a:r>
          </a:p>
          <a:p>
            <a:pPr marL="0" indent="0" algn="thaiDist">
              <a:buNone/>
            </a:pPr>
            <a:r>
              <a:rPr lang="th-TH" sz="3200" dirty="0"/>
              <a:t>    - การกระทำสองฝ่าย (สัญญา)</a:t>
            </a:r>
          </a:p>
          <a:p>
            <a:pPr marL="0" indent="0" algn="thaiDist">
              <a:buNone/>
            </a:pPr>
            <a:endParaRPr lang="th-TH" sz="3200" dirty="0"/>
          </a:p>
          <a:p>
            <a:pPr marL="0" indent="0" algn="thaiDist">
              <a:buNone/>
            </a:pPr>
            <a:r>
              <a:rPr lang="th-TH" sz="2800" b="1" dirty="0">
                <a:solidFill>
                  <a:srgbClr val="002060"/>
                </a:solidFill>
                <a:latin typeface="TH SarabunIT๙" pitchFamily="34" charset="-34"/>
                <a:cs typeface="TH SarabunIT๙" pitchFamily="34" charset="-34"/>
              </a:rPr>
              <a:t>พิจารณาจากบทนิยามตาม พ.ร.บ.วิธีปฏิบัติราชการทางปกครอง พ.ศ.2539 มาตรา 5 และ พ.ร.บ.จัดตั้งศาลปกครองและวิธีพิจารณาคดีปกครอง พ.ศ.2542 มาตรา 3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722948" y="1772816"/>
            <a:ext cx="936104" cy="2160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94287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endParaRPr lang="th-TH" dirty="0"/>
          </a:p>
          <a:p>
            <a:pPr marL="0" indent="0">
              <a:buNone/>
            </a:pPr>
            <a:endParaRPr lang="th-TH" dirty="0"/>
          </a:p>
          <a:p>
            <a:pPr marL="0" indent="0">
              <a:buNone/>
            </a:pPr>
            <a:endParaRPr lang="th-TH" dirty="0"/>
          </a:p>
          <a:p>
            <a:pPr marL="0" indent="0">
              <a:buNone/>
            </a:pPr>
            <a:endParaRPr lang="th-TH" dirty="0"/>
          </a:p>
          <a:p>
            <a:pPr marL="0" indent="0">
              <a:buNone/>
            </a:pPr>
            <a:endParaRPr lang="th-TH" dirty="0"/>
          </a:p>
          <a:p>
            <a:pPr marL="0" indent="0" algn="ctr">
              <a:buNone/>
            </a:pPr>
            <a:r>
              <a:rPr lang="th-TH" sz="4400" dirty="0">
                <a:solidFill>
                  <a:srgbClr val="FF0000"/>
                </a:solidFill>
              </a:rPr>
              <a:t>จบส่วนที่ </a:t>
            </a:r>
            <a:r>
              <a:rPr lang="th-TH" sz="4400" b="1" dirty="0">
                <a:solidFill>
                  <a:srgbClr val="FF0000"/>
                </a:solidFill>
                <a:latin typeface="TH SarabunIT๙" pitchFamily="34" charset="-34"/>
                <a:cs typeface="TH SarabunIT๙" pitchFamily="34" charset="-34"/>
              </a:rPr>
              <a:t>1</a:t>
            </a:r>
            <a:r>
              <a:rPr lang="th-TH" sz="4400" dirty="0">
                <a:solidFill>
                  <a:srgbClr val="FF0000"/>
                </a:solidFill>
              </a:rPr>
              <a:t> ขอบคุณนักเรียนทุกท่านที่ตั้งใจฟัง</a:t>
            </a:r>
            <a:r>
              <a:rPr lang="th-TH" dirty="0"/>
              <a:t> 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247" y="1612752"/>
            <a:ext cx="2466975" cy="184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2222" y="1596703"/>
            <a:ext cx="1847850" cy="18799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1596702"/>
            <a:ext cx="1924050" cy="1879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56253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91264" cy="1143000"/>
          </a:xfrm>
        </p:spPr>
        <p:txBody>
          <a:bodyPr>
            <a:noAutofit/>
          </a:bodyPr>
          <a:lstStyle/>
          <a:p>
            <a:r>
              <a:rPr lang="th-TH" sz="4000" b="1" dirty="0">
                <a:solidFill>
                  <a:schemeClr val="accent1">
                    <a:lumMod val="75000"/>
                  </a:schemeClr>
                </a:solidFill>
                <a:latin typeface="TH SarabunIT๙" pitchFamily="34" charset="-34"/>
                <a:cs typeface="TH SarabunIT๙" pitchFamily="34" charset="-34"/>
              </a:rPr>
              <a:t>ส่วนที่ 2 พ.ร.บ.วิธีปฏิบัติราชการทางปกครอง พ.ศ.2539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003232" cy="4873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h-TH" sz="3600" dirty="0">
                <a:solidFill>
                  <a:schemeClr val="accent1">
                    <a:lumMod val="75000"/>
                  </a:schemeClr>
                </a:solidFill>
              </a:rPr>
              <a:t>พ.ร.บ.วิธีปฏิบัติราชการทางปกครอง พ.ศ.2539 </a:t>
            </a:r>
            <a:r>
              <a:rPr lang="en-AU" sz="3600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th-TH" sz="3600" dirty="0">
                <a:solidFill>
                  <a:schemeClr val="accent1">
                    <a:lumMod val="75000"/>
                  </a:schemeClr>
                </a:solidFill>
              </a:rPr>
              <a:t>ตราขึ้นเพื่อ</a:t>
            </a:r>
          </a:p>
          <a:p>
            <a:pPr>
              <a:buFontTx/>
              <a:buChar char="-"/>
            </a:pPr>
            <a:r>
              <a:rPr lang="th-TH" sz="3600" dirty="0">
                <a:solidFill>
                  <a:schemeClr val="accent1">
                    <a:lumMod val="75000"/>
                  </a:schemeClr>
                </a:solidFill>
              </a:rPr>
              <a:t>ใช้บังคับในฐานะที่เป็น</a:t>
            </a:r>
            <a:r>
              <a:rPr lang="th-TH" sz="3600" u="sng" dirty="0">
                <a:solidFill>
                  <a:schemeClr val="accent1">
                    <a:lumMod val="75000"/>
                  </a:schemeClr>
                </a:solidFill>
              </a:rPr>
              <a:t>กฎหมายกลาง</a:t>
            </a:r>
            <a:r>
              <a:rPr lang="th-TH" sz="3600" dirty="0">
                <a:solidFill>
                  <a:schemeClr val="accent1">
                    <a:lumMod val="75000"/>
                  </a:schemeClr>
                </a:solidFill>
              </a:rPr>
              <a:t>**เกี่ยวกับกระบวนการออกคำสั่งทางปกครอง และหลังการออกคำสั่งทางปกครอง </a:t>
            </a:r>
          </a:p>
          <a:p>
            <a:pPr>
              <a:buFontTx/>
              <a:buChar char="-"/>
            </a:pPr>
            <a:r>
              <a:rPr lang="th-TH" sz="3600" dirty="0">
                <a:solidFill>
                  <a:schemeClr val="accent1">
                    <a:lumMod val="75000"/>
                  </a:schemeClr>
                </a:solidFill>
              </a:rPr>
              <a:t>เพื่อให้เกิดมาตรฐานเดียวกันในการปฏิบัติราชการของเจ้าหน้าที่</a:t>
            </a:r>
          </a:p>
          <a:p>
            <a:pPr algn="thaiDist">
              <a:buFontTx/>
              <a:buChar char="-"/>
            </a:pPr>
            <a:r>
              <a:rPr lang="th-TH" sz="3600" dirty="0">
                <a:solidFill>
                  <a:schemeClr val="accent1">
                    <a:lumMod val="75000"/>
                  </a:schemeClr>
                </a:solidFill>
              </a:rPr>
              <a:t>สร้างกลไกในการควบคุมเชิงป้องกันไม่ให้เจ้าหน้าที่ใช้อำนาจตาม</a:t>
            </a:r>
          </a:p>
          <a:p>
            <a:pPr marL="0" indent="0" algn="thaiDist">
              <a:buNone/>
            </a:pPr>
            <a:r>
              <a:rPr lang="th-TH" sz="3600" dirty="0">
                <a:solidFill>
                  <a:schemeClr val="accent1">
                    <a:lumMod val="75000"/>
                  </a:schemeClr>
                </a:solidFill>
              </a:rPr>
              <a:t>   อำเภอใจ</a:t>
            </a:r>
          </a:p>
          <a:p>
            <a:pPr algn="thaiDist">
              <a:buFontTx/>
              <a:buChar char="-"/>
            </a:pPr>
            <a:r>
              <a:rPr lang="th-TH" sz="3600" dirty="0">
                <a:solidFill>
                  <a:schemeClr val="accent1">
                    <a:lumMod val="75000"/>
                  </a:schemeClr>
                </a:solidFill>
              </a:rPr>
              <a:t>การปฏิบัติราชการของเจ้าหน้าที่มีมาตรฐานเดียวกัน</a:t>
            </a:r>
          </a:p>
          <a:p>
            <a:pPr algn="thaiDist">
              <a:buFontTx/>
              <a:buChar char="-"/>
            </a:pPr>
            <a:endParaRPr lang="th-TH" sz="36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th-TH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48881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thaiDist"/>
            <a:r>
              <a:rPr lang="th-TH" dirty="0">
                <a:solidFill>
                  <a:schemeClr val="accent1">
                    <a:lumMod val="75000"/>
                  </a:schemeClr>
                </a:solidFill>
              </a:rPr>
              <a:t>** พ.ร.บ.วิธีปฏิบัติราชการทางปกครอง พ.ศ.2539 ใช้บังคับในฐานะที่เป็นกฎหมายกลาง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19256" cy="5069160"/>
          </a:xfrm>
        </p:spPr>
        <p:txBody>
          <a:bodyPr>
            <a:normAutofit fontScale="32500" lnSpcReduction="20000"/>
          </a:bodyPr>
          <a:lstStyle/>
          <a:p>
            <a:r>
              <a:rPr lang="th-TH" sz="4300" b="1" dirty="0">
                <a:latin typeface="TH SarabunIT๙" pitchFamily="34" charset="-34"/>
                <a:cs typeface="TH SarabunIT๙" pitchFamily="34" charset="-34"/>
              </a:rPr>
              <a:t>ความเห็นคณะกรรมการวิธีปฏิบัติราชการทางปกครอง</a:t>
            </a:r>
          </a:p>
          <a:p>
            <a:pPr marL="0" indent="0">
              <a:buNone/>
            </a:pPr>
            <a:r>
              <a:rPr lang="th-TH" sz="4300" b="1" dirty="0">
                <a:latin typeface="TH SarabunIT๙" pitchFamily="34" charset="-34"/>
                <a:cs typeface="TH SarabunIT๙" pitchFamily="34" charset="-34"/>
              </a:rPr>
              <a:t>ในเสร็จเรื่องที่178/2555</a:t>
            </a:r>
          </a:p>
          <a:p>
            <a:pPr marL="0" indent="0">
              <a:buNone/>
            </a:pPr>
            <a:r>
              <a:rPr lang="th-TH" sz="4300" b="1" dirty="0">
                <a:latin typeface="TH SarabunIT๙" pitchFamily="34" charset="-34"/>
                <a:cs typeface="TH SarabunIT๙" pitchFamily="34" charset="-34"/>
              </a:rPr>
              <a:t>เรื่อง</a:t>
            </a:r>
            <a:r>
              <a:rPr lang="th-TH" sz="4300" dirty="0">
                <a:latin typeface="TH SarabunIT๙" pitchFamily="34" charset="-34"/>
                <a:cs typeface="TH SarabunIT๙" pitchFamily="34" charset="-34"/>
              </a:rPr>
              <a:t>  การขยายกำหนดเวลานำสั่งเงินสมทบของนายจ้างตาม พ.ร.บ.ประกันสังคม พ.ศ.2533 และมาตรา 66 แห่ง พ.ร.บ.วิธีปฏิบัติราชการปกครอง พ.ศ.2539</a:t>
            </a:r>
          </a:p>
          <a:p>
            <a:pPr marL="0" indent="0" algn="thaiDist">
              <a:buNone/>
            </a:pPr>
            <a:r>
              <a:rPr lang="th-TH" sz="4300" dirty="0">
                <a:latin typeface="TH SarabunIT๙" pitchFamily="34" charset="-34"/>
                <a:cs typeface="TH SarabunIT๙" pitchFamily="34" charset="-34"/>
              </a:rPr>
              <a:t>	</a:t>
            </a:r>
            <a:r>
              <a:rPr lang="th-TH" sz="4300" b="1" dirty="0">
                <a:latin typeface="TH SarabunIT๙" pitchFamily="34" charset="-34"/>
                <a:cs typeface="TH SarabunIT๙" pitchFamily="34" charset="-34"/>
              </a:rPr>
              <a:t>ประเด็นข้อหารือ</a:t>
            </a:r>
            <a:r>
              <a:rPr lang="th-TH" sz="4300" dirty="0">
                <a:latin typeface="TH SarabunIT๙" pitchFamily="34" charset="-34"/>
                <a:cs typeface="TH SarabunIT๙" pitchFamily="34" charset="-34"/>
              </a:rPr>
              <a:t> เลขาธิการสำนักงานประกันสังคมจะอาศัยอำนาจตามมาตรา 66 ประกอบกับมาตรา 3 แห่ง พ.ร.บ.วิธีปฏิบัติราชการปกครองฯ ออกประกาศเพื่อขยายหรือเลื่อนกำหนดเวลานำส่งเงินสมทบ โดยกำหนดให้นายจ้างที่ประสบอุทกภัยชำระเงินสมทบชำระเงินสมทบภายในสิบห้าวันนับแต่เหตุการณ์อุทกภัยในแต่ละพื้นที่เข้าสู่ภาวะปกติได้หรือไม่อย่างไร และกรณีที่นายจ้างขอขยายกำหนดเวลานำส่งเงินสบทบโดยอาศัยมาตรา 66 แห่ง พ.ร.บ.วิธีปฏิบัติราชการทางปกครองฯ และนายจ้างชำระเงินสมทบภายในกำหนดเวลาที่ขยายหรือเลื่อนออกไปแล้ว นายจ้างยังคงต้องจ่ายเงินเพิ่มตามมาตรา 49 แห่ง พ.ร.บ.ประกันสังคมฯ หรือไม่อย่างไร</a:t>
            </a:r>
          </a:p>
          <a:p>
            <a:pPr marL="0" indent="0" algn="thaiDist">
              <a:buNone/>
            </a:pPr>
            <a:r>
              <a:rPr lang="th-TH" sz="4300" dirty="0">
                <a:latin typeface="TH SarabunIT๙" pitchFamily="34" charset="-34"/>
                <a:cs typeface="TH SarabunIT๙" pitchFamily="34" charset="-34"/>
              </a:rPr>
              <a:t>	     	ความเห็นคณะกรรมการวิธีปฏิบัติราชการทางปกครอง  มาตรา 5 แห่ง พ.ร.บ.วิธีปฏิบัติราชการทางปกครองฯ กำหนดว่า “วิธีปฏิบัติราชการทางปกครอง” หมายถึง การเตรียมการและการดำเนินการของเจ้าหน้าที่เพื่อจัดให้มีคำสั่งทางปกครองหรือกฎฯ อันเป็นความหมายของคำว่า “การพิจารณาทางปกครอง” ส่วนมาตรา 66 แห่ง พ.ร.บ. ดังกล่าวฯ ที่ว่าด้วยการขยายระยะเวลาเกี่ยวกับการพิจารณาทางปกครองหรือการดำเนินการที่เกี่ยวเนื่องเท่านั้น เช่น ระยะเวลาสำหรับการใช้สิทธิต่างๆ ของคู่กรณีในกระบวนการพิจารณาทางปกครอง การที่มาตรา 47 วรรคสอง แห่ง พ.ร.บ.ประกันสังคมฯ กำหนดให้นายจ้างนำส่งเงินสมทบในวันที่สิบห้าของเดือนถัดจากเดือนที่มีการหักเงินค่าจ้าง เพื่อนำส่งเป็นเงินสมทบนั้น เป็นกรณีที่นายจ้างมีหน้าที่ต้องปฏิบัติตามกฎหมายภายในกำหนดเวลา มิใช่ระยะเวลากระทำการของคู่กรณีในกระบวนการพิจารณาทางปกครอง เพราะไม่มีคำสั่งทางปกครองให้นายจ้างต้องนำส่งเงินสมทบ  ดังนั้น เลขาธิการสำนักงานประกันสังคมจึงไม่อาจอาศัยอำนาจมาตรา 66 ประกอบมาตรา 3 แห่ง พ.ร.บ.    วิธีปฏิบัติราชการทางปกครองฯ ออกประกาศเพื่อขยายหรือเลื่อนกำหนดเวลาการนำส่งเงินสมทบได้  ด้วยเหตุผลดังกล่าวจึงไม่จำต้องวินิจฉัยในประเด็นว่านายจ้างจะต้องจ่ายเงินเพิ่มตามมาตรา 49 แห่ง พ.ร.บ.ประกันสังคมฯ แต่อย่างใด</a:t>
            </a:r>
          </a:p>
          <a:p>
            <a:pPr marL="0" indent="0" algn="thaiDist">
              <a:buNone/>
            </a:pPr>
            <a:r>
              <a:rPr lang="th-TH" sz="4300" dirty="0">
                <a:latin typeface="TH SarabunIT๙" pitchFamily="34" charset="-34"/>
                <a:cs typeface="TH SarabunIT๙" pitchFamily="34" charset="-34"/>
              </a:rPr>
              <a:t>		อย่างไรก็ดี การเกิดอุทกภัยในพื้นที่ต่างๆ ถือเป็นเหตุสุดวิสัยทำให้นายจ้างไม่สามารถนำส่งเงินสมทบภายในกำหนดเวลาได้ เพื่อความเป็นธรรมแก่นายจ้าง รัฐมนตรีผู้รักษาการตามกฎหมายจึงชอบที่จะกำหนดแนวทางในการบังคับใช้กฎหมายให้เหมาะสมกับข้อเท็จจริงที่เกิดขึ้นตามมาตรา 20 แห่ง พ.ร.บ.ระเบียบบริหารราชการแผ่นดินฯ ประกอบกับมาตรา 7 แห่ง พ.ร.บ.ประกันสังคมฯ ทั้งนี้ นายจ้างต้องส่งเงินสมทบในระยะเวลาที่รัฐมนตรีเห็นว่าเหมาะสม หากพ้นกำหนดเวลาดังกล่าวแล้วจึงเรียกเก็บเงินเพิ่มจากนายจ้าง</a:t>
            </a:r>
          </a:p>
          <a:p>
            <a:pPr marL="0" indent="0" algn="thaiDist">
              <a:buNone/>
            </a:pPr>
            <a:r>
              <a:rPr lang="th-TH" sz="4300" dirty="0">
                <a:latin typeface="TH SarabunIT๙" pitchFamily="34" charset="-34"/>
                <a:cs typeface="TH SarabunIT๙" pitchFamily="34" charset="-34"/>
              </a:rPr>
              <a:t>		</a:t>
            </a:r>
            <a:r>
              <a:rPr lang="th-TH" sz="4300" b="1" dirty="0">
                <a:latin typeface="TH SarabunIT๙" pitchFamily="34" charset="-34"/>
                <a:cs typeface="TH SarabunIT๙" pitchFamily="34" charset="-34"/>
              </a:rPr>
              <a:t>หมายเหตุ  </a:t>
            </a:r>
            <a:r>
              <a:rPr lang="th-TH" sz="4300" dirty="0">
                <a:latin typeface="TH SarabunIT๙" pitchFamily="34" charset="-34"/>
                <a:cs typeface="TH SarabunIT๙" pitchFamily="34" charset="-34"/>
              </a:rPr>
              <a:t>ความเห็นของคณะกรรมการฯ ดังกล่าว ทำให้เห็นได้ว่า กฎหมายวิธีปฏิบัติราชการทางปกครองไม่ใช่ “ยาครอบจักรวาล” แต่เป็นกฎหมายที่เกี่ยวกับการพิจารณา เพื่อออกคำสั่งทางปกครองและดำเนินการที่เกี่ยวเนื่องเท่านั้น มิใช่กฎหมายที่กำหนดหลักเกณฑ์หรือวิธีการดำเนินการในเรื่องอื่นๆ ในทางปกครอง เช่น กฎ สัญญาทางปกครอง เป็นต้น และแม้ว่า พ.ร.บ.วิธีปฏิบัติราชการทางปกครองฯ จะมีสถานะเป็น “กฎหมายกลาง” จนอาจกล่าวได้ว่าเป็น “กฎหมายสามัญประจำบ้าน” ของเจ้าหน้าที่ผู้มีอำนาจพิจารณาทางปกครองทั้งหลาย แต่กฎหมายฉบับนี้ก็มิใช่ “ยาครอบจักรวาล 87 มาตรา รักษาทุกโรค”</a:t>
            </a:r>
          </a:p>
          <a:p>
            <a:pPr marL="0" indent="0" algn="thaiDist">
              <a:buNone/>
            </a:pPr>
            <a:r>
              <a:rPr lang="th-TH" sz="4300" b="1" dirty="0">
                <a:latin typeface="TH SarabunIT๙" pitchFamily="34" charset="-34"/>
                <a:cs typeface="TH SarabunIT๙" pitchFamily="34" charset="-34"/>
              </a:rPr>
              <a:t> (ที่มา วารสารกฎหมายปกครอง เล่ม 31 ตอน 3 </a:t>
            </a:r>
            <a:r>
              <a:rPr lang="th-TH" sz="4300" b="1" dirty="0" err="1">
                <a:latin typeface="TH SarabunIT๙" pitchFamily="34" charset="-34"/>
                <a:cs typeface="TH SarabunIT๙" pitchFamily="34" charset="-34"/>
              </a:rPr>
              <a:t>สนง</a:t>
            </a:r>
            <a:r>
              <a:rPr lang="th-TH" sz="4300" b="1" dirty="0">
                <a:latin typeface="TH SarabunIT๙" pitchFamily="34" charset="-34"/>
                <a:cs typeface="TH SarabunIT๙" pitchFamily="34" charset="-34"/>
              </a:rPr>
              <a:t>.คณะกรรมการกฤษฎีกา  </a:t>
            </a:r>
            <a:r>
              <a:rPr lang="th-TH" sz="4300" b="1" dirty="0" err="1">
                <a:latin typeface="TH SarabunIT๙" pitchFamily="34" charset="-34"/>
                <a:cs typeface="TH SarabunIT๙" pitchFamily="34" charset="-34"/>
              </a:rPr>
              <a:t>ร.ต.อ</a:t>
            </a:r>
            <a:r>
              <a:rPr lang="th-TH" sz="4300" b="1" dirty="0">
                <a:latin typeface="TH SarabunIT๙" pitchFamily="34" charset="-34"/>
                <a:cs typeface="TH SarabunIT๙" pitchFamily="34" charset="-34"/>
              </a:rPr>
              <a:t>.อัครเดช  อัญชลีกุล คัด/ย่อ, 20 ก.พ.2561)</a:t>
            </a:r>
          </a:p>
          <a:p>
            <a:endParaRPr lang="th-TH" sz="4300" dirty="0"/>
          </a:p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0229473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859216" cy="1143000"/>
          </a:xfrm>
        </p:spPr>
        <p:txBody>
          <a:bodyPr>
            <a:noAutofit/>
          </a:bodyPr>
          <a:lstStyle/>
          <a:p>
            <a:pPr algn="ctr"/>
            <a:r>
              <a:rPr lang="th-TH" sz="3200" b="1" dirty="0">
                <a:solidFill>
                  <a:schemeClr val="accent3"/>
                </a:solidFill>
                <a:latin typeface="TH SarabunIT๙" pitchFamily="34" charset="-34"/>
                <a:cs typeface="TH SarabunIT๙" pitchFamily="34" charset="-34"/>
              </a:rPr>
              <a:t>ขอบเขตการบังคับใช้กฎหมายว่าด้วยวิธีปฏิบัติราชการทางปกครอง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147248" cy="4873752"/>
          </a:xfrm>
        </p:spPr>
        <p:txBody>
          <a:bodyPr>
            <a:normAutofit/>
          </a:bodyPr>
          <a:lstStyle/>
          <a:p>
            <a:pPr algn="thaiDist"/>
            <a:r>
              <a:rPr lang="th-TH" b="1" dirty="0">
                <a:solidFill>
                  <a:schemeClr val="accent3"/>
                </a:solidFill>
                <a:latin typeface="TH SarabunIT๙" pitchFamily="34" charset="-34"/>
                <a:cs typeface="TH SarabunIT๙" pitchFamily="34" charset="-34"/>
              </a:rPr>
              <a:t>ใช้กับ  “คำสั่งทางปกครอง” เท่านั้น</a:t>
            </a:r>
            <a:r>
              <a:rPr lang="th-TH" dirty="0">
                <a:solidFill>
                  <a:schemeClr val="accent3"/>
                </a:solidFill>
                <a:latin typeface="TH SarabunIT๙" pitchFamily="34" charset="-34"/>
                <a:cs typeface="TH SarabunIT๙" pitchFamily="34" charset="-34"/>
              </a:rPr>
              <a:t> เนื่องจากไม่มีมาตราใดหรือส่วนใดกำหนดกระบวนการหรือขั้นตอนในการออกกฎไว้เลย กล่าวคือ มิได้ใช้บังคับกับการออกกฎและการกระทำอื่นใดที่ไม่ใช่คำสั่งทางปกครอง เช่น ระเบียบภายในฝ่ายปกครอง คำสั่งภายใน สัญญาทางปกครองหรือปฏิบัติการทางปกครอง แม้การกระทำดังกล่าวจะมีลักษณะเป็นการใช้อำนาจทางปกครองก็ตาม</a:t>
            </a:r>
          </a:p>
          <a:p>
            <a:pPr algn="thaiDist"/>
            <a:r>
              <a:rPr lang="th-TH" sz="4000" b="1" dirty="0">
                <a:solidFill>
                  <a:schemeClr val="accent3"/>
                </a:solidFill>
                <a:latin typeface="TH SarabunIT๙" pitchFamily="34" charset="-34"/>
                <a:cs typeface="TH SarabunIT๙" pitchFamily="34" charset="-34"/>
              </a:rPr>
              <a:t>คำสั่งทางปกครอง</a:t>
            </a:r>
          </a:p>
          <a:p>
            <a:pPr algn="thaiDist">
              <a:buFontTx/>
              <a:buChar char="-"/>
            </a:pPr>
            <a:r>
              <a:rPr lang="th-TH" sz="4000" b="1" dirty="0">
                <a:solidFill>
                  <a:schemeClr val="accent3"/>
                </a:solidFill>
                <a:latin typeface="TH SarabunIT๙" pitchFamily="34" charset="-34"/>
                <a:cs typeface="TH SarabunIT๙" pitchFamily="34" charset="-34"/>
              </a:rPr>
              <a:t>ความหมาย           </a:t>
            </a:r>
            <a:r>
              <a:rPr lang="th-TH" sz="1800" b="1" dirty="0">
                <a:solidFill>
                  <a:schemeClr val="accent3"/>
                </a:solidFill>
                <a:latin typeface="TH SarabunIT๙" pitchFamily="34" charset="-34"/>
                <a:cs typeface="TH SarabunIT๙" pitchFamily="34" charset="-34"/>
              </a:rPr>
              <a:t>พิจารณาตามมาตรา 5 แห่ง พ.ร.บ.วิธีปฏิบัติราชการทางปกครอง พ.ศ.2539</a:t>
            </a:r>
          </a:p>
          <a:p>
            <a:pPr algn="thaiDist">
              <a:buFontTx/>
              <a:buChar char="-"/>
            </a:pPr>
            <a:r>
              <a:rPr lang="th-TH" sz="4000" b="1" dirty="0">
                <a:solidFill>
                  <a:schemeClr val="accent3"/>
                </a:solidFill>
                <a:latin typeface="TH SarabunIT๙" pitchFamily="34" charset="-34"/>
                <a:cs typeface="TH SarabunIT๙" pitchFamily="34" charset="-34"/>
              </a:rPr>
              <a:t>องค์ประกอบ</a:t>
            </a:r>
            <a:endParaRPr lang="th-TH" sz="1600" b="1" dirty="0">
              <a:solidFill>
                <a:schemeClr val="accent3"/>
              </a:solidFill>
              <a:latin typeface="TH SarabunIT๙" pitchFamily="34" charset="-34"/>
              <a:cs typeface="TH SarabunIT๙" pitchFamily="34" charset="-34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2483768" y="4293096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2627784" y="4941168"/>
            <a:ext cx="5760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3203848" y="4293096"/>
            <a:ext cx="0" cy="6480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18947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67544" y="260648"/>
            <a:ext cx="8064896" cy="6120680"/>
          </a:xfrm>
        </p:spPr>
        <p:txBody>
          <a:bodyPr/>
          <a:lstStyle/>
          <a:p>
            <a:pPr marL="0" indent="0">
              <a:buNone/>
            </a:pPr>
            <a:r>
              <a:rPr lang="th-TH" b="1" dirty="0">
                <a:latin typeface="TH SarabunIT๙" pitchFamily="34" charset="-34"/>
                <a:cs typeface="TH SarabunIT๙" pitchFamily="34" charset="-34"/>
              </a:rPr>
              <a:t>ตัวอย่าง การกระทำของเจ้าหน้าที่ที่เป็น “คำสั่งทางปกครอง” อยู่ภายใต้ พ.ร.บ.วิธีปฏิบัติฯ</a:t>
            </a:r>
          </a:p>
          <a:p>
            <a:pPr marL="0" indent="0">
              <a:buNone/>
            </a:pPr>
            <a:r>
              <a:rPr lang="th-TH" b="1" u="sng" dirty="0">
                <a:latin typeface="TH SarabunIT๙" pitchFamily="34" charset="-34"/>
                <a:cs typeface="TH SarabunIT๙" pitchFamily="34" charset="-34"/>
              </a:rPr>
              <a:t>ความเห็นคณะกรรมการวิธีปฏิบัติราชการทางปกครองเรื่องเสร็จที่ 415/2542</a:t>
            </a:r>
          </a:p>
          <a:p>
            <a:pPr marL="0" indent="0">
              <a:buNone/>
            </a:pPr>
            <a:r>
              <a:rPr lang="th-TH" b="1" dirty="0">
                <a:latin typeface="TH SarabunIT๙" pitchFamily="34" charset="-34"/>
                <a:cs typeface="TH SarabunIT๙" pitchFamily="34" charset="-34"/>
              </a:rPr>
              <a:t>การจดทะเบียน</a:t>
            </a:r>
            <a:r>
              <a:rPr lang="th-TH" dirty="0">
                <a:latin typeface="TH SarabunIT๙" pitchFamily="34" charset="-34"/>
                <a:cs typeface="TH SarabunIT๙" pitchFamily="34" charset="-34"/>
              </a:rPr>
              <a:t>เครื่องหมายรับรองของนายทะเบียนตาม พ.ร.บ.เครื่องหมายการค้า พ.ศ.2534 เป็นการใช้อำนาจตามกฎหมายของเจ้าหน้าที่ที่มีผลเป็นการก่อให้เกิดสิทธิแก่ผู้จดทะเบียนในการใช้เครื่องหมายรับรองนั้นกับสินค้าหรือบริการของบุคคลอื่น</a:t>
            </a:r>
            <a:r>
              <a:rPr lang="th-TH" b="1" dirty="0">
                <a:latin typeface="TH SarabunIT๙" pitchFamily="34" charset="-34"/>
                <a:cs typeface="TH SarabunIT๙" pitchFamily="34" charset="-34"/>
              </a:rPr>
              <a:t>เป็น “คำสั่งทางปกครอง” </a:t>
            </a:r>
            <a:r>
              <a:rPr lang="th-TH" dirty="0">
                <a:latin typeface="TH SarabunIT๙" pitchFamily="34" charset="-34"/>
                <a:cs typeface="TH SarabunIT๙" pitchFamily="34" charset="-34"/>
              </a:rPr>
              <a:t>ตามมาตรา 5 แห่ง พ.ร.บ.วิธีปฏิบัติฯ และย่อมอยู่ภายใต้บังคับของมาตรา 3 แห่ง พ.ร.บ.เดียวกัน</a:t>
            </a:r>
            <a:endParaRPr lang="th-TH" b="1" u="sng" dirty="0">
              <a:latin typeface="TH SarabunIT๙" pitchFamily="34" charset="-34"/>
              <a:cs typeface="TH SarabunIT๙" pitchFamily="34" charset="-34"/>
            </a:endParaRPr>
          </a:p>
          <a:p>
            <a:pPr marL="0" indent="0">
              <a:buNone/>
            </a:pPr>
            <a:r>
              <a:rPr lang="th-TH" b="1" u="sng" dirty="0">
                <a:latin typeface="TH SarabunIT๙" pitchFamily="34" charset="-34"/>
                <a:cs typeface="TH SarabunIT๙" pitchFamily="34" charset="-34"/>
              </a:rPr>
              <a:t>ความเห็นคณะกรรมการวิธีปฏิบัติราชการทางปกครองเรื่องเสร็จที่ 165/2547</a:t>
            </a:r>
          </a:p>
          <a:p>
            <a:pPr marL="0" indent="0" algn="thaiDist">
              <a:buNone/>
            </a:pPr>
            <a:r>
              <a:rPr lang="th-TH" b="1" dirty="0">
                <a:latin typeface="TH SarabunIT๙" pitchFamily="34" charset="-34"/>
                <a:cs typeface="TH SarabunIT๙" pitchFamily="34" charset="-34"/>
              </a:rPr>
              <a:t>“กระบวนการสอบสวนผิดทางวินัย”</a:t>
            </a:r>
            <a:r>
              <a:rPr lang="th-TH" dirty="0">
                <a:latin typeface="TH SarabunIT๙" pitchFamily="34" charset="-34"/>
                <a:cs typeface="TH SarabunIT๙" pitchFamily="34" charset="-34"/>
              </a:rPr>
              <a:t> ถือเป็นกระบวนพิจารณาทางปกครองเพื่อ</a:t>
            </a:r>
            <a:r>
              <a:rPr lang="th-TH" b="1" dirty="0">
                <a:latin typeface="TH SarabunIT๙" pitchFamily="34" charset="-34"/>
                <a:cs typeface="TH SarabunIT๙" pitchFamily="34" charset="-34"/>
              </a:rPr>
              <a:t>นำไปสู่การออก</a:t>
            </a:r>
            <a:r>
              <a:rPr lang="th-TH" dirty="0">
                <a:latin typeface="TH SarabunIT๙" pitchFamily="34" charset="-34"/>
                <a:cs typeface="TH SarabunIT๙" pitchFamily="34" charset="-34"/>
              </a:rPr>
              <a:t>คำสั่งทางลงโทษทางวินัยซึ่งเป็น</a:t>
            </a:r>
            <a:r>
              <a:rPr lang="th-TH" b="1" dirty="0">
                <a:latin typeface="TH SarabunIT๙" pitchFamily="34" charset="-34"/>
                <a:cs typeface="TH SarabunIT๙" pitchFamily="34" charset="-34"/>
              </a:rPr>
              <a:t>คำสั่งทางปกครอง</a:t>
            </a:r>
            <a:r>
              <a:rPr lang="th-TH" dirty="0">
                <a:latin typeface="TH SarabunIT๙" pitchFamily="34" charset="-34"/>
                <a:cs typeface="TH SarabunIT๙" pitchFamily="34" charset="-34"/>
              </a:rPr>
              <a:t> จึงต้องอยู่ภายใต้บังคับของ พ.ร.บ.วิธีปฏิบัติฯ ด้วย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6670" y="4410566"/>
            <a:ext cx="285750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4410566"/>
            <a:ext cx="285750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282389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ctr"/>
            <a:endParaRPr lang="th-TH" dirty="0"/>
          </a:p>
          <a:p>
            <a:pPr algn="ctr"/>
            <a:endParaRPr lang="th-TH" dirty="0"/>
          </a:p>
          <a:p>
            <a:pPr algn="ctr"/>
            <a:endParaRPr lang="th-TH" dirty="0"/>
          </a:p>
          <a:p>
            <a:pPr algn="ctr"/>
            <a:endParaRPr lang="th-TH" dirty="0"/>
          </a:p>
          <a:p>
            <a:pPr algn="ctr"/>
            <a:endParaRPr lang="th-TH" dirty="0"/>
          </a:p>
          <a:p>
            <a:pPr algn="ctr"/>
            <a:endParaRPr lang="th-TH" dirty="0"/>
          </a:p>
          <a:p>
            <a:pPr algn="ctr"/>
            <a:endParaRPr lang="th-TH" dirty="0"/>
          </a:p>
          <a:p>
            <a:pPr algn="ctr"/>
            <a:endParaRPr lang="th-TH" dirty="0"/>
          </a:p>
          <a:p>
            <a:pPr marL="0" indent="0" algn="ctr">
              <a:buNone/>
            </a:pPr>
            <a:r>
              <a:rPr lang="th-TH" sz="6000" dirty="0"/>
              <a:t>???????????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2420888"/>
            <a:ext cx="4185982" cy="252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575926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thaiDist"/>
            <a:r>
              <a:rPr lang="th-TH" sz="2400" b="1" dirty="0">
                <a:solidFill>
                  <a:schemeClr val="tx1"/>
                </a:solidFill>
                <a:latin typeface="TH SarabunIT๙" pitchFamily="34" charset="-34"/>
                <a:cs typeface="TH SarabunIT๙" pitchFamily="34" charset="-34"/>
              </a:rPr>
              <a:t>ตัวอย่าง กรณีที่การกระทำของเจ้าหน้าที่มิใช่คำสั่งทางปกครอง ไม่อยู่ในบังคับของ    พ.ร.บ.วิธีปฏิบัติฯ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h-TH" b="1" u="sng" dirty="0">
                <a:latin typeface="TH SarabunIT๙" pitchFamily="34" charset="-34"/>
                <a:cs typeface="TH SarabunIT๙" pitchFamily="34" charset="-34"/>
              </a:rPr>
              <a:t>ความเห็นคณะกรรมการวิธีปฏิบัติราชการทางปกครองเรื่องเสร็จที่ 514/2545</a:t>
            </a:r>
          </a:p>
          <a:p>
            <a:pPr marL="0" indent="0" algn="thaiDist">
              <a:buNone/>
            </a:pPr>
            <a:r>
              <a:rPr lang="th-TH" dirty="0">
                <a:latin typeface="TH SarabunIT๙" pitchFamily="34" charset="-34"/>
                <a:cs typeface="TH SarabunIT๙" pitchFamily="34" charset="-34"/>
              </a:rPr>
              <a:t>การโยกย้ายข้าราชการไปดำรงตำแหน่งอื่นภายในกรมเดียวกัน เป็นการบริหารงานภายในหน่วยงานของรัฐเพื่อให้เกิดประโยชน์สูงสุดแก่การปฏิบัติราชการภายในหน่วยงานนั้น มิใช่สิทธิตามกฎหมายของข้าราชการอันพึงเรียกต้องให้ผู้บังคับบัญชาพิจารณาแต่งตั้งตนให้ดำรงตำแหน่งใดก็ได้ การโยกย้ายดังกล่าวมีผลเป็นการเปลี่ยนแปลงภารกิจในการปฏิบัติหน้าที่โดยสิทธิและประโยชน์ในฐานะข้าราชการของผู้นั้นมิได้เปลี่ยนแปลงไปจากเดิม จึงไม่เป็นคำสั่งทางปกครองตามมาตรา 5 แห่ง พ.ร.บ.วิธีปฏิบัติฯ ไม่อยู่ภายใต้บังคับมาตรา 37 แห่ง พ.ร.บ.เดียวกันที่กำหนดให้ทำคำสั่งทางปกครองที่ทำเป็นหนังสือการยืนยันคำสั่งเป็นหนังสือต้องจัดให้มีเหตุผลไว้ด้วยแต่อย่างใด</a:t>
            </a:r>
          </a:p>
        </p:txBody>
      </p:sp>
    </p:spTree>
    <p:extLst>
      <p:ext uri="{BB962C8B-B14F-4D97-AF65-F5344CB8AC3E}">
        <p14:creationId xmlns:p14="http://schemas.microsoft.com/office/powerpoint/2010/main" val="20627796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1560" y="260648"/>
            <a:ext cx="7992888" cy="6264696"/>
          </a:xfrm>
        </p:spPr>
        <p:txBody>
          <a:bodyPr>
            <a:normAutofit fontScale="92500"/>
          </a:bodyPr>
          <a:lstStyle/>
          <a:p>
            <a:pPr marL="0" indent="0" algn="thaiDist">
              <a:buNone/>
            </a:pPr>
            <a:r>
              <a:rPr lang="th-TH" b="1" u="sng" dirty="0">
                <a:latin typeface="TH SarabunIT๙" pitchFamily="34" charset="-34"/>
                <a:cs typeface="TH SarabunIT๙" pitchFamily="34" charset="-34"/>
              </a:rPr>
              <a:t>ความเห็นคณะกรรมการวิธีปฏิบัติราชการทางปกครองเรื่องเสร็จที่ 465/2546</a:t>
            </a:r>
          </a:p>
          <a:p>
            <a:pPr marL="0" indent="0" algn="thaiDist">
              <a:buNone/>
            </a:pPr>
            <a:r>
              <a:rPr lang="th-TH" b="1" dirty="0">
                <a:latin typeface="TH SarabunIT๙" pitchFamily="34" charset="-34"/>
                <a:cs typeface="TH SarabunIT๙" pitchFamily="34" charset="-34"/>
              </a:rPr>
              <a:t>หนังสือแจ้งให้มารับเงินค่าเวนคืนอสังหาริมทรัพย์(ที่ดิน)</a:t>
            </a:r>
            <a:r>
              <a:rPr lang="th-TH" dirty="0">
                <a:latin typeface="TH SarabunIT๙" pitchFamily="34" charset="-34"/>
                <a:cs typeface="TH SarabunIT๙" pitchFamily="34" charset="-34"/>
              </a:rPr>
              <a:t> ตามมาตรา 25 แห่ง พ.ร.บ.ว่าด้วยการเวนคืนอสังหาริมทรัพย์ พ.ศ.2530 </a:t>
            </a:r>
            <a:r>
              <a:rPr lang="th-TH" u="sng" dirty="0">
                <a:latin typeface="TH SarabunIT๙" pitchFamily="34" charset="-34"/>
                <a:cs typeface="TH SarabunIT๙" pitchFamily="34" charset="-34"/>
              </a:rPr>
              <a:t>เป็นเพียงขั้นตอนหนึ่งของการดำเนินการตามสัญญาทางปกครองจากความ     ตกลงระว่างเจ้าหน้าที่เวนคืนกับเจ้าของอสังหาริมทรัพย์</a:t>
            </a:r>
            <a:r>
              <a:rPr lang="th-TH" dirty="0">
                <a:latin typeface="TH SarabunIT๙" pitchFamily="34" charset="-34"/>
                <a:cs typeface="TH SarabunIT๙" pitchFamily="34" charset="-34"/>
              </a:rPr>
              <a:t> แม้เจ้าของอสังหาริมทรัพย์จะมีสิทธิอุทธรณ์ต่อรัฐมนตรีก็ตาม หนังสือแจ้งให้มารับเงินดังกล่าวก็</a:t>
            </a:r>
            <a:r>
              <a:rPr lang="th-TH" b="1" dirty="0">
                <a:latin typeface="TH SarabunIT๙" pitchFamily="34" charset="-34"/>
                <a:cs typeface="TH SarabunIT๙" pitchFamily="34" charset="-34"/>
              </a:rPr>
              <a:t>ไม่เป็นคำสั่งทางปกครอง</a:t>
            </a:r>
            <a:r>
              <a:rPr lang="th-TH" dirty="0">
                <a:latin typeface="TH SarabunIT๙" pitchFamily="34" charset="-34"/>
                <a:cs typeface="TH SarabunIT๙" pitchFamily="34" charset="-34"/>
              </a:rPr>
              <a:t>ตามมาตรา 5 แห่ง พ.ร.บ.วิธีปฏิบัติฯ จึงไม่ต้องระบุสิทธิและระยะเวลาอุทธรณ์คำสั่งตามมาตรา 42 วรรคหนึ่ง แห่ง พ.ร.บ.เดียวกัน</a:t>
            </a:r>
          </a:p>
          <a:p>
            <a:pPr marL="0" indent="0" algn="thaiDist">
              <a:buNone/>
            </a:pPr>
            <a:r>
              <a:rPr lang="th-TH" b="1" u="sng" dirty="0">
                <a:latin typeface="TH SarabunIT๙" pitchFamily="34" charset="-34"/>
                <a:cs typeface="TH SarabunIT๙" pitchFamily="34" charset="-34"/>
              </a:rPr>
              <a:t>คำพิพากษาศาลปกครองสูงสุดที่ อ.72/2555</a:t>
            </a:r>
          </a:p>
          <a:p>
            <a:pPr marL="0" indent="0" algn="thaiDist">
              <a:buNone/>
            </a:pPr>
            <a:r>
              <a:rPr lang="th-TH" dirty="0">
                <a:latin typeface="TH SarabunIT๙" pitchFamily="34" charset="-34"/>
                <a:cs typeface="TH SarabunIT๙" pitchFamily="34" charset="-34"/>
              </a:rPr>
              <a:t>ส่วนราชการมี</a:t>
            </a:r>
            <a:r>
              <a:rPr lang="th-TH" b="1" dirty="0">
                <a:latin typeface="TH SarabunIT๙" pitchFamily="34" charset="-34"/>
                <a:cs typeface="TH SarabunIT๙" pitchFamily="34" charset="-34"/>
              </a:rPr>
              <a:t>หนังสือแจ้ง</a:t>
            </a:r>
            <a:r>
              <a:rPr lang="th-TH" dirty="0">
                <a:latin typeface="TH SarabunIT๙" pitchFamily="34" charset="-34"/>
                <a:cs typeface="TH SarabunIT๙" pitchFamily="34" charset="-34"/>
              </a:rPr>
              <a:t>ให้ข้าราชการภายในสังกัดคืนเงินสวัสดิการหรือเงินสิทธิประโยชน์ที่ข้าราชการผู้นั้นรับไปโดยไม่มีสิทธิจะได้รับ </a:t>
            </a:r>
            <a:r>
              <a:rPr lang="th-TH" b="1" dirty="0">
                <a:latin typeface="TH SarabunIT๙" pitchFamily="34" charset="-34"/>
                <a:cs typeface="TH SarabunIT๙" pitchFamily="34" charset="-34"/>
              </a:rPr>
              <a:t>ไม่ใช่คำสั่งทางปกครอง </a:t>
            </a:r>
            <a:r>
              <a:rPr lang="th-TH" dirty="0">
                <a:latin typeface="TH SarabunIT๙" pitchFamily="34" charset="-34"/>
                <a:cs typeface="TH SarabunIT๙" pitchFamily="34" charset="-34"/>
              </a:rPr>
              <a:t>ส่วนราชการจะหักเงินดังกล่าวโดยที่ผู้รับเงินไม่ยินยอมไม่ได้ ดังนั้น หากข้าราชการผู้ได้รับเงินไปปฏิเสธที่จะคืนเงินดังกล่าว ส่วนราชการก็ต้องดำเนินการฟ้องร้องต่อศาลเพื่อให้ศาลมีคำพิพากษาหรือคำสั่งให้ข้าราชการผู้นั้นคืนเงินแก่ส่วนราชการ</a:t>
            </a:r>
          </a:p>
          <a:p>
            <a:pPr marL="0" indent="0" algn="thaiDist">
              <a:buNone/>
            </a:pPr>
            <a:r>
              <a:rPr lang="th-TH" dirty="0">
                <a:latin typeface="TH SarabunIT๙" pitchFamily="34" charset="-34"/>
                <a:cs typeface="TH SarabunIT๙" pitchFamily="34" charset="-34"/>
              </a:rPr>
              <a:t> โดยเมื่อข้าราชการผู้นั้นได้รับเงินไปโดยไม่มีสิทธิหรือเกินสิทธิ อันเป็นการได้รับเงินไปโดยปราศจากมูลอันจะอ้างกฎหมายได้เงินดังกล่าวจึงมีลักษณะเป็นลาภมิควรได้ตามมาตรา ๔๐๖ แห่งประมวลกฎหมายแพ่งและพาณิชย์ซึ่งเดิมส่วนราชการต้องฟ้องคดีต่อศาลยุติธรรม ภายในหนึ่งปีนับแต่เวลาที่รู้ว่าตนมีสิทธิเรียกคืน หรือภายในสิบปีนับแต่เวลาที่สิทธินั้นได้มีขึ้น ทั้งนี้ตามมาตรา ๔๑๙ แห่งประมวลกฎหมายเดียวกัน</a:t>
            </a:r>
            <a:endParaRPr lang="th-TH" b="1" dirty="0">
              <a:latin typeface="TH SarabunIT๙" pitchFamily="34" charset="-34"/>
              <a:cs typeface="TH SarabunIT๙" pitchFamily="34" charset="-34"/>
            </a:endParaRPr>
          </a:p>
          <a:p>
            <a:pPr algn="thaiDist"/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548552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3568" y="332656"/>
            <a:ext cx="7920880" cy="5328592"/>
          </a:xfrm>
        </p:spPr>
        <p:txBody>
          <a:bodyPr>
            <a:noAutofit/>
          </a:bodyPr>
          <a:lstStyle/>
          <a:p>
            <a:r>
              <a:rPr lang="th-TH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สรุปกรณีไม่เป็นนิติกรรมทางปกครอง (คำสั่งทางปกครอง)</a:t>
            </a:r>
          </a:p>
          <a:p>
            <a:pPr marL="0" indent="0">
              <a:buNone/>
            </a:pPr>
            <a:r>
              <a:rPr lang="th-TH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- </a:t>
            </a:r>
            <a:r>
              <a:rPr lang="th-TH" sz="3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การให้คำปรึกษา,ตอบข้อหารือ</a:t>
            </a:r>
          </a:p>
          <a:p>
            <a:pPr marL="0" indent="0">
              <a:buNone/>
            </a:pPr>
            <a:r>
              <a:rPr lang="th-TH" sz="3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- การแจ้งสิทธิหน้าที่</a:t>
            </a:r>
          </a:p>
          <a:p>
            <a:pPr marL="0" indent="0">
              <a:buNone/>
            </a:pPr>
            <a:r>
              <a:rPr lang="th-TH" sz="3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- คำเตือน</a:t>
            </a:r>
          </a:p>
          <a:p>
            <a:pPr marL="0" indent="0">
              <a:buNone/>
            </a:pPr>
            <a:r>
              <a:rPr lang="th-TH" sz="3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- การเตรียมการ</a:t>
            </a:r>
          </a:p>
          <a:p>
            <a:pPr marL="0" indent="0">
              <a:buNone/>
            </a:pPr>
            <a:r>
              <a:rPr lang="th-TH" sz="3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- มติ ครม. ที่เป็นการวางแนวทางการทำงานของข้าราชการ</a:t>
            </a:r>
          </a:p>
          <a:p>
            <a:pPr marL="0" indent="0">
              <a:buNone/>
            </a:pPr>
            <a:r>
              <a:rPr lang="th-TH" sz="3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- หนังสือเวียน</a:t>
            </a:r>
          </a:p>
          <a:p>
            <a:pPr marL="0" indent="0">
              <a:buNone/>
            </a:pPr>
            <a:r>
              <a:rPr lang="th-TH" sz="3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- คำสั่งภายในของผู้บังคับบัญชา เช่น การตัดผมสั้นตามระเบียบ,การแต่งกาย</a:t>
            </a:r>
          </a:p>
        </p:txBody>
      </p:sp>
    </p:spTree>
    <p:extLst>
      <p:ext uri="{BB962C8B-B14F-4D97-AF65-F5344CB8AC3E}">
        <p14:creationId xmlns:p14="http://schemas.microsoft.com/office/powerpoint/2010/main" val="4646994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h-TH" sz="4400" dirty="0">
                <a:solidFill>
                  <a:schemeClr val="accent1">
                    <a:lumMod val="75000"/>
                  </a:schemeClr>
                </a:solidFill>
              </a:rPr>
              <a:t>องค์ประกอบของคำสั่งทางปกครอง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67544" y="1556792"/>
            <a:ext cx="7467600" cy="4873752"/>
          </a:xfrm>
        </p:spPr>
        <p:txBody>
          <a:bodyPr>
            <a:normAutofit/>
          </a:bodyPr>
          <a:lstStyle/>
          <a:p>
            <a:r>
              <a:rPr lang="th-TH" sz="4000" dirty="0"/>
              <a:t>ต้องกระทำโดย</a:t>
            </a:r>
            <a:r>
              <a:rPr lang="th-TH" sz="4000" dirty="0">
                <a:solidFill>
                  <a:schemeClr val="accent1">
                    <a:lumMod val="75000"/>
                  </a:schemeClr>
                </a:solidFill>
              </a:rPr>
              <a:t>เจ้าหน้าที่</a:t>
            </a:r>
          </a:p>
          <a:p>
            <a:r>
              <a:rPr lang="th-TH" sz="4000" dirty="0"/>
              <a:t>ต้องเป็นการ</a:t>
            </a:r>
            <a:r>
              <a:rPr lang="th-TH" sz="4000" dirty="0">
                <a:solidFill>
                  <a:schemeClr val="accent1">
                    <a:lumMod val="75000"/>
                  </a:schemeClr>
                </a:solidFill>
              </a:rPr>
              <a:t>ใช้อำนาจตามกฎหมายฝ่ายเดียว</a:t>
            </a:r>
          </a:p>
          <a:p>
            <a:r>
              <a:rPr lang="th-TH" sz="4000" dirty="0"/>
              <a:t>เป็นการ</a:t>
            </a:r>
            <a:r>
              <a:rPr lang="th-TH" sz="4000" dirty="0">
                <a:solidFill>
                  <a:schemeClr val="accent1">
                    <a:lumMod val="75000"/>
                  </a:schemeClr>
                </a:solidFill>
              </a:rPr>
              <a:t>สร้างนิติสัมพันธ์ขึ้นระหว่างบุคคล</a:t>
            </a:r>
          </a:p>
          <a:p>
            <a:r>
              <a:rPr lang="th-TH" sz="4000" dirty="0"/>
              <a:t>ต้องมีผล</a:t>
            </a:r>
            <a:r>
              <a:rPr lang="th-TH" sz="4000" dirty="0">
                <a:solidFill>
                  <a:schemeClr val="accent1">
                    <a:lumMod val="75000"/>
                  </a:schemeClr>
                </a:solidFill>
              </a:rPr>
              <a:t>เฉพาะกรณี</a:t>
            </a:r>
          </a:p>
          <a:p>
            <a:r>
              <a:rPr lang="th-TH" sz="4000" dirty="0"/>
              <a:t>มีผลโดยตรง</a:t>
            </a:r>
            <a:r>
              <a:rPr lang="th-TH" sz="4000" dirty="0">
                <a:solidFill>
                  <a:schemeClr val="accent1">
                    <a:lumMod val="75000"/>
                  </a:schemeClr>
                </a:solidFill>
              </a:rPr>
              <a:t>ออกไปภายนอกฝ่ายปกครอง</a:t>
            </a:r>
          </a:p>
        </p:txBody>
      </p:sp>
    </p:spTree>
    <p:extLst>
      <p:ext uri="{BB962C8B-B14F-4D97-AF65-F5344CB8AC3E}">
        <p14:creationId xmlns:p14="http://schemas.microsoft.com/office/powerpoint/2010/main" val="810182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h-TH" sz="4400" dirty="0">
                <a:solidFill>
                  <a:schemeClr val="tx1"/>
                </a:solidFill>
              </a:rPr>
              <a:t>คำสั่งดังนี้เป็นคำสั่งทางปกครองหรือไม่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ctr"/>
            <a:endParaRPr lang="th-TH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5" y="1660362"/>
            <a:ext cx="4792973" cy="4792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085566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55576" y="332656"/>
            <a:ext cx="7467600" cy="4873752"/>
          </a:xfrm>
        </p:spPr>
        <p:txBody>
          <a:bodyPr/>
          <a:lstStyle/>
          <a:p>
            <a:endParaRPr lang="th-TH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166" y="332656"/>
            <a:ext cx="3456384" cy="1887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6012" y="376789"/>
            <a:ext cx="2886075" cy="159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198" y="2492896"/>
            <a:ext cx="285750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2420888"/>
            <a:ext cx="3162133" cy="210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920433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endParaRPr lang="th-TH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348880"/>
            <a:ext cx="4422182" cy="331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1988841"/>
            <a:ext cx="2548399" cy="4176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853397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h-TH" sz="4800" dirty="0">
                <a:solidFill>
                  <a:schemeClr val="accent1">
                    <a:lumMod val="50000"/>
                  </a:schemeClr>
                </a:solidFill>
              </a:rPr>
              <a:t>เจ้าหน้าที่ผู้มีอำนาจพิจารณาทางปกครอง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thaiDist"/>
            <a:r>
              <a:rPr lang="th-TH" sz="3600" dirty="0">
                <a:solidFill>
                  <a:schemeClr val="accent1">
                    <a:lumMod val="50000"/>
                  </a:schemeClr>
                </a:solidFill>
              </a:rPr>
              <a:t>ความหมายของเจ้าหน้าที่</a:t>
            </a:r>
            <a:r>
              <a:rPr lang="th-TH" dirty="0"/>
              <a:t>					</a:t>
            </a:r>
          </a:p>
          <a:p>
            <a:pPr marL="0" indent="0" algn="thaiDist">
              <a:buNone/>
            </a:pPr>
            <a:r>
              <a:rPr lang="th-TH" sz="2800" dirty="0"/>
              <a:t>พิจารณาจากมาตรา </a:t>
            </a:r>
            <a:r>
              <a:rPr lang="th-TH" sz="2800" b="1" dirty="0">
                <a:latin typeface="TH SarabunIT๙" pitchFamily="34" charset="-34"/>
                <a:cs typeface="TH SarabunIT๙" pitchFamily="34" charset="-34"/>
              </a:rPr>
              <a:t>5</a:t>
            </a:r>
            <a:r>
              <a:rPr lang="th-TH" sz="2800" dirty="0"/>
              <a:t> แห่ง พ.ร.บ.วิธีปฏิบัติราชการทางปกครองฯ </a:t>
            </a:r>
            <a:r>
              <a:rPr lang="th-TH" sz="2800" dirty="0">
                <a:solidFill>
                  <a:srgbClr val="FF0000"/>
                </a:solidFill>
              </a:rPr>
              <a:t>เอกชนหากได้รับมอบหมายให้ใช้อำนาจปกครองกระทำการแทนรัฐก็เป็นเจ้าหน้าที่ได้</a:t>
            </a:r>
            <a:r>
              <a:rPr lang="th-TH" sz="2800" dirty="0"/>
              <a:t> เช่น มหาวิทยาลัยเอกชนอนุมัติปริญญา สถานตรวจสภาพรถของเอกชนออกใบรับรองการตรวจสภาพรถ คณะกรรมการสภาทนายความเพิกถอนใบอนุญาตประกอบวิชาชีพทนายความ</a:t>
            </a:r>
          </a:p>
          <a:p>
            <a:pPr marL="0" indent="0" algn="thaiDist">
              <a:buNone/>
            </a:pP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8815164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27584" y="188640"/>
            <a:ext cx="7632848" cy="6120680"/>
          </a:xfrm>
        </p:spPr>
        <p:txBody>
          <a:bodyPr>
            <a:normAutofit/>
          </a:bodyPr>
          <a:lstStyle/>
          <a:p>
            <a:pPr algn="thaiDist"/>
            <a:r>
              <a:rPr lang="th-TH" sz="3600" dirty="0">
                <a:solidFill>
                  <a:schemeClr val="accent3"/>
                </a:solidFill>
              </a:rPr>
              <a:t>เจ้าหน้าที่ต้องมีอำนาจออกคำสั่งทางปกครอง		</a:t>
            </a:r>
          </a:p>
          <a:p>
            <a:pPr marL="0" indent="0" algn="thaiDist">
              <a:buNone/>
            </a:pPr>
            <a:r>
              <a:rPr lang="th-TH" sz="3600" dirty="0">
                <a:solidFill>
                  <a:schemeClr val="accent3"/>
                </a:solidFill>
              </a:rPr>
              <a:t>ดูมาตรา </a:t>
            </a:r>
            <a:r>
              <a:rPr lang="th-TH" sz="3600" b="1" dirty="0">
                <a:solidFill>
                  <a:schemeClr val="accent3"/>
                </a:solidFill>
                <a:latin typeface="TH SarabunIT๙" pitchFamily="34" charset="-34"/>
                <a:cs typeface="TH SarabunIT๙" pitchFamily="34" charset="-34"/>
              </a:rPr>
              <a:t>12</a:t>
            </a:r>
            <a:r>
              <a:rPr lang="th-TH" sz="3600" dirty="0">
                <a:solidFill>
                  <a:schemeClr val="accent3"/>
                </a:solidFill>
              </a:rPr>
              <a:t> พ.ร.บ.วิธีปฏิบัติราชการทางปกครองฯ และต้องพิจารณาจาก</a:t>
            </a:r>
          </a:p>
          <a:p>
            <a:pPr algn="thaiDist">
              <a:buFontTx/>
              <a:buChar char="-"/>
            </a:pPr>
            <a:r>
              <a:rPr lang="th-TH" sz="3600" dirty="0">
                <a:solidFill>
                  <a:schemeClr val="accent3"/>
                </a:solidFill>
              </a:rPr>
              <a:t>เรื่องที่มีอำนาจ               </a:t>
            </a:r>
            <a:r>
              <a:rPr lang="th-TH" dirty="0">
                <a:solidFill>
                  <a:schemeClr val="accent3"/>
                </a:solidFill>
              </a:rPr>
              <a:t>เช่น การถอนสัญชาติ</a:t>
            </a:r>
            <a:r>
              <a:rPr lang="th-TH" sz="3600" dirty="0">
                <a:solidFill>
                  <a:schemeClr val="accent3"/>
                </a:solidFill>
              </a:rPr>
              <a:t>     </a:t>
            </a:r>
            <a:r>
              <a:rPr lang="th-TH" dirty="0">
                <a:solidFill>
                  <a:schemeClr val="accent3"/>
                </a:solidFill>
              </a:rPr>
              <a:t>รมว.มหาไทย</a:t>
            </a:r>
          </a:p>
          <a:p>
            <a:pPr algn="thaiDist">
              <a:buFontTx/>
              <a:buChar char="-"/>
            </a:pPr>
            <a:endParaRPr lang="th-TH" sz="1800" dirty="0">
              <a:solidFill>
                <a:schemeClr val="accent3"/>
              </a:solidFill>
            </a:endParaRPr>
          </a:p>
          <a:p>
            <a:pPr algn="thaiDist">
              <a:buFontTx/>
              <a:buChar char="-"/>
            </a:pPr>
            <a:r>
              <a:rPr lang="th-TH" sz="3600" dirty="0">
                <a:solidFill>
                  <a:schemeClr val="accent3"/>
                </a:solidFill>
              </a:rPr>
              <a:t>พื้นที่ที่มีอำนาจ              </a:t>
            </a:r>
            <a:r>
              <a:rPr lang="th-TH" dirty="0">
                <a:solidFill>
                  <a:schemeClr val="accent3"/>
                </a:solidFill>
              </a:rPr>
              <a:t>เช่น </a:t>
            </a:r>
            <a:r>
              <a:rPr lang="th-TH" dirty="0" err="1">
                <a:solidFill>
                  <a:schemeClr val="accent3"/>
                </a:solidFill>
              </a:rPr>
              <a:t>ผบช.น</a:t>
            </a:r>
            <a:r>
              <a:rPr lang="th-TH" dirty="0">
                <a:solidFill>
                  <a:schemeClr val="accent3"/>
                </a:solidFill>
              </a:rPr>
              <a:t>.       ออกใบอนุญาตตั้งสถานบริการ     ใน กทม.เท่านั้น</a:t>
            </a:r>
          </a:p>
          <a:p>
            <a:pPr algn="thaiDist">
              <a:buFontTx/>
              <a:buChar char="-"/>
            </a:pPr>
            <a:endParaRPr lang="th-TH" sz="1800" dirty="0">
              <a:solidFill>
                <a:schemeClr val="accent3"/>
              </a:solidFill>
            </a:endParaRPr>
          </a:p>
          <a:p>
            <a:pPr algn="thaiDist">
              <a:buFontTx/>
              <a:buChar char="-"/>
            </a:pPr>
            <a:r>
              <a:rPr lang="th-TH" sz="3600" dirty="0">
                <a:solidFill>
                  <a:schemeClr val="accent3"/>
                </a:solidFill>
              </a:rPr>
              <a:t>เวลาที่มีอำนาจ               </a:t>
            </a:r>
            <a:r>
              <a:rPr lang="th-TH" dirty="0">
                <a:solidFill>
                  <a:schemeClr val="accent3"/>
                </a:solidFill>
              </a:rPr>
              <a:t>เฉพาะเวลาที่ตนดำรงตำแหน่ง</a:t>
            </a:r>
          </a:p>
          <a:p>
            <a:pPr marL="0" indent="0" algn="thaiDist">
              <a:buNone/>
            </a:pPr>
            <a:r>
              <a:rPr lang="th-TH" sz="3600" dirty="0">
                <a:solidFill>
                  <a:schemeClr val="accent3"/>
                </a:solidFill>
              </a:rPr>
              <a:t>	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987824" y="2348880"/>
            <a:ext cx="136815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6084168" y="2375979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3023828" y="3356992"/>
            <a:ext cx="129614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5436096" y="3356992"/>
            <a:ext cx="39604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2951820" y="4653136"/>
            <a:ext cx="136815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78007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2800" dirty="0">
                <a:solidFill>
                  <a:schemeClr val="accent3"/>
                </a:solidFill>
              </a:rPr>
              <a:t>เจ้าหน้าที่ผู้มีอำนาจพิจารณาออกคำสั่งทางปกครองต้องได้รับการแต่งตั้งโดยชอบ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thaiDist"/>
            <a:r>
              <a:rPr lang="th-TH" sz="3600" u="sng" dirty="0">
                <a:solidFill>
                  <a:schemeClr val="accent3"/>
                </a:solidFill>
              </a:rPr>
              <a:t>ความเห็นคณะกรรมการกฤษฎีกาเรื่องเสร็จที่ </a:t>
            </a:r>
            <a:r>
              <a:rPr lang="th-TH" sz="3600" b="1" u="sng" dirty="0">
                <a:solidFill>
                  <a:schemeClr val="accent3"/>
                </a:solidFill>
                <a:latin typeface="TH SarabunIT๙" pitchFamily="34" charset="-34"/>
                <a:cs typeface="TH SarabunIT๙" pitchFamily="34" charset="-34"/>
              </a:rPr>
              <a:t>35/2552</a:t>
            </a:r>
          </a:p>
          <a:p>
            <a:pPr marL="0" indent="0" algn="thaiDist">
              <a:buNone/>
            </a:pPr>
            <a:r>
              <a:rPr lang="th-TH" b="1" dirty="0">
                <a:latin typeface="TH SarabunIT๙" pitchFamily="34" charset="-34"/>
                <a:cs typeface="TH SarabunIT๙" pitchFamily="34" charset="-34"/>
              </a:rPr>
              <a:t>    การที่ศาลปกครองเพิกถอนมติของสภา </a:t>
            </a:r>
            <a:r>
              <a:rPr lang="th-TH" b="1" dirty="0" err="1">
                <a:latin typeface="TH SarabunIT๙" pitchFamily="34" charset="-34"/>
                <a:cs typeface="TH SarabunIT๙" pitchFamily="34" charset="-34"/>
              </a:rPr>
              <a:t>อบจ</a:t>
            </a:r>
            <a:r>
              <a:rPr lang="th-TH" b="1" dirty="0">
                <a:latin typeface="TH SarabunIT๙" pitchFamily="34" charset="-34"/>
                <a:cs typeface="TH SarabunIT๙" pitchFamily="34" charset="-34"/>
              </a:rPr>
              <a:t>. ที่เลือกนาย ส. เป็นนายก </a:t>
            </a:r>
            <a:r>
              <a:rPr lang="th-TH" b="1" dirty="0" err="1">
                <a:latin typeface="TH SarabunIT๙" pitchFamily="34" charset="-34"/>
                <a:cs typeface="TH SarabunIT๙" pitchFamily="34" charset="-34"/>
              </a:rPr>
              <a:t>อบจ</a:t>
            </a:r>
            <a:r>
              <a:rPr lang="th-TH" b="1" dirty="0">
                <a:latin typeface="TH SarabunIT๙" pitchFamily="34" charset="-34"/>
                <a:cs typeface="TH SarabunIT๙" pitchFamily="34" charset="-34"/>
              </a:rPr>
              <a:t>. เป็นผลให้การดำรงตำแหน่งของ ส. ไม่ชอบด้วยกฎหมาย แต่ก็ไม่กระทบต่อการใดที่ ส. ได้กระทำไปในฐานะนายก </a:t>
            </a:r>
            <a:r>
              <a:rPr lang="th-TH" b="1" dirty="0" err="1">
                <a:latin typeface="TH SarabunIT๙" pitchFamily="34" charset="-34"/>
                <a:cs typeface="TH SarabunIT๙" pitchFamily="34" charset="-34"/>
              </a:rPr>
              <a:t>อบจ</a:t>
            </a:r>
            <a:r>
              <a:rPr lang="th-TH" b="1" dirty="0">
                <a:latin typeface="TH SarabunIT๙" pitchFamily="34" charset="-34"/>
                <a:cs typeface="TH SarabunIT๙" pitchFamily="34" charset="-34"/>
              </a:rPr>
              <a:t>. ตามมาตรา 19 แห่ง พ.ร.บ.วิธีปฏิบัติฯ</a:t>
            </a:r>
          </a:p>
          <a:p>
            <a:pPr marL="0" indent="0" algn="thaiDist">
              <a:buNone/>
            </a:pPr>
            <a:r>
              <a:rPr lang="th-TH" b="1" dirty="0">
                <a:latin typeface="TH SarabunIT๙" pitchFamily="34" charset="-34"/>
                <a:cs typeface="TH SarabunIT๙" pitchFamily="34" charset="-34"/>
              </a:rPr>
              <a:t>    ดังนั้น การที่นาย ส. ได้รับเงินเดือน ค่าตอบแทน เบี้ยประชุม และเงินอื่นที่ได้รับอันเนื่องมาจากการปฏิบัติหน้าที่ ย่อมไม่อาจกล่าวได้ว่าเป็นการรับไปโดยปราศจากมูลอันจะอ้างกฎหมาย นายไม่ ส. จึงไม่ต้องคืนเงินดังกล่าวให้แก่ </a:t>
            </a:r>
            <a:r>
              <a:rPr lang="th-TH" b="1" dirty="0" err="1">
                <a:latin typeface="TH SarabunIT๙" pitchFamily="34" charset="-34"/>
                <a:cs typeface="TH SarabunIT๙" pitchFamily="34" charset="-34"/>
              </a:rPr>
              <a:t>อบจ</a:t>
            </a:r>
            <a:r>
              <a:rPr lang="th-TH" b="1" dirty="0">
                <a:latin typeface="TH SarabunIT๙" pitchFamily="34" charset="-34"/>
                <a:cs typeface="TH SarabunIT๙" pitchFamily="34" charset="-34"/>
              </a:rPr>
              <a:t>.</a:t>
            </a:r>
          </a:p>
          <a:p>
            <a:pPr marL="0" indent="0" algn="thaiDist">
              <a:buNone/>
            </a:pPr>
            <a:endParaRPr lang="th-TH" b="1" dirty="0">
              <a:latin typeface="TH SarabunIT๙" pitchFamily="34" charset="-34"/>
              <a:cs typeface="TH SarabunIT๙" pitchFamily="34" charset="-34"/>
            </a:endParaRPr>
          </a:p>
          <a:p>
            <a:pPr marL="0" indent="0" algn="thaiDist">
              <a:buNone/>
            </a:pPr>
            <a:endParaRPr lang="th-TH" b="1" dirty="0">
              <a:latin typeface="TH SarabunIT๙" pitchFamily="34" charset="-34"/>
              <a:cs typeface="TH SarabunIT๙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5161580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thaiDist"/>
            <a:r>
              <a:rPr lang="th-TH" sz="4400" dirty="0">
                <a:solidFill>
                  <a:schemeClr val="accent5">
                    <a:lumMod val="50000"/>
                  </a:schemeClr>
                </a:solidFill>
              </a:rPr>
              <a:t>คำถาม</a:t>
            </a:r>
            <a:r>
              <a:rPr lang="th-TH" sz="4400" dirty="0">
                <a:solidFill>
                  <a:srgbClr val="FF0000"/>
                </a:solidFill>
              </a:rPr>
              <a:t> หาก </a:t>
            </a:r>
            <a:r>
              <a:rPr lang="th-TH" sz="4400" dirty="0" err="1">
                <a:solidFill>
                  <a:srgbClr val="FF0000"/>
                </a:solidFill>
              </a:rPr>
              <a:t>อบจ</a:t>
            </a:r>
            <a:r>
              <a:rPr lang="th-TH" sz="4400" dirty="0">
                <a:solidFill>
                  <a:srgbClr val="FF0000"/>
                </a:solidFill>
              </a:rPr>
              <a:t>. มีหนังสือไปยังนาย ส. เรียกเงินที่นาย ส. ได้รับไประหว่างปฏิบัติหน้าที่เนื่องด้วยเหตุผลว่านาย ส. ไม่มีสิทธิได้รับ คำสั่งดังกล่าวเป็นคำสั่งทางปกครองหรือไม่ ?</a:t>
            </a:r>
          </a:p>
          <a:p>
            <a:pPr marL="0" indent="0">
              <a:buNone/>
            </a:pPr>
            <a:endParaRPr lang="th-TH" sz="4400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3861048"/>
            <a:ext cx="249555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00285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9552" y="620688"/>
            <a:ext cx="7920880" cy="4873752"/>
          </a:xfrm>
        </p:spPr>
        <p:txBody>
          <a:bodyPr>
            <a:normAutofit/>
          </a:bodyPr>
          <a:lstStyle/>
          <a:p>
            <a:r>
              <a:rPr lang="th-TH" sz="3600" dirty="0">
                <a:solidFill>
                  <a:schemeClr val="accent3"/>
                </a:solidFill>
              </a:rPr>
              <a:t>คู่กรณีในการพิจารณาทางปกครอง</a:t>
            </a:r>
          </a:p>
          <a:p>
            <a:pPr>
              <a:buFontTx/>
              <a:buChar char="-"/>
            </a:pPr>
            <a:r>
              <a:rPr lang="th-TH" sz="3600" dirty="0">
                <a:solidFill>
                  <a:schemeClr val="accent3"/>
                </a:solidFill>
              </a:rPr>
              <a:t>ความหมาย </a:t>
            </a:r>
          </a:p>
          <a:p>
            <a:pPr>
              <a:buFontTx/>
              <a:buChar char="-"/>
            </a:pPr>
            <a:r>
              <a:rPr lang="th-TH" sz="3600" dirty="0">
                <a:solidFill>
                  <a:schemeClr val="accent3"/>
                </a:solidFill>
              </a:rPr>
              <a:t>ความสามารถ</a:t>
            </a:r>
          </a:p>
          <a:p>
            <a:pPr>
              <a:buFontTx/>
              <a:buChar char="-"/>
            </a:pPr>
            <a:r>
              <a:rPr lang="th-TH" sz="3600" dirty="0">
                <a:solidFill>
                  <a:schemeClr val="accent3"/>
                </a:solidFill>
              </a:rPr>
              <a:t>การกระทำการโดยตัวแทน</a:t>
            </a:r>
          </a:p>
          <a:p>
            <a:pPr>
              <a:buFontTx/>
              <a:buChar char="-"/>
            </a:pPr>
            <a:endParaRPr lang="th-TH" sz="3600" dirty="0">
              <a:solidFill>
                <a:schemeClr val="accent3"/>
              </a:solidFill>
            </a:endParaRP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3429000"/>
            <a:ext cx="3697050" cy="2123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121991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1560" y="332656"/>
            <a:ext cx="7467600" cy="4873752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 algn="ctr">
              <a:buNone/>
            </a:pPr>
            <a:endParaRPr lang="th-TH" sz="28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350710"/>
            <a:ext cx="4824536" cy="4824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73010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95536" y="338214"/>
            <a:ext cx="7467600" cy="6141296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th-TH" sz="3600" dirty="0"/>
              <a:t>                                     </a:t>
            </a:r>
          </a:p>
          <a:p>
            <a:pPr marL="0" indent="0" algn="ctr">
              <a:buNone/>
            </a:pPr>
            <a:endParaRPr lang="th-TH" sz="3600" dirty="0"/>
          </a:p>
          <a:p>
            <a:pPr marL="0" indent="0" algn="thaiDist">
              <a:buNone/>
            </a:pPr>
            <a:endParaRPr lang="th-TH" sz="3600" dirty="0"/>
          </a:p>
        </p:txBody>
      </p:sp>
      <p:sp>
        <p:nvSpPr>
          <p:cNvPr id="6" name="Rectangle 5"/>
          <p:cNvSpPr/>
          <p:nvPr/>
        </p:nvSpPr>
        <p:spPr>
          <a:xfrm>
            <a:off x="395536" y="332656"/>
            <a:ext cx="1872208" cy="50405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ความหมาย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59832" y="332656"/>
            <a:ext cx="1584176" cy="50405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ความสามารถ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64088" y="332656"/>
            <a:ext cx="2232248" cy="50405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การกระทำโดยตัวแทน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1327460" y="850058"/>
            <a:ext cx="0" cy="504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71052" y="1354114"/>
            <a:ext cx="1521175" cy="129614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1600" dirty="0">
                <a:solidFill>
                  <a:schemeClr val="tx1"/>
                </a:solidFill>
              </a:rPr>
              <a:t>พ.ร.บ.วิธีปฏิบัติฯ มาตรา </a:t>
            </a:r>
            <a:r>
              <a:rPr lang="th-TH" sz="1600" b="1" dirty="0">
                <a:solidFill>
                  <a:schemeClr val="tx1"/>
                </a:solidFill>
                <a:latin typeface="TH SarabunIT๙" pitchFamily="34" charset="-34"/>
                <a:cs typeface="TH SarabunIT๙" pitchFamily="34" charset="-34"/>
              </a:rPr>
              <a:t>5</a:t>
            </a:r>
            <a:r>
              <a:rPr lang="th-TH" sz="1600" dirty="0">
                <a:solidFill>
                  <a:schemeClr val="tx1"/>
                </a:solidFill>
              </a:rPr>
              <a:t> และมาตรา </a:t>
            </a:r>
            <a:r>
              <a:rPr lang="th-TH" sz="1600" b="1" dirty="0">
                <a:solidFill>
                  <a:schemeClr val="tx1"/>
                </a:solidFill>
                <a:latin typeface="TH SarabunIT๙" pitchFamily="34" charset="-34"/>
                <a:cs typeface="TH SarabunIT๙" pitchFamily="34" charset="-34"/>
              </a:rPr>
              <a:t>21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3851920" y="850058"/>
            <a:ext cx="0" cy="1152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2915816" y="2020888"/>
            <a:ext cx="1728192" cy="165618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600" dirty="0">
                <a:solidFill>
                  <a:schemeClr val="tx1"/>
                </a:solidFill>
              </a:rPr>
              <a:t>พ.ร.บ.วิธีปฏิบัติฯ มาตรา </a:t>
            </a:r>
            <a:r>
              <a:rPr lang="th-TH" sz="1600" b="1" dirty="0">
                <a:solidFill>
                  <a:schemeClr val="tx1"/>
                </a:solidFill>
                <a:latin typeface="TH SarabunIT๙" pitchFamily="34" charset="-34"/>
                <a:cs typeface="TH SarabunIT๙" pitchFamily="34" charset="-34"/>
              </a:rPr>
              <a:t>22</a:t>
            </a:r>
          </a:p>
        </p:txBody>
      </p:sp>
      <p:cxnSp>
        <p:nvCxnSpPr>
          <p:cNvPr id="35" name="Straight Connector 34"/>
          <p:cNvCxnSpPr/>
          <p:nvPr/>
        </p:nvCxnSpPr>
        <p:spPr>
          <a:xfrm>
            <a:off x="6480212" y="850058"/>
            <a:ext cx="0" cy="9227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256076" y="1750240"/>
            <a:ext cx="2448272" cy="1800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1600" dirty="0">
                <a:solidFill>
                  <a:schemeClr val="tx1"/>
                </a:solidFill>
              </a:rPr>
              <a:t>พ.ร.บ.วิธีปฏิบัติฯ มาตรา </a:t>
            </a:r>
            <a:r>
              <a:rPr lang="th-TH" sz="1600" b="1" dirty="0">
                <a:solidFill>
                  <a:schemeClr val="tx1"/>
                </a:solidFill>
                <a:latin typeface="TH SarabunIT๙" pitchFamily="34" charset="-34"/>
                <a:cs typeface="TH SarabunIT๙" pitchFamily="34" charset="-34"/>
              </a:rPr>
              <a:t>24 และมาตรา 25 (</a:t>
            </a:r>
            <a:r>
              <a:rPr lang="th-TH" sz="1600" dirty="0">
                <a:solidFill>
                  <a:schemeClr val="tx1"/>
                </a:solidFill>
                <a:latin typeface="TH SarabunIT๙" pitchFamily="34" charset="-34"/>
              </a:rPr>
              <a:t>คู่กรณีคนเดียว และคู่กรณีเกินกว่า </a:t>
            </a:r>
            <a:r>
              <a:rPr lang="th-TH" sz="1600" b="1" dirty="0">
                <a:solidFill>
                  <a:schemeClr val="tx1"/>
                </a:solidFill>
                <a:latin typeface="TH SarabunIT๙" pitchFamily="34" charset="-34"/>
                <a:cs typeface="TH SarabunIT๙" pitchFamily="34" charset="-34"/>
              </a:rPr>
              <a:t>50 </a:t>
            </a:r>
            <a:r>
              <a:rPr lang="th-TH" sz="1600" dirty="0">
                <a:solidFill>
                  <a:schemeClr val="tx1"/>
                </a:solidFill>
                <a:latin typeface="TH SarabunIT๙" pitchFamily="34" charset="-34"/>
              </a:rPr>
              <a:t>คน)</a:t>
            </a:r>
          </a:p>
        </p:txBody>
      </p:sp>
    </p:spTree>
    <p:extLst>
      <p:ext uri="{BB962C8B-B14F-4D97-AF65-F5344CB8AC3E}">
        <p14:creationId xmlns:p14="http://schemas.microsoft.com/office/powerpoint/2010/main" val="4446738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h-TH" sz="3200" b="1" dirty="0">
                <a:solidFill>
                  <a:schemeClr val="tx1"/>
                </a:solidFill>
              </a:rPr>
              <a:t>สิทธิของคู่กรณีตาม พ.ร.บ.วิธีปฏิบัติราชการทางปกครอง พ.ศ.</a:t>
            </a:r>
            <a:r>
              <a:rPr lang="th-TH" sz="3200" b="1" dirty="0">
                <a:solidFill>
                  <a:schemeClr val="tx1"/>
                </a:solidFill>
                <a:latin typeface="TH SarabunIT๙" pitchFamily="34" charset="-34"/>
                <a:cs typeface="TH SarabunIT๙" pitchFamily="34" charset="-34"/>
              </a:rPr>
              <a:t>2539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h-TH" sz="2800" dirty="0"/>
              <a:t>ปรึกษาหรือผู้ทำการแทน</a:t>
            </a:r>
          </a:p>
          <a:p>
            <a:r>
              <a:rPr lang="th-TH" sz="2800" dirty="0"/>
              <a:t>ได้รับการพิจารณาจากเจ้าหน้าที่ซึ่งมีความเป็นกลาง</a:t>
            </a:r>
          </a:p>
          <a:p>
            <a:r>
              <a:rPr lang="th-TH" sz="2800" dirty="0"/>
              <a:t>ได้รับคำแนะนำและรับแจ้งสิทธิหน้าที่ต่างๆในการติดต่อเจ้าหน้าที่</a:t>
            </a:r>
          </a:p>
          <a:p>
            <a:r>
              <a:rPr lang="th-TH" sz="2800" dirty="0"/>
              <a:t>ได้รับแจ้งจากเจ้าหน้าที่ในกรณีคำสั่งมีผลกระทบกับตน</a:t>
            </a:r>
          </a:p>
          <a:p>
            <a:r>
              <a:rPr lang="th-TH" sz="2800" dirty="0"/>
              <a:t>โต้แย้งพยานหลักฐาน</a:t>
            </a:r>
          </a:p>
          <a:p>
            <a:r>
              <a:rPr lang="th-TH" sz="2800" dirty="0"/>
              <a:t>ได้รับทราบเหตุผลของคำสั่ง</a:t>
            </a:r>
          </a:p>
          <a:p>
            <a:r>
              <a:rPr lang="th-TH" sz="2800" dirty="0"/>
              <a:t>ได้รับแจ้งวิธีการอุทธรณ์หรือโต้แย้งและสิทธิในการอุทธรณ์คำสั่ง</a:t>
            </a:r>
          </a:p>
          <a:p>
            <a:r>
              <a:rPr lang="th-TH" sz="2800" dirty="0"/>
              <a:t>ขอให้พิจารณาใหม่</a:t>
            </a:r>
          </a:p>
          <a:p>
            <a:pPr marL="0" indent="0">
              <a:buNone/>
            </a:pP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8151929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h-TH" sz="4800" dirty="0">
                <a:solidFill>
                  <a:schemeClr val="accent3"/>
                </a:solidFill>
              </a:rPr>
              <a:t>รูปแบบของคำสั่งทางปกครอง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19256" cy="4873752"/>
          </a:xfrm>
        </p:spPr>
        <p:txBody>
          <a:bodyPr>
            <a:normAutofit/>
          </a:bodyPr>
          <a:lstStyle/>
          <a:p>
            <a:r>
              <a:rPr lang="th-TH" sz="4000" dirty="0"/>
              <a:t>หนังสือ</a:t>
            </a:r>
          </a:p>
          <a:p>
            <a:r>
              <a:rPr lang="th-TH" sz="4000" dirty="0"/>
              <a:t>วาจา</a:t>
            </a:r>
          </a:p>
          <a:p>
            <a:r>
              <a:rPr lang="th-TH" sz="4000" dirty="0"/>
              <a:t>สื่อความหมายในรูปแบบอื่น </a:t>
            </a:r>
            <a:r>
              <a:rPr lang="th-TH" sz="1800" dirty="0"/>
              <a:t>(ป้ายสัญญาณจราจร หรือไฟสัญญาณจารจร </a:t>
            </a:r>
            <a:r>
              <a:rPr lang="en-AU" sz="1800" dirty="0"/>
              <a:t>: </a:t>
            </a:r>
            <a:r>
              <a:rPr lang="th-TH" sz="1800" dirty="0"/>
              <a:t>เป็นการกระทำฝ่ายเดียว ไม่ใช่ปฏิบัติการทางปกครอง )</a:t>
            </a:r>
          </a:p>
        </p:txBody>
      </p:sp>
    </p:spTree>
    <p:extLst>
      <p:ext uri="{BB962C8B-B14F-4D97-AF65-F5344CB8AC3E}">
        <p14:creationId xmlns:p14="http://schemas.microsoft.com/office/powerpoint/2010/main" val="16015964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h-TH" sz="6600" dirty="0">
                <a:solidFill>
                  <a:schemeClr val="accent3"/>
                </a:solidFill>
              </a:rPr>
              <a:t>การอุทธรณ์คำสั่งทางปกครอง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thaiDist"/>
            <a:r>
              <a:rPr lang="th-TH" sz="2800" dirty="0"/>
              <a:t>การอุทธรณ์คำสั่งทางปกครอง </a:t>
            </a:r>
            <a:r>
              <a:rPr lang="th-TH" sz="2800" dirty="0">
                <a:solidFill>
                  <a:srgbClr val="FF0000"/>
                </a:solidFill>
              </a:rPr>
              <a:t>เป็นการทบทวนคำสั่ง</a:t>
            </a:r>
            <a:r>
              <a:rPr lang="th-TH" sz="2800" dirty="0"/>
              <a:t>ซึ่งเป็นการควบคุมภายในฝ่ายปกครองแบบแก้ไขวิธีหนึ่ง เพื่อให้เจ้าหน้าที่ผู้ทำคำสั่งแก้ไขเปลี่ยนแปลงคำสั่งให้ถูกต้อง </a:t>
            </a:r>
            <a:r>
              <a:rPr lang="th-TH" sz="2800" dirty="0">
                <a:solidFill>
                  <a:srgbClr val="FF0000"/>
                </a:solidFill>
              </a:rPr>
              <a:t>เพื่อเยียวยาความเดือดร้อนเสียหายของคู่กรณีซึ่งถูกกระทบกระเทือนจากผลของคำสั่งทางปกครองก่อนที่จะนำคดีขึ้นสู่ศาลปกครอง</a:t>
            </a:r>
            <a:r>
              <a:rPr lang="th-TH" sz="2800" dirty="0"/>
              <a:t> </a:t>
            </a:r>
          </a:p>
          <a:p>
            <a:pPr algn="thaiDist"/>
            <a:r>
              <a:rPr lang="th-TH" sz="2800" dirty="0">
                <a:solidFill>
                  <a:srgbClr val="FF0000"/>
                </a:solidFill>
              </a:rPr>
              <a:t>เป็นเงื่อนไขสำคัญในการฟ้องคดี</a:t>
            </a:r>
            <a:r>
              <a:rPr lang="th-TH" sz="2800" dirty="0"/>
              <a:t> หากไม่ได้อุทธรณ์คำสั่งทางปกครองหรืออุทธรณ์คำสั่งไม่ชอบด้วยกฎหมาย ผู้นั้นย่อมไม่มีสิทธิฟ้องคดีต่อศาลปกครอง ตามมาตรา </a:t>
            </a:r>
            <a:r>
              <a:rPr lang="th-TH" sz="2800" b="1" dirty="0">
                <a:latin typeface="TH SarabunIT๙" pitchFamily="34" charset="-34"/>
                <a:cs typeface="TH SarabunIT๙" pitchFamily="34" charset="-34"/>
              </a:rPr>
              <a:t>42</a:t>
            </a:r>
            <a:r>
              <a:rPr lang="th-TH" sz="2800" dirty="0"/>
              <a:t> แห่ง พ.ร.บ.จัดตั้งศาลปกครองและวิธีพิจารณาคดีปกครอง</a:t>
            </a:r>
          </a:p>
        </p:txBody>
      </p:sp>
    </p:spTree>
    <p:extLst>
      <p:ext uri="{BB962C8B-B14F-4D97-AF65-F5344CB8AC3E}">
        <p14:creationId xmlns:p14="http://schemas.microsoft.com/office/powerpoint/2010/main" val="42832996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208912" cy="1143000"/>
          </a:xfrm>
        </p:spPr>
        <p:txBody>
          <a:bodyPr>
            <a:noAutofit/>
          </a:bodyPr>
          <a:lstStyle/>
          <a:p>
            <a:r>
              <a:rPr lang="th-TH" sz="4000" dirty="0">
                <a:solidFill>
                  <a:schemeClr val="accent1">
                    <a:lumMod val="50000"/>
                  </a:schemeClr>
                </a:solidFill>
              </a:rPr>
              <a:t>คำสั่งทางปกครองบางประเภทที่ไม่จำต้องอุทธรณ์ </a:t>
            </a:r>
            <a:r>
              <a:rPr lang="en-AU" sz="4000" dirty="0">
                <a:solidFill>
                  <a:schemeClr val="accent1">
                    <a:lumMod val="50000"/>
                  </a:schemeClr>
                </a:solidFill>
              </a:rPr>
              <a:t>: </a:t>
            </a:r>
            <a:r>
              <a:rPr lang="th-TH" sz="4000" dirty="0">
                <a:solidFill>
                  <a:schemeClr val="accent1">
                    <a:lumMod val="50000"/>
                  </a:schemeClr>
                </a:solidFill>
              </a:rPr>
              <a:t>ฟ้องได้ทันที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th-TH" dirty="0"/>
              <a:t>คำสั่งทางปกครองที่ออกโดย</a:t>
            </a:r>
            <a:r>
              <a:rPr lang="th-TH" dirty="0">
                <a:solidFill>
                  <a:srgbClr val="FF0000"/>
                </a:solidFill>
              </a:rPr>
              <a:t>คณะรัฐมนตรี</a:t>
            </a:r>
          </a:p>
          <a:p>
            <a:r>
              <a:rPr lang="th-TH" dirty="0"/>
              <a:t>คำสั่งทางปกครองที่ออกโดย</a:t>
            </a:r>
            <a:r>
              <a:rPr lang="th-TH" dirty="0">
                <a:solidFill>
                  <a:srgbClr val="FF0000"/>
                </a:solidFill>
              </a:rPr>
              <a:t>คณะกรรมการ**</a:t>
            </a:r>
          </a:p>
          <a:p>
            <a:r>
              <a:rPr lang="th-TH" dirty="0"/>
              <a:t>คำสั่งทางปกครองทั่วไป</a:t>
            </a:r>
          </a:p>
          <a:p>
            <a:r>
              <a:rPr lang="th-TH" dirty="0"/>
              <a:t>คำสั่งทางปกครองที่</a:t>
            </a:r>
            <a:r>
              <a:rPr lang="th-TH" dirty="0">
                <a:solidFill>
                  <a:srgbClr val="FF0000"/>
                </a:solidFill>
              </a:rPr>
              <a:t>มีกฎหมายกำหนดให้เป็นที่สุด</a:t>
            </a:r>
          </a:p>
          <a:p>
            <a:r>
              <a:rPr lang="th-TH" dirty="0"/>
              <a:t>คำสั่งทางปกครองที่</a:t>
            </a:r>
            <a:r>
              <a:rPr lang="th-TH" dirty="0">
                <a:solidFill>
                  <a:srgbClr val="FF0000"/>
                </a:solidFill>
              </a:rPr>
              <a:t>มีกฎหมายเฉพาะให้ฟ้องคดีได้ทันที</a:t>
            </a:r>
          </a:p>
          <a:p>
            <a:r>
              <a:rPr lang="th-TH" dirty="0">
                <a:solidFill>
                  <a:srgbClr val="FF0000"/>
                </a:solidFill>
              </a:rPr>
              <a:t>กฎ</a:t>
            </a:r>
          </a:p>
          <a:p>
            <a:r>
              <a:rPr lang="th-TH" dirty="0"/>
              <a:t>เจ้าหน้าที่กระทำ</a:t>
            </a:r>
            <a:r>
              <a:rPr lang="th-TH" dirty="0">
                <a:solidFill>
                  <a:srgbClr val="FF0000"/>
                </a:solidFill>
              </a:rPr>
              <a:t>ละเมิด</a:t>
            </a:r>
          </a:p>
          <a:p>
            <a:r>
              <a:rPr lang="th-TH" dirty="0">
                <a:solidFill>
                  <a:srgbClr val="FF0000"/>
                </a:solidFill>
              </a:rPr>
              <a:t>สัญญาทางปกครอง</a:t>
            </a:r>
          </a:p>
          <a:p>
            <a:endParaRPr lang="th-TH" sz="10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th-TH" dirty="0">
                <a:solidFill>
                  <a:srgbClr val="FF0000"/>
                </a:solidFill>
              </a:rPr>
              <a:t>** เป็นส่วนหนึ่งในข้อสอบอัยการผู้ช่วยฯ (สนามใหญ่) ปี พ.ศ.๒๕๕๙</a:t>
            </a:r>
          </a:p>
        </p:txBody>
      </p:sp>
    </p:spTree>
    <p:extLst>
      <p:ext uri="{BB962C8B-B14F-4D97-AF65-F5344CB8AC3E}">
        <p14:creationId xmlns:p14="http://schemas.microsoft.com/office/powerpoint/2010/main" val="37553276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188640"/>
            <a:ext cx="7467600" cy="621330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th-TH" sz="4000" dirty="0"/>
              <a:t>ระยะเวลาอุทธรณ์คำสั่งทางปกครอง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4211960" y="836712"/>
            <a:ext cx="0" cy="9361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1619672" y="1772816"/>
            <a:ext cx="25922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619672" y="17728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13538" y="2081902"/>
            <a:ext cx="2412268" cy="144016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thaiDist"/>
            <a:r>
              <a:rPr lang="th-TH" sz="2400" dirty="0">
                <a:solidFill>
                  <a:schemeClr val="tx1"/>
                </a:solidFill>
              </a:rPr>
              <a:t>ภายใน๑๕วันนับแต่วันที่ตนได้รับแจ้งคำสั่งดังกล่าว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4211960" y="1597299"/>
            <a:ext cx="0" cy="19037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157661" y="2132856"/>
            <a:ext cx="2088232" cy="273630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thaiDist"/>
            <a:r>
              <a:rPr lang="th-TH" sz="2400" dirty="0"/>
              <a:t>คำสั่งมิได้ระบุว่ากรณีที่อาจอุทธรณ์หรือโต้แย้ง ระยะเวลาเริ่มนับใหม่ตั้งแต่วันที่ได้รับแจ้งหลักเกณฑ์ดังกล่าว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211960" y="1772816"/>
            <a:ext cx="36724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7876377" y="1772816"/>
            <a:ext cx="0" cy="12961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580112" y="2132856"/>
            <a:ext cx="2880320" cy="31683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thaiDist"/>
            <a:r>
              <a:rPr lang="th-TH" sz="1800" dirty="0"/>
              <a:t> </a:t>
            </a:r>
            <a:r>
              <a:rPr lang="th-TH" sz="2400" dirty="0">
                <a:solidFill>
                  <a:schemeClr val="tx1"/>
                </a:solidFill>
              </a:rPr>
              <a:t>แต่ถ้าไม่มีการแจ้งใหม่ดังกล่าวและระยะเวลาที่อาจอุทธรณ์ได้ตามพระราชบัญญัตินี้</a:t>
            </a:r>
          </a:p>
          <a:p>
            <a:pPr algn="thaiDist"/>
            <a:r>
              <a:rPr lang="th-TH" sz="2400" dirty="0">
                <a:solidFill>
                  <a:schemeClr val="tx1"/>
                </a:solidFill>
              </a:rPr>
              <a:t> (๑๕ วันตามมาตรา ๔๔ วรรคหนึ่ง) หรือตามกฎหมายเฉพาะ    (ถ้ามี)มีระยะเวลาสั้นกว่าหนึ่งปี       ให้ขยายเป็น ๑ ปี</a:t>
            </a:r>
          </a:p>
        </p:txBody>
      </p:sp>
    </p:spTree>
    <p:extLst>
      <p:ext uri="{BB962C8B-B14F-4D97-AF65-F5344CB8AC3E}">
        <p14:creationId xmlns:p14="http://schemas.microsoft.com/office/powerpoint/2010/main" val="12274796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4000" dirty="0">
                <a:solidFill>
                  <a:schemeClr val="tx1"/>
                </a:solidFill>
              </a:rPr>
              <a:t>รูปแบบของคำอุทธรณ์ มาตรา ๔๔ วรรคสอง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th-TH" sz="4000" dirty="0"/>
              <a:t>ต้องทำเป็นหนังสือ</a:t>
            </a:r>
          </a:p>
          <a:p>
            <a:r>
              <a:rPr lang="th-TH" sz="4000" dirty="0"/>
              <a:t>ระบุข้อโต้แย้งและข้อเท็จจริง</a:t>
            </a:r>
          </a:p>
          <a:p>
            <a:r>
              <a:rPr lang="th-TH" sz="4000" dirty="0"/>
              <a:t>หรือข้อกฎหมายที่อ้างอิงประกอบด้วย</a:t>
            </a:r>
          </a:p>
        </p:txBody>
      </p:sp>
    </p:spTree>
    <p:extLst>
      <p:ext uri="{BB962C8B-B14F-4D97-AF65-F5344CB8AC3E}">
        <p14:creationId xmlns:p14="http://schemas.microsoft.com/office/powerpoint/2010/main" val="14173976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476672"/>
            <a:ext cx="8075240" cy="5997280"/>
          </a:xfr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 algn="thaiDist">
              <a:buNone/>
            </a:pPr>
            <a:r>
              <a:rPr lang="th-TH" sz="5400" dirty="0">
                <a:solidFill>
                  <a:srgbClr val="FF0000"/>
                </a:solidFill>
              </a:rPr>
              <a:t>การอุทธรณ์</a:t>
            </a:r>
            <a:r>
              <a:rPr lang="th-TH" sz="5400" dirty="0"/>
              <a:t>คำสั่งทางปกครอง</a:t>
            </a:r>
            <a:r>
              <a:rPr lang="th-TH" sz="5400" dirty="0">
                <a:solidFill>
                  <a:srgbClr val="FF0000"/>
                </a:solidFill>
              </a:rPr>
              <a:t>ด้วยวาจา</a:t>
            </a:r>
            <a:r>
              <a:rPr lang="th-TH" sz="5400" dirty="0"/>
              <a:t> </a:t>
            </a:r>
          </a:p>
          <a:p>
            <a:pPr marL="0" indent="0" algn="thaiDist">
              <a:buNone/>
            </a:pPr>
            <a:r>
              <a:rPr lang="th-TH" sz="5400" dirty="0"/>
              <a:t>หรือเพียงแต่</a:t>
            </a:r>
            <a:r>
              <a:rPr lang="th-TH" sz="5400" dirty="0">
                <a:solidFill>
                  <a:srgbClr val="FF0000"/>
                </a:solidFill>
              </a:rPr>
              <a:t>ให้ตรวจสอบข้อเท็จจริงใหม่ </a:t>
            </a:r>
          </a:p>
          <a:p>
            <a:pPr marL="0" indent="0" algn="thaiDist">
              <a:buNone/>
            </a:pPr>
            <a:r>
              <a:rPr lang="th-TH" sz="5400" dirty="0">
                <a:solidFill>
                  <a:srgbClr val="FF0000"/>
                </a:solidFill>
              </a:rPr>
              <a:t>ไม่ถือว่าเป็น</a:t>
            </a:r>
            <a:r>
              <a:rPr lang="th-TH" sz="5400" dirty="0"/>
              <a:t>การอุทธรณ์คำสั่งแต่อย่างใด</a:t>
            </a:r>
          </a:p>
          <a:p>
            <a:pPr marL="0" indent="0" algn="thaiDist">
              <a:buNone/>
            </a:pPr>
            <a:endParaRPr lang="th-TH" sz="5400" dirty="0"/>
          </a:p>
          <a:p>
            <a:pPr marL="0" indent="0" algn="thaiDist">
              <a:buNone/>
            </a:pPr>
            <a:r>
              <a:rPr lang="th-TH" sz="5400" dirty="0"/>
              <a:t>เช่น กรณีผู้สมัครสอบคัดเลือกขอทราบผลคะแนนรวมภาควิชาการ</a:t>
            </a:r>
          </a:p>
        </p:txBody>
      </p:sp>
    </p:spTree>
    <p:extLst>
      <p:ext uri="{BB962C8B-B14F-4D97-AF65-F5344CB8AC3E}">
        <p14:creationId xmlns:p14="http://schemas.microsoft.com/office/powerpoint/2010/main" val="31015440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332656"/>
            <a:ext cx="8147248" cy="6141296"/>
          </a:xfrm>
        </p:spPr>
        <p:txBody>
          <a:bodyPr/>
          <a:lstStyle/>
          <a:p>
            <a:pPr marL="0" indent="0">
              <a:buNone/>
            </a:pPr>
            <a:endParaRPr lang="th-TH" dirty="0"/>
          </a:p>
          <a:p>
            <a:pPr marL="0" indent="0">
              <a:buNone/>
            </a:pPr>
            <a:endParaRPr lang="th-TH" dirty="0"/>
          </a:p>
          <a:p>
            <a:pPr marL="0" indent="0">
              <a:buNone/>
            </a:pPr>
            <a:endParaRPr lang="th-TH" dirty="0"/>
          </a:p>
          <a:p>
            <a:pPr marL="0" indent="0">
              <a:buNone/>
            </a:pPr>
            <a:endParaRPr lang="th-TH" dirty="0"/>
          </a:p>
          <a:p>
            <a:pPr marL="0" indent="0">
              <a:buNone/>
            </a:pPr>
            <a:endParaRPr lang="th-TH" dirty="0"/>
          </a:p>
          <a:p>
            <a:pPr marL="0" indent="0">
              <a:buNone/>
            </a:pPr>
            <a:endParaRPr lang="th-TH" dirty="0"/>
          </a:p>
          <a:p>
            <a:pPr marL="0" indent="0">
              <a:buNone/>
            </a:pPr>
            <a:endParaRPr lang="th-TH" dirty="0"/>
          </a:p>
          <a:p>
            <a:pPr marL="0" indent="0">
              <a:buNone/>
            </a:pPr>
            <a:r>
              <a:rPr lang="th-TH" dirty="0"/>
              <a:t>                                                                                   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66064" y="548680"/>
            <a:ext cx="3096344" cy="115212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4000" dirty="0"/>
              <a:t>การพิจารณาอุทธรณ์</a:t>
            </a:r>
          </a:p>
        </p:txBody>
      </p:sp>
      <p:cxnSp>
        <p:nvCxnSpPr>
          <p:cNvPr id="6" name="Straight Connector 5"/>
          <p:cNvCxnSpPr>
            <a:stCxn id="4" idx="2"/>
          </p:cNvCxnSpPr>
          <p:nvPr/>
        </p:nvCxnSpPr>
        <p:spPr>
          <a:xfrm>
            <a:off x="4614236" y="1700808"/>
            <a:ext cx="0" cy="720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2123728" y="2420888"/>
            <a:ext cx="24905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123728" y="2420888"/>
            <a:ext cx="0" cy="6480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55576" y="2744924"/>
            <a:ext cx="2952328" cy="378042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thaiDist"/>
            <a:r>
              <a:rPr lang="th-TH" sz="2400" dirty="0"/>
              <a:t>เจ้าหน้าที่ผู้ทำคำสั่ง พิจารณาโดยไม่ชักช้า ไม่เกิน ๓๐ วันนับแต่วันที่ได้รับอุทธรณ์</a:t>
            </a:r>
          </a:p>
          <a:p>
            <a:pPr algn="thaiDist"/>
            <a:r>
              <a:rPr lang="th-TH" sz="2400" dirty="0"/>
              <a:t>- เห็นด้วยทั้งหมดหรือบางส่วน ดำเนินการเปลี่ยนแปลง</a:t>
            </a:r>
          </a:p>
          <a:p>
            <a:pPr algn="thaiDist"/>
            <a:r>
              <a:rPr lang="th-TH" sz="2400" dirty="0"/>
              <a:t>- ไม่เห็นด้วยรายงานความเห็นพร้อมเหตุผลไปยังผู้มีอำนาจ</a:t>
            </a:r>
          </a:p>
          <a:p>
            <a:pPr algn="thaiDist"/>
            <a:endParaRPr lang="th-TH" sz="1800" dirty="0"/>
          </a:p>
        </p:txBody>
      </p:sp>
      <p:sp>
        <p:nvSpPr>
          <p:cNvPr id="14" name="Rounded Rectangle 13"/>
          <p:cNvSpPr/>
          <p:nvPr/>
        </p:nvSpPr>
        <p:spPr>
          <a:xfrm>
            <a:off x="5580112" y="2744924"/>
            <a:ext cx="2736304" cy="370841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thaiDist"/>
            <a:r>
              <a:rPr lang="th-TH" sz="2400" dirty="0"/>
              <a:t>ผู้มีอำนาจพิจารณาให้แล้วเสร็จภายใน ๓๐ วัน</a:t>
            </a:r>
          </a:p>
          <a:p>
            <a:pPr algn="thaiDist"/>
            <a:r>
              <a:rPr lang="th-TH" sz="2400" dirty="0"/>
              <a:t>** หากมีเหตุจำเป็นไม่แล้วเสร็จ ให้มีหนังสือแจ้งผู้อุทธรณ์ก่อนครบกำหนดเวลาดังกล่าว และให้ขยายระยะเวลาออกไปได้ไม่เกิน ๓๐ วันนับแต่วันครบกำหนด </a:t>
            </a:r>
          </a:p>
          <a:p>
            <a:pPr algn="thaiDist"/>
            <a:r>
              <a:rPr lang="th-TH" sz="2400" dirty="0"/>
              <a:t>(รวมทั้งหมดไม่เกิน ๙๐ วัน) 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851920" y="4221088"/>
            <a:ext cx="1584176" cy="288031"/>
          </a:xfrm>
          <a:prstGeom prst="righ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96737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 algn="thaiDist"/>
            <a:r>
              <a:rPr lang="th-TH" dirty="0">
                <a:solidFill>
                  <a:srgbClr val="C00000"/>
                </a:solidFill>
              </a:rPr>
              <a:t>พ้นระยะเวลาพิจารณาอุทธรณ์ไปแล้ว แต่ผู้มีอำนาจพิจารณาอุทธรณ์ได้มีหนังสือแจ้งผลการพิจารณาอุทธรณ์ให้ผู้อุทธรณ์ทราบภายหลัง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147248" cy="4873752"/>
          </a:xfrm>
        </p:spPr>
        <p:txBody>
          <a:bodyPr>
            <a:noAutofit/>
          </a:bodyPr>
          <a:lstStyle/>
          <a:p>
            <a:pPr marL="0" indent="0" algn="thaiDist">
              <a:buNone/>
            </a:pPr>
            <a:r>
              <a:rPr lang="th-TH" sz="1800" b="1" dirty="0">
                <a:latin typeface="TH SarabunIT๙" pitchFamily="34" charset="-34"/>
                <a:cs typeface="TH SarabunIT๙" pitchFamily="34" charset="-34"/>
              </a:rPr>
              <a:t>คำพิพากษาศาลปกครองสูงสุดที่ อ.1571/2559 </a:t>
            </a:r>
          </a:p>
          <a:p>
            <a:pPr marL="0" indent="0" algn="thaiDist">
              <a:buNone/>
            </a:pPr>
            <a:r>
              <a:rPr lang="th-TH" sz="1800" dirty="0">
                <a:latin typeface="TH SarabunIT๙" pitchFamily="34" charset="-34"/>
                <a:cs typeface="TH SarabunIT๙" pitchFamily="34" charset="-34"/>
              </a:rPr>
              <a:t>คดีนี้ผู้ถูกฟ้องคดี (สำนักงานคณะกรรมการการอาชีวศึกษา) มีคำสั่งลงวันที่ 6 ธันวาคม 2550 ให้ผู้ฟ้องคดีรับผิดชดใช้ค่าสินไหมทดแทนกรณีละเมิดอันเกิดจากการปฏิบัติหน้าที่ ผู้ฟ้องคดีจึงมีหนังสือลงวันที่ 20 ธันวาคม 2550 และลงวันที่ 12 กุมภาพันธ์ 2551 อุทธรณ์คำสั่งต่อผู้ถูกฟ้องคดี ต่อมา รัฐมนตรีว่าการกระทรวงศึกษาธิการในฐานะผู้มีอำนาจพิจารณาอุทธรณ์ได้พิจารณาแล้วมีคำสั่งยกอุทธรณ์ โดยปลัดกระทรวงศึกษาธิการได้มีหนังสือลงวันที่ 21 พฤษภาคม 2552 แจ้งผลการพิจารณาอุทธรณ์ให้ผู้ฟ้องคดีทราบ ผู้ฟ้องคดีเห็นว่าคำสั่งของผู้ถูกฟ้องคดีที่ให้ชดใช้ค่าสินไหมทดแทนไม่ชอบด้วยกฎหมาย จึงนำคดีมาฟ้องในวันที่ 17 สิงหาคม 2552 เพื่อขอให้ศาลปกครองมีคำพิพากษาเพิกถอนคำสั่งดังกล่าว กรณีดังกล่าวถือว่าผู้ฟ้องคดีได้ยื่นฟ้องภายในกำหนดระยะเวลาการฟ้องคดี คือ เก้าสิบวันนับแต่วันที่รู้หรือควรรู้ถึงเหตุแห่งการฟ้องคดีตามมาตรา 49 แห่งพระราชบัญญัติจัดตั้งศาลปกครองและวิธีพิจารณาคดีปกครอง พ.ศ. 2542 หรือไม่ ?</a:t>
            </a:r>
          </a:p>
          <a:p>
            <a:pPr marL="0" indent="0" algn="thaiDist">
              <a:buNone/>
            </a:pPr>
            <a:r>
              <a:rPr lang="th-TH" sz="1800" b="1" dirty="0">
                <a:latin typeface="TH SarabunIT๙" pitchFamily="34" charset="-34"/>
                <a:cs typeface="TH SarabunIT๙" pitchFamily="34" charset="-34"/>
              </a:rPr>
              <a:t>ศาลปกครองสูงสุดวินิจฉัยว่า </a:t>
            </a:r>
            <a:r>
              <a:rPr lang="th-TH" sz="1800" dirty="0">
                <a:latin typeface="TH SarabunIT๙" pitchFamily="34" charset="-34"/>
                <a:cs typeface="TH SarabunIT๙" pitchFamily="34" charset="-34"/>
              </a:rPr>
              <a:t>หนังสือลงวันที่ 20 ธันวาคม 2550 ซึ่งผู้ฟ้องคดีได้ระบุขอคัดสำเนารายงานการสอบสวนทางละเมิดพร้อมพยานหลักฐานเพื่อใช้ในการอุทธรณ์คำสั่งให้ชดใช้ค่าสินไหมทดแทน และขออุทธรณ์คำสั่งโดยจะเสนอข้อเท็จจริงและข้อกฎหมายแก้ข้อกล่าวหาภายในสามสิบวันนับแต่วันที่ได้รับเอกสารครบถ้วน มีลักษณะเป็นการแจ้งความประสงค์ที่จะอุทธรณ์คำสั่งของผู้ถูกฟ้องคดี ส่วนหนังสือลงวันที่ 12 กุมภาพันธ์ 2551 ที่ผู้ฟ้องคดีได้ระบุขอเสนอข้อเท็จจริงและข้อกฎหมายแก้ข้อกล่าวหาซึ่งมีรายละเอียดข้อโต้แย้งทั้งในข้อเท็จจริงและข้อกฎหมาย ถือเป็นคำอุทธรณ์ตามมาตรา 44วรรคสอง แห่งพระราชบัญญัติวิธีปฏิบัติราชการทางปกครอง พ.ศ. 2539 ซึ่งแม้จะไม่ปรากฏข้อเท็จจริงว่าผู้ถูกฟ้องคดีได้รับคำอุทธรณ์ของผู้ฟ้องคดีเมื่อใด แต่เมื่อหนังสืออุทธรณ์ลงวันที่ 12 กุมภาพันธ์ 2551 ระบุว่าเขียนในท้องที่ที่ใกล้เคียงกับสำนักงานของผู้ถูกฟ้องคดี จึงสันนิษฐานได้ว่าผู้ถูกฟ้องคดีได้รับคำอุทธรณ์ภายในวันเดียวกัน คือ วันที่ 12 กุมภาพันธ์ 2551</a:t>
            </a:r>
            <a:endParaRPr lang="th-TH" sz="1800" dirty="0"/>
          </a:p>
        </p:txBody>
      </p:sp>
    </p:spTree>
    <p:extLst>
      <p:ext uri="{BB962C8B-B14F-4D97-AF65-F5344CB8AC3E}">
        <p14:creationId xmlns:p14="http://schemas.microsoft.com/office/powerpoint/2010/main" val="14491384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88640"/>
            <a:ext cx="8219256" cy="6480720"/>
          </a:xfrm>
        </p:spPr>
        <p:txBody>
          <a:bodyPr>
            <a:noAutofit/>
          </a:bodyPr>
          <a:lstStyle/>
          <a:p>
            <a:pPr marL="0" indent="0" algn="thaiDist">
              <a:buNone/>
            </a:pPr>
            <a:r>
              <a:rPr lang="th-TH" sz="1800" dirty="0">
                <a:latin typeface="TH SarabunIT๙" pitchFamily="34" charset="-34"/>
                <a:cs typeface="TH SarabunIT๙" pitchFamily="34" charset="-34"/>
              </a:rPr>
              <a:t>โดยในการพิจารณาอุทธรณ์คำสั่งนั้นมาตรา 45 วรรคหนึ่งและวรรคสอง แห่งพระราชบัญญัติข้างต้น</a:t>
            </a:r>
            <a:r>
              <a:rPr lang="th-TH" sz="1800" u="sng" dirty="0">
                <a:solidFill>
                  <a:srgbClr val="FF0000"/>
                </a:solidFill>
                <a:latin typeface="TH SarabunIT๙" pitchFamily="34" charset="-34"/>
                <a:cs typeface="TH SarabunIT๙" pitchFamily="34" charset="-34"/>
              </a:rPr>
              <a:t>กำหนดให้ผู้มีอำนาจพิจารณาอุทธรณ์จะต้องพิจารณาอุทธรณ์ให้แล้วเสร็จภายในหกสิบวันนับแต่วันที่เจ้าหน้าที่ผู้ทำคำสั่งทางปกครองได้รับคำอุทธรณ์ หากมีเหตุจำเป็นไม่อาจพิจารณาให้แล้วเสร็จภายในกำหนดระยะเวลาดังกล่าว ผู้มีอำนาจพิจารณาอุทธรณ์ต้องมีหนังสือแจ้งให้ผู้อุทธรณ์ทราบก่อนครบกำหนดหกสิบวัน ระยะเวลาการพิจารณาอุทธรณ์จึงจะขยายออกไปอีกสามสิบวันนับแต่วันครบหกสิบวัน</a:t>
            </a:r>
            <a:r>
              <a:rPr lang="th-TH" sz="1800" dirty="0">
                <a:latin typeface="TH SarabunIT๙" pitchFamily="34" charset="-34"/>
                <a:cs typeface="TH SarabunIT๙" pitchFamily="34" charset="-34"/>
              </a:rPr>
              <a:t>เมื่อไม่ปรากฏข้อเท็จจริงว่ารัฐมนตรีว่าการกระทรวงศึกษาธิการซึ่งเป็นผู้มีอำนาจพิจารณาอุทธรณ์ตามมาตรา 45 วรรคสาม แห่งพระราชบัญญัติวิธีปฏิบัติราชการทางปกครอง พ.ศ. 2539ประกอบกับข้อ 2 (5) ของกฎกระทรวง ฉบับที่ 4 (พ.ศ. 2540) ฯ ได้แจ้งเหตุจำเป็นที่ต้องขยายระยะเวลาพิจารณาอุทธรณ์ให้ผู้ฟ้องคดีทราบ จึงต้องถือว่าวันที่ครบหกสิบวัน คือ วันที่ 12 เมษายน 2551 เป็นวันที่ผู้ฟ้องคดีได้ดำเนินการแก้ไขความเดือดร้อนหรือเสียหายครบตามขั้นตอนหรือวิธีการที่กฎหมายกำหนดไว้แล้ว และสามารถใช้สิทธิฟ้องคดีได้ตามมาตรา 42 วรรคสอง แห่งพระราชบัญญัติจัดตั้งศาลปกครองและวิธีพิจารณาคดีปกครอง พ.ศ. 2542 โดยถือว่าวันถัดจากวันครบกำหนดหกสิบวัน คือ วันที่ 13 เมษายน2551 เป็นวันที่ผู้ฟ้องคดีรู้หรือควรรู้ถึงเหตุแห่งการฟ้องคดี และนับเป็นวันแรกที่เริ่มใช้สิทธิฟ้องคดีขอให้ศาลเพิกถอนคำสั่งของผู้ถูกฟ้องคดีได้ ซึ่งผู้ฟ้องคดีต้องยื่นฟ้องภายในเก้าสิบวันนับแต่วันดังกล่าว คือภายในวันที่ 11 กรกฎาคม 2551 ตามมาตรา 49 แห่งพระราชบัญญัติเดียวกัน โดยไม่ต้องรอคำวินิจฉัยอุทธรณ์ของผู้มีอำนาจพิจารณาอุทธรณ์อีกต่อไป </a:t>
            </a:r>
            <a:r>
              <a:rPr lang="th-TH" sz="1800" u="sng" dirty="0">
                <a:solidFill>
                  <a:srgbClr val="FF0000"/>
                </a:solidFill>
                <a:latin typeface="TH SarabunIT๙" pitchFamily="34" charset="-34"/>
                <a:cs typeface="TH SarabunIT๙" pitchFamily="34" charset="-34"/>
              </a:rPr>
              <a:t>การที่ผู้ฟ้องคดีนำคดีมายื่นฟ้องขอให้ศาลเพิกถอนคำสั่งของผู้ถูกฟ้องคดีในวันที่ 17 สิงหาคม 2552 จึงเป็นการยื่นฟ้องเมื่อพ้นกำหนดระยะเวลาตามที่กฎหมายกำหนด</a:t>
            </a:r>
            <a:r>
              <a:rPr lang="th-TH" sz="1800" dirty="0">
                <a:solidFill>
                  <a:srgbClr val="FF0000"/>
                </a:solidFill>
                <a:latin typeface="TH SarabunIT๙" pitchFamily="34" charset="-34"/>
                <a:cs typeface="TH SarabunIT๙" pitchFamily="34" charset="-34"/>
              </a:rPr>
              <a:t>แต่โดยที่</a:t>
            </a:r>
            <a:r>
              <a:rPr lang="th-TH" sz="1800" u="sng" dirty="0">
                <a:solidFill>
                  <a:srgbClr val="FF0000"/>
                </a:solidFill>
                <a:latin typeface="TH SarabunIT๙" pitchFamily="34" charset="-34"/>
                <a:cs typeface="TH SarabunIT๙" pitchFamily="34" charset="-34"/>
              </a:rPr>
              <a:t>ปรากฏข้อเท็จจริงต่อมาว่าปลัดกระทรวงศึกษาธิการได้มีหนังสือลงวันที่ 21พฤษภาคม 2552 แจ้งผู้ฟ้องคดีว่ารัฐมนตรีฯ ซึ่งเป็นผู้มีอำนาจพิจารณาอุทธรณ์ได้วินิจฉัยยกอุทธรณ์</a:t>
            </a:r>
            <a:r>
              <a:rPr lang="th-TH" sz="1800" dirty="0">
                <a:latin typeface="TH SarabunIT๙" pitchFamily="34" charset="-34"/>
                <a:cs typeface="TH SarabunIT๙" pitchFamily="34" charset="-34"/>
              </a:rPr>
              <a:t>พร้อมแจ้งว่าหากผู้ฟ้องคดีไม่พอใจคำวินิจฉัยอุทธรณ์ ผู้ฟ้องคดีอาจฟ้องร้องต่อศาลปกครองได้ภายในเก้าสิบวันนับแต่วันที่ได้รับแจ้งผลการพิจารณาอุทธรณ์นั้น </a:t>
            </a:r>
            <a:r>
              <a:rPr lang="th-TH" sz="1800" u="sng" dirty="0">
                <a:solidFill>
                  <a:srgbClr val="FF0000"/>
                </a:solidFill>
                <a:latin typeface="TH SarabunIT๙" pitchFamily="34" charset="-34"/>
                <a:cs typeface="TH SarabunIT๙" pitchFamily="34" charset="-34"/>
              </a:rPr>
              <a:t>ศาลปกครองสูงสุดวินิจฉัยว่า คำวินิจฉัยอุทธรณ์ดังกล่าวเป็นคำสั่งทางปกครองที่เกิดขึ้นใหม่และมีผลเป็นการยืนยันคำสั่งของผู้ถูกฟ้องคดีที่ให้ผู้ฟ้องคดีรับผิดชดใช้ค่าสินไหมทดแทน</a:t>
            </a:r>
            <a:r>
              <a:rPr lang="th-TH" sz="1800" dirty="0">
                <a:latin typeface="TH SarabunIT๙" pitchFamily="34" charset="-34"/>
                <a:cs typeface="TH SarabunIT๙" pitchFamily="34" charset="-34"/>
              </a:rPr>
              <a:t> แม้คำขอท้ายคำฟ้องจะไม่ได้ระบุขอให้เพิกถอนคำวินิจฉัยอุทธรณ์ก็</a:t>
            </a:r>
            <a:r>
              <a:rPr lang="th-TH" sz="1800" dirty="0">
                <a:solidFill>
                  <a:srgbClr val="FF0000"/>
                </a:solidFill>
                <a:latin typeface="TH SarabunIT๙" pitchFamily="34" charset="-34"/>
                <a:cs typeface="TH SarabunIT๙" pitchFamily="34" charset="-34"/>
              </a:rPr>
              <a:t>ตาม</a:t>
            </a:r>
            <a:r>
              <a:rPr lang="th-TH" sz="1800" u="sng" dirty="0">
                <a:solidFill>
                  <a:srgbClr val="FF0000"/>
                </a:solidFill>
                <a:latin typeface="TH SarabunIT๙" pitchFamily="34" charset="-34"/>
                <a:cs typeface="TH SarabunIT๙" pitchFamily="34" charset="-34"/>
              </a:rPr>
              <a:t>แต่เมื่อผู้ฟ้องคดีได้นำคดีมายื่นฟ้องภายหลังจากที่ได้รับแจ้งคำวินิจฉัยอุทธรณ์แล้ว ย่อมเป็นที่เข้าใจได้ว่าผู้ฟ้องคดีมีความประสงค์ที่จะให้ศาลพิจารณาผลคำวินิจฉัยยกอุทธรณ์ด้วย ซึ่งผู้ฟ้องคดีมีสิทธิฟ้องคดีขอให้ศาลเพิกถอนคำวินิจฉัยอุทธรณ์ได้ภายในเก้าสิบวันนับแต่วันที่ได้รับแจ้งคำวินิจฉัยอุทธรณ์</a:t>
            </a:r>
            <a:r>
              <a:rPr lang="th-TH" sz="1800" dirty="0">
                <a:latin typeface="TH SarabunIT๙" pitchFamily="34" charset="-34"/>
                <a:cs typeface="TH SarabunIT๙" pitchFamily="34" charset="-34"/>
              </a:rPr>
              <a:t>และถึงแม้จะไม่ปรากฏข้อเท็จจริงว่าได้รับแจ้งคำวินิจฉัยอุทธรณ์เมื่อใด แต่ก็พอจะพิจารณาได้ว่าผู้ฟ้องคดีได้รับแจ้งอย่างเร็วที่สุด คือ วันที่ 21 พฤษภาคม 2552 อันเป็นวันที่ลงในหนังสือแจ้งผลการพิจารณาอุทธรณ์ และถือว่าผู้ฟ้องคดีรู้หรือควรรู้ถึงเหตุแห่งการฟ้องคดีอย่างเร็วที่สุดในวันดังกล่าว</a:t>
            </a:r>
          </a:p>
          <a:p>
            <a:pPr marL="0" indent="0" algn="thaiDist">
              <a:buNone/>
            </a:pPr>
            <a:r>
              <a:rPr lang="th-TH" sz="1800" i="1" dirty="0">
                <a:solidFill>
                  <a:srgbClr val="FF0000"/>
                </a:solidFill>
                <a:latin typeface="TH SarabunIT๙" pitchFamily="34" charset="-34"/>
                <a:cs typeface="TH SarabunIT๙" pitchFamily="34" charset="-34"/>
              </a:rPr>
              <a:t>บทความสิทธิฟ้องคดีและคำวินิจฉัยอุทธรณ์ที่แจ้งเมื่อพ้นระยะเวลาพิจารณาอุทธรณ์/</a:t>
            </a:r>
            <a:r>
              <a:rPr lang="en-AU" sz="1800" i="1" dirty="0">
                <a:solidFill>
                  <a:srgbClr val="FF0000"/>
                </a:solidFill>
                <a:latin typeface="TH SarabunIT๙" pitchFamily="34" charset="-34"/>
                <a:cs typeface="TH SarabunIT๙" pitchFamily="34" charset="-34"/>
              </a:rPr>
              <a:t>D: </a:t>
            </a:r>
            <a:r>
              <a:rPr lang="th-TH" sz="1800" i="1" dirty="0">
                <a:solidFill>
                  <a:srgbClr val="FF0000"/>
                </a:solidFill>
                <a:latin typeface="TH SarabunIT๙" pitchFamily="34" charset="-34"/>
                <a:cs typeface="TH SarabunIT๙" pitchFamily="34" charset="-34"/>
              </a:rPr>
              <a:t>จุฑามาศ_</a:t>
            </a:r>
            <a:r>
              <a:rPr lang="th-TH" sz="1800" i="1" dirty="0" err="1">
                <a:solidFill>
                  <a:srgbClr val="FF0000"/>
                </a:solidFill>
                <a:latin typeface="TH SarabunIT๙" pitchFamily="34" charset="-34"/>
                <a:cs typeface="TH SarabunIT๙" pitchFamily="34" charset="-34"/>
              </a:rPr>
              <a:t>จารุณี</a:t>
            </a:r>
            <a:endParaRPr lang="th-TH" sz="1800" i="1" dirty="0">
              <a:solidFill>
                <a:srgbClr val="FF0000"/>
              </a:solidFill>
              <a:latin typeface="TH SarabunIT๙" pitchFamily="34" charset="-34"/>
              <a:cs typeface="TH SarabunIT๙" pitchFamily="34" charset="-34"/>
            </a:endParaRPr>
          </a:p>
          <a:p>
            <a:pPr algn="thaiDist"/>
            <a:endParaRPr lang="th-TH" sz="1800" dirty="0">
              <a:latin typeface="TH SarabunIT๙" pitchFamily="34" charset="-34"/>
              <a:cs typeface="TH SarabunIT๙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828417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th-TH" sz="9600" dirty="0">
              <a:latin typeface="TH SarabunIT๙" pitchFamily="34" charset="-34"/>
              <a:cs typeface="TH SarabunIT๙" pitchFamily="34" charset="-34"/>
            </a:endParaRPr>
          </a:p>
          <a:p>
            <a:pPr marL="0" indent="0" algn="ctr">
              <a:buNone/>
            </a:pPr>
            <a:r>
              <a:rPr lang="th-TH" sz="9600" dirty="0">
                <a:latin typeface="TH SarabunIT๙" pitchFamily="34" charset="-34"/>
                <a:cs typeface="TH SarabunIT๙" pitchFamily="34" charset="-34"/>
              </a:rPr>
              <a:t>จบส่วนที่ ๒</a:t>
            </a:r>
          </a:p>
        </p:txBody>
      </p:sp>
    </p:spTree>
    <p:extLst>
      <p:ext uri="{BB962C8B-B14F-4D97-AF65-F5344CB8AC3E}">
        <p14:creationId xmlns:p14="http://schemas.microsoft.com/office/powerpoint/2010/main" val="25080584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847E1507-CDD9-41DC-98B0-9AE447FD67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3688" y="692696"/>
            <a:ext cx="6172200" cy="1584176"/>
          </a:xfrm>
        </p:spPr>
        <p:txBody>
          <a:bodyPr>
            <a:noAutofit/>
          </a:bodyPr>
          <a:lstStyle/>
          <a:p>
            <a:pPr algn="ctr"/>
            <a:r>
              <a:rPr lang="th-TH" sz="9600" dirty="0">
                <a:solidFill>
                  <a:schemeClr val="tx1"/>
                </a:solidFill>
                <a:latin typeface="TH SarabunIT๙" panose="020B0500040200020003" pitchFamily="34" charset="-34"/>
                <a:cs typeface="TH SarabunIT๙" panose="020B0500040200020003" pitchFamily="34" charset="-34"/>
              </a:rPr>
              <a:t>ส่วนที่ 3</a:t>
            </a:r>
            <a:endParaRPr lang="en-US" sz="9600" dirty="0">
              <a:solidFill>
                <a:schemeClr val="tx1"/>
              </a:solidFill>
              <a:latin typeface="TH SarabunIT๙" panose="020B0500040200020003" pitchFamily="34" charset="-34"/>
              <a:cs typeface="TH SarabunIT๙" panose="020B0500040200020003" pitchFamily="34" charset="-34"/>
            </a:endParaRP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D8F29C11-8F9D-40DC-8C52-A167D23D61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1600" y="2652941"/>
            <a:ext cx="8352928" cy="1944216"/>
          </a:xfrm>
        </p:spPr>
        <p:txBody>
          <a:bodyPr>
            <a:noAutofit/>
          </a:bodyPr>
          <a:lstStyle/>
          <a:p>
            <a:pPr algn="ctr"/>
            <a:r>
              <a:rPr lang="th-TH" sz="4800" dirty="0">
                <a:solidFill>
                  <a:schemeClr val="tx1"/>
                </a:solidFill>
                <a:latin typeface="TH SarabunIT๙" panose="020B0500040200020003" pitchFamily="34" charset="-34"/>
                <a:cs typeface="TH SarabunIT๙" panose="020B0500040200020003" pitchFamily="34" charset="-34"/>
              </a:rPr>
              <a:t>พระราชบัญญัติจัดตั้งศาลปกครอง</a:t>
            </a:r>
          </a:p>
          <a:p>
            <a:pPr algn="ctr"/>
            <a:r>
              <a:rPr lang="th-TH" sz="4800" dirty="0">
                <a:solidFill>
                  <a:schemeClr val="tx1"/>
                </a:solidFill>
                <a:latin typeface="TH SarabunIT๙" panose="020B0500040200020003" pitchFamily="34" charset="-34"/>
                <a:cs typeface="TH SarabunIT๙" panose="020B0500040200020003" pitchFamily="34" charset="-34"/>
              </a:rPr>
              <a:t>และวิธีพิจารณาคดีปกครอง พ.ศ.2542</a:t>
            </a:r>
            <a:endParaRPr lang="en-US" sz="4800" dirty="0">
              <a:solidFill>
                <a:schemeClr val="tx1"/>
              </a:solidFill>
              <a:latin typeface="TH SarabunIT๙" panose="020B0500040200020003" pitchFamily="34" charset="-34"/>
              <a:cs typeface="TH SarabunIT๙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3423443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เฉลียง">
  <a:themeElements>
    <a:clrScheme name="เฉลียง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เฉลียง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เฉลียง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1133</TotalTime>
  <Words>3358</Words>
  <Application>Microsoft Office PowerPoint</Application>
  <PresentationFormat>นำเสนอทางหน้าจอ (4:3)</PresentationFormat>
  <Paragraphs>202</Paragraphs>
  <Slides>45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4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45</vt:i4>
      </vt:variant>
    </vt:vector>
  </HeadingPairs>
  <TitlesOfParts>
    <vt:vector size="50" baseType="lpstr">
      <vt:lpstr>Century Schoolbook</vt:lpstr>
      <vt:lpstr>TH SarabunIT๙</vt:lpstr>
      <vt:lpstr>Wingdings</vt:lpstr>
      <vt:lpstr>Wingdings 2</vt:lpstr>
      <vt:lpstr>เฉลียง</vt:lpstr>
      <vt:lpstr> บทที่ 2 กฎหมายปกครองและการพิจารณาคดีปกครอง</vt:lpstr>
      <vt:lpstr>เนื้อหาในการเรียน มี 3 ส่วน คือ ส่วนที่ 1 หลักการพื้นฐานของกฎหมายปกครอง ส่วนที่ 2 พ.ร.บ.วิธีปฏิบัติราชการทางปกครอง พ.ศ.2539 ส่วนที่ 3 พ.ร.บ.จัดตั้งศาลปกครองและวิธีพิจารณาคดีปกครอง พ.ศ.2542 </vt:lpstr>
      <vt:lpstr>ส่วนที่ 1 หลักการพื้นฐานของกฎหมายปกครอง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1. ฝ่ายปกครองที่ไม่อยู่ในบังคับบัญชาหรือกำกับดูแลของรัฐบาล</vt:lpstr>
      <vt:lpstr>2. ฝ่ายปกครองที่อยู่ในบังคับบัญชาหรือกำกับดูแลของรัฐบาล</vt:lpstr>
      <vt:lpstr>งานนำเสนอ PowerPoint</vt:lpstr>
      <vt:lpstr>ความหมายของการกระทำทางปกครอง</vt:lpstr>
      <vt:lpstr>งานนำเสนอ PowerPoint</vt:lpstr>
      <vt:lpstr>ประเภทของการกระทำทางปกครอง</vt:lpstr>
      <vt:lpstr>งานนำเสนอ PowerPoint</vt:lpstr>
      <vt:lpstr>ส่วนที่ 2 พ.ร.บ.วิธีปฏิบัติราชการทางปกครอง พ.ศ.2539</vt:lpstr>
      <vt:lpstr>** พ.ร.บ.วิธีปฏิบัติราชการทางปกครอง พ.ศ.2539 ใช้บังคับในฐานะที่เป็นกฎหมายกลาง</vt:lpstr>
      <vt:lpstr>ขอบเขตการบังคับใช้กฎหมายว่าด้วยวิธีปฏิบัติราชการทางปกครอง</vt:lpstr>
      <vt:lpstr>งานนำเสนอ PowerPoint</vt:lpstr>
      <vt:lpstr>งานนำเสนอ PowerPoint</vt:lpstr>
      <vt:lpstr>ตัวอย่าง กรณีที่การกระทำของเจ้าหน้าที่มิใช่คำสั่งทางปกครอง ไม่อยู่ในบังคับของ    พ.ร.บ.วิธีปฏิบัติฯ</vt:lpstr>
      <vt:lpstr>งานนำเสนอ PowerPoint</vt:lpstr>
      <vt:lpstr>งานนำเสนอ PowerPoint</vt:lpstr>
      <vt:lpstr>องค์ประกอบของคำสั่งทางปกครอง</vt:lpstr>
      <vt:lpstr>คำสั่งดังนี้เป็นคำสั่งทางปกครองหรือไม่ ?</vt:lpstr>
      <vt:lpstr>งานนำเสนอ PowerPoint</vt:lpstr>
      <vt:lpstr>งานนำเสนอ PowerPoint</vt:lpstr>
      <vt:lpstr>เจ้าหน้าที่ผู้มีอำนาจพิจารณาทางปกครอง</vt:lpstr>
      <vt:lpstr>งานนำเสนอ PowerPoint</vt:lpstr>
      <vt:lpstr>เจ้าหน้าที่ผู้มีอำนาจพิจารณาออกคำสั่งทางปกครองต้องได้รับการแต่งตั้งโดยชอบ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สิทธิของคู่กรณีตาม พ.ร.บ.วิธีปฏิบัติราชการทางปกครอง พ.ศ.2539</vt:lpstr>
      <vt:lpstr>รูปแบบของคำสั่งทางปกครอง</vt:lpstr>
      <vt:lpstr>การอุทธรณ์คำสั่งทางปกครอง</vt:lpstr>
      <vt:lpstr>คำสั่งทางปกครองบางประเภทที่ไม่จำต้องอุทธรณ์ : ฟ้องได้ทันที</vt:lpstr>
      <vt:lpstr>งานนำเสนอ PowerPoint</vt:lpstr>
      <vt:lpstr>รูปแบบของคำอุทธรณ์ มาตรา ๔๔ วรรคสอง</vt:lpstr>
      <vt:lpstr>งานนำเสนอ PowerPoint</vt:lpstr>
      <vt:lpstr>งานนำเสนอ PowerPoint</vt:lpstr>
      <vt:lpstr>พ้นระยะเวลาพิจารณาอุทธรณ์ไปแล้ว แต่ผู้มีอำนาจพิจารณาอุทธรณ์ได้มีหนังสือแจ้งผลการพิจารณาอุทธรณ์ให้ผู้อุทธรณ์ทราบภายหลัง</vt:lpstr>
      <vt:lpstr>งานนำเสนอ PowerPoint</vt:lpstr>
      <vt:lpstr>งานนำเสนอ PowerPoint</vt:lpstr>
      <vt:lpstr>ส่วนที่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บทที่ 2 กฎหมายปกครองและการพิจารณาคดีปกครอง</dc:title>
  <dc:creator>เจมส์</dc:creator>
  <cp:lastModifiedBy>arkaradate anchaleekul</cp:lastModifiedBy>
  <cp:revision>81</cp:revision>
  <cp:lastPrinted>2018-11-27T08:53:15Z</cp:lastPrinted>
  <dcterms:created xsi:type="dcterms:W3CDTF">2018-05-19T08:42:09Z</dcterms:created>
  <dcterms:modified xsi:type="dcterms:W3CDTF">2019-05-04T03:07:06Z</dcterms:modified>
</cp:coreProperties>
</file>