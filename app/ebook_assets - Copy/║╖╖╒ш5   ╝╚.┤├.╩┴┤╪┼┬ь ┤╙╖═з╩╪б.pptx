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393" r:id="rId2"/>
    <p:sldId id="394" r:id="rId3"/>
    <p:sldId id="395" r:id="rId4"/>
    <p:sldId id="39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8" r:id="rId36"/>
    <p:sldId id="287" r:id="rId37"/>
    <p:sldId id="289" r:id="rId38"/>
    <p:sldId id="290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82" r:id="rId70"/>
    <p:sldId id="323" r:id="rId71"/>
    <p:sldId id="324" r:id="rId72"/>
    <p:sldId id="325" r:id="rId73"/>
    <p:sldId id="383" r:id="rId74"/>
    <p:sldId id="384" r:id="rId75"/>
    <p:sldId id="385" r:id="rId76"/>
    <p:sldId id="388" r:id="rId77"/>
    <p:sldId id="386" r:id="rId78"/>
    <p:sldId id="387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4" r:id="rId106"/>
    <p:sldId id="353" r:id="rId107"/>
    <p:sldId id="355" r:id="rId108"/>
    <p:sldId id="356" r:id="rId109"/>
    <p:sldId id="357" r:id="rId110"/>
    <p:sldId id="358" r:id="rId111"/>
    <p:sldId id="359" r:id="rId112"/>
    <p:sldId id="360" r:id="rId113"/>
    <p:sldId id="363" r:id="rId114"/>
    <p:sldId id="361" r:id="rId115"/>
    <p:sldId id="362" r:id="rId116"/>
    <p:sldId id="368" r:id="rId117"/>
    <p:sldId id="364" r:id="rId118"/>
    <p:sldId id="366" r:id="rId119"/>
    <p:sldId id="367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microsoft.com/office/2015/10/relationships/revisionInfo" Target="revisionInfo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C4D25E-E2E5-4F9B-B476-BF2D55B39CD1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910D7E7A-B6AD-4ECE-B464-05E3C789223B}">
      <dgm:prSet phldrT="[ข้อความ]"/>
      <dgm:spPr/>
      <dgm:t>
        <a:bodyPr/>
        <a:lstStyle/>
        <a:p>
          <a:r>
            <a:rPr lang="th-TH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จับกุม </a:t>
          </a:r>
          <a:r>
            <a:rPr lang="en-US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-</a:t>
          </a:r>
          <a:r>
            <a:rPr lang="th-TH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 สอบสวน</a:t>
          </a:r>
        </a:p>
      </dgm:t>
    </dgm:pt>
    <dgm:pt modelId="{1162763C-A116-4F7D-93D4-A48DE1D92573}" type="parTrans" cxnId="{4A8C4DB8-5186-4822-9084-9571296FE814}">
      <dgm:prSet/>
      <dgm:spPr/>
      <dgm:t>
        <a:bodyPr/>
        <a:lstStyle/>
        <a:p>
          <a:endParaRPr lang="th-TH"/>
        </a:p>
      </dgm:t>
    </dgm:pt>
    <dgm:pt modelId="{F0173852-D3B7-4D47-B7EE-41BAA4F53E07}" type="sibTrans" cxnId="{4A8C4DB8-5186-4822-9084-9571296FE814}">
      <dgm:prSet/>
      <dgm:spPr/>
      <dgm:t>
        <a:bodyPr/>
        <a:lstStyle/>
        <a:p>
          <a:endParaRPr lang="th-TH"/>
        </a:p>
      </dgm:t>
    </dgm:pt>
    <dgm:pt modelId="{EF5AA391-14BE-43E0-913E-CB76B8503055}">
      <dgm:prSet phldrT="[ข้อความ]"/>
      <dgm:spPr/>
      <dgm:t>
        <a:bodyPr/>
        <a:lstStyle/>
        <a:p>
          <a:r>
            <a:rPr lang="th-TH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ฟ้องคดี</a:t>
          </a:r>
        </a:p>
      </dgm:t>
    </dgm:pt>
    <dgm:pt modelId="{68933AA9-BCB3-42EF-AE83-8CAC90EBE558}" type="parTrans" cxnId="{78917EB7-F796-4C51-81C9-0120F5289648}">
      <dgm:prSet/>
      <dgm:spPr/>
      <dgm:t>
        <a:bodyPr/>
        <a:lstStyle/>
        <a:p>
          <a:endParaRPr lang="th-TH"/>
        </a:p>
      </dgm:t>
    </dgm:pt>
    <dgm:pt modelId="{2539A3F4-2320-4609-A1E7-4E73E604E1EC}" type="sibTrans" cxnId="{78917EB7-F796-4C51-81C9-0120F5289648}">
      <dgm:prSet/>
      <dgm:spPr/>
      <dgm:t>
        <a:bodyPr/>
        <a:lstStyle/>
        <a:p>
          <a:endParaRPr lang="th-TH"/>
        </a:p>
      </dgm:t>
    </dgm:pt>
    <dgm:pt modelId="{17BE4050-CFBD-450A-9D92-C2BB2B8C82F7}">
      <dgm:prSet phldrT="[ข้อความ]"/>
      <dgm:spPr/>
      <dgm:t>
        <a:bodyPr/>
        <a:lstStyle/>
        <a:p>
          <a:r>
            <a:rPr lang="th-TH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ลงโทษ</a:t>
          </a:r>
        </a:p>
      </dgm:t>
    </dgm:pt>
    <dgm:pt modelId="{ADD715D2-B212-4942-AA4B-6640866EE957}" type="parTrans" cxnId="{AD5F6C3B-A094-4C39-8FB4-33D120D8FAD9}">
      <dgm:prSet/>
      <dgm:spPr/>
      <dgm:t>
        <a:bodyPr/>
        <a:lstStyle/>
        <a:p>
          <a:endParaRPr lang="th-TH"/>
        </a:p>
      </dgm:t>
    </dgm:pt>
    <dgm:pt modelId="{7938F687-42E3-40B0-88D4-DFA32F86EB34}" type="sibTrans" cxnId="{AD5F6C3B-A094-4C39-8FB4-33D120D8FAD9}">
      <dgm:prSet/>
      <dgm:spPr/>
      <dgm:t>
        <a:bodyPr/>
        <a:lstStyle/>
        <a:p>
          <a:endParaRPr lang="th-TH"/>
        </a:p>
      </dgm:t>
    </dgm:pt>
    <dgm:pt modelId="{30DC14BA-1B8B-4E1C-BB79-D0E10EF37049}">
      <dgm:prSet phldrT="[ข้อความ]"/>
      <dgm:spPr/>
      <dgm:t>
        <a:bodyPr/>
        <a:lstStyle/>
        <a:p>
          <a:r>
            <a:rPr lang="th-TH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พิจารณาตัดสิน</a:t>
          </a:r>
        </a:p>
      </dgm:t>
    </dgm:pt>
    <dgm:pt modelId="{E17D95B4-42CE-4900-8B9D-7F4353FD9466}" type="parTrans" cxnId="{29D146B7-6F73-47BC-A52F-8B590C62302D}">
      <dgm:prSet/>
      <dgm:spPr/>
      <dgm:t>
        <a:bodyPr/>
        <a:lstStyle/>
        <a:p>
          <a:endParaRPr lang="th-TH"/>
        </a:p>
      </dgm:t>
    </dgm:pt>
    <dgm:pt modelId="{1DCCFF86-279A-4F1D-AE4C-5B143D3BC2F6}" type="sibTrans" cxnId="{29D146B7-6F73-47BC-A52F-8B590C62302D}">
      <dgm:prSet/>
      <dgm:spPr/>
      <dgm:t>
        <a:bodyPr/>
        <a:lstStyle/>
        <a:p>
          <a:endParaRPr lang="th-TH"/>
        </a:p>
      </dgm:t>
    </dgm:pt>
    <dgm:pt modelId="{E0BFFA79-13FB-42F9-8C47-EF389C9CD44B}" type="pres">
      <dgm:prSet presAssocID="{8CC4D25E-E2E5-4F9B-B476-BF2D55B39CD1}" presName="Name0" presStyleCnt="0">
        <dgm:presLayoutVars>
          <dgm:dir/>
          <dgm:resizeHandles val="exact"/>
        </dgm:presLayoutVars>
      </dgm:prSet>
      <dgm:spPr/>
    </dgm:pt>
    <dgm:pt modelId="{8BA5F769-0EC6-46AE-ADA2-B7474BCB92C3}" type="pres">
      <dgm:prSet presAssocID="{910D7E7A-B6AD-4ECE-B464-05E3C789223B}" presName="node" presStyleLbl="node1" presStyleIdx="0" presStyleCnt="4">
        <dgm:presLayoutVars>
          <dgm:bulletEnabled val="1"/>
        </dgm:presLayoutVars>
      </dgm:prSet>
      <dgm:spPr/>
    </dgm:pt>
    <dgm:pt modelId="{0D424937-C364-43EF-8C95-FAA718D23F46}" type="pres">
      <dgm:prSet presAssocID="{F0173852-D3B7-4D47-B7EE-41BAA4F53E07}" presName="sibTrans" presStyleLbl="sibTrans2D1" presStyleIdx="0" presStyleCnt="3"/>
      <dgm:spPr/>
    </dgm:pt>
    <dgm:pt modelId="{A85F9AED-9322-48B2-AC93-A5720F8E5B5E}" type="pres">
      <dgm:prSet presAssocID="{F0173852-D3B7-4D47-B7EE-41BAA4F53E07}" presName="connectorText" presStyleLbl="sibTrans2D1" presStyleIdx="0" presStyleCnt="3"/>
      <dgm:spPr/>
    </dgm:pt>
    <dgm:pt modelId="{D1A07F84-A0AE-4038-8AA0-560AFBA46D9D}" type="pres">
      <dgm:prSet presAssocID="{EF5AA391-14BE-43E0-913E-CB76B8503055}" presName="node" presStyleLbl="node1" presStyleIdx="1" presStyleCnt="4">
        <dgm:presLayoutVars>
          <dgm:bulletEnabled val="1"/>
        </dgm:presLayoutVars>
      </dgm:prSet>
      <dgm:spPr/>
    </dgm:pt>
    <dgm:pt modelId="{AE9A2805-1F33-4F13-B9F0-701A1C182E26}" type="pres">
      <dgm:prSet presAssocID="{2539A3F4-2320-4609-A1E7-4E73E604E1EC}" presName="sibTrans" presStyleLbl="sibTrans2D1" presStyleIdx="1" presStyleCnt="3"/>
      <dgm:spPr/>
    </dgm:pt>
    <dgm:pt modelId="{40DABFEF-A19E-4C0B-B645-740B8BC1AB34}" type="pres">
      <dgm:prSet presAssocID="{2539A3F4-2320-4609-A1E7-4E73E604E1EC}" presName="connectorText" presStyleLbl="sibTrans2D1" presStyleIdx="1" presStyleCnt="3"/>
      <dgm:spPr/>
    </dgm:pt>
    <dgm:pt modelId="{032BF000-91BE-47B7-8420-D8836B057F31}" type="pres">
      <dgm:prSet presAssocID="{30DC14BA-1B8B-4E1C-BB79-D0E10EF37049}" presName="node" presStyleLbl="node1" presStyleIdx="2" presStyleCnt="4">
        <dgm:presLayoutVars>
          <dgm:bulletEnabled val="1"/>
        </dgm:presLayoutVars>
      </dgm:prSet>
      <dgm:spPr/>
    </dgm:pt>
    <dgm:pt modelId="{0C901CBE-145C-4723-B385-896885747AE3}" type="pres">
      <dgm:prSet presAssocID="{1DCCFF86-279A-4F1D-AE4C-5B143D3BC2F6}" presName="sibTrans" presStyleLbl="sibTrans2D1" presStyleIdx="2" presStyleCnt="3"/>
      <dgm:spPr/>
    </dgm:pt>
    <dgm:pt modelId="{B46B642F-9C02-4973-8A78-24979F9303D0}" type="pres">
      <dgm:prSet presAssocID="{1DCCFF86-279A-4F1D-AE4C-5B143D3BC2F6}" presName="connectorText" presStyleLbl="sibTrans2D1" presStyleIdx="2" presStyleCnt="3"/>
      <dgm:spPr/>
    </dgm:pt>
    <dgm:pt modelId="{59ED9EE2-0DF7-4A32-ACF7-688CB1C63FF6}" type="pres">
      <dgm:prSet presAssocID="{17BE4050-CFBD-450A-9D92-C2BB2B8C82F7}" presName="node" presStyleLbl="node1" presStyleIdx="3" presStyleCnt="4" custLinFactNeighborX="9927" custLinFactNeighborY="3160">
        <dgm:presLayoutVars>
          <dgm:bulletEnabled val="1"/>
        </dgm:presLayoutVars>
      </dgm:prSet>
      <dgm:spPr/>
    </dgm:pt>
  </dgm:ptLst>
  <dgm:cxnLst>
    <dgm:cxn modelId="{DC1AF409-1384-4E31-A5CB-EA0C8FF7A2D7}" type="presOf" srcId="{2539A3F4-2320-4609-A1E7-4E73E604E1EC}" destId="{AE9A2805-1F33-4F13-B9F0-701A1C182E26}" srcOrd="0" destOrd="0" presId="urn:microsoft.com/office/officeart/2005/8/layout/process1"/>
    <dgm:cxn modelId="{CE3BB71A-38A8-4FDD-96A0-912EC21BAA9C}" type="presOf" srcId="{17BE4050-CFBD-450A-9D92-C2BB2B8C82F7}" destId="{59ED9EE2-0DF7-4A32-ACF7-688CB1C63FF6}" srcOrd="0" destOrd="0" presId="urn:microsoft.com/office/officeart/2005/8/layout/process1"/>
    <dgm:cxn modelId="{AD5F6C3B-A094-4C39-8FB4-33D120D8FAD9}" srcId="{8CC4D25E-E2E5-4F9B-B476-BF2D55B39CD1}" destId="{17BE4050-CFBD-450A-9D92-C2BB2B8C82F7}" srcOrd="3" destOrd="0" parTransId="{ADD715D2-B212-4942-AA4B-6640866EE957}" sibTransId="{7938F687-42E3-40B0-88D4-DFA32F86EB34}"/>
    <dgm:cxn modelId="{10E4956F-D20A-49BD-924A-BAE3FFDFA7A4}" type="presOf" srcId="{30DC14BA-1B8B-4E1C-BB79-D0E10EF37049}" destId="{032BF000-91BE-47B7-8420-D8836B057F31}" srcOrd="0" destOrd="0" presId="urn:microsoft.com/office/officeart/2005/8/layout/process1"/>
    <dgm:cxn modelId="{BCD91953-D5E5-4968-A3A7-4599F6758653}" type="presOf" srcId="{1DCCFF86-279A-4F1D-AE4C-5B143D3BC2F6}" destId="{0C901CBE-145C-4723-B385-896885747AE3}" srcOrd="0" destOrd="0" presId="urn:microsoft.com/office/officeart/2005/8/layout/process1"/>
    <dgm:cxn modelId="{77A17474-121C-4067-AECE-32ACE45186F9}" type="presOf" srcId="{F0173852-D3B7-4D47-B7EE-41BAA4F53E07}" destId="{0D424937-C364-43EF-8C95-FAA718D23F46}" srcOrd="0" destOrd="0" presId="urn:microsoft.com/office/officeart/2005/8/layout/process1"/>
    <dgm:cxn modelId="{8E1A178C-F0B6-4A06-81DF-3C37FFD4B2DF}" type="presOf" srcId="{1DCCFF86-279A-4F1D-AE4C-5B143D3BC2F6}" destId="{B46B642F-9C02-4973-8A78-24979F9303D0}" srcOrd="1" destOrd="0" presId="urn:microsoft.com/office/officeart/2005/8/layout/process1"/>
    <dgm:cxn modelId="{7CB5748C-7201-40B8-A8F8-8C66FB0AA39C}" type="presOf" srcId="{EF5AA391-14BE-43E0-913E-CB76B8503055}" destId="{D1A07F84-A0AE-4038-8AA0-560AFBA46D9D}" srcOrd="0" destOrd="0" presId="urn:microsoft.com/office/officeart/2005/8/layout/process1"/>
    <dgm:cxn modelId="{181CCC9C-9B8E-4BBA-AEC0-62B91014B72E}" type="presOf" srcId="{910D7E7A-B6AD-4ECE-B464-05E3C789223B}" destId="{8BA5F769-0EC6-46AE-ADA2-B7474BCB92C3}" srcOrd="0" destOrd="0" presId="urn:microsoft.com/office/officeart/2005/8/layout/process1"/>
    <dgm:cxn modelId="{102FAEAF-41AA-4EE9-99E7-64524155EF12}" type="presOf" srcId="{2539A3F4-2320-4609-A1E7-4E73E604E1EC}" destId="{40DABFEF-A19E-4C0B-B645-740B8BC1AB34}" srcOrd="1" destOrd="0" presId="urn:microsoft.com/office/officeart/2005/8/layout/process1"/>
    <dgm:cxn modelId="{29D146B7-6F73-47BC-A52F-8B590C62302D}" srcId="{8CC4D25E-E2E5-4F9B-B476-BF2D55B39CD1}" destId="{30DC14BA-1B8B-4E1C-BB79-D0E10EF37049}" srcOrd="2" destOrd="0" parTransId="{E17D95B4-42CE-4900-8B9D-7F4353FD9466}" sibTransId="{1DCCFF86-279A-4F1D-AE4C-5B143D3BC2F6}"/>
    <dgm:cxn modelId="{78917EB7-F796-4C51-81C9-0120F5289648}" srcId="{8CC4D25E-E2E5-4F9B-B476-BF2D55B39CD1}" destId="{EF5AA391-14BE-43E0-913E-CB76B8503055}" srcOrd="1" destOrd="0" parTransId="{68933AA9-BCB3-42EF-AE83-8CAC90EBE558}" sibTransId="{2539A3F4-2320-4609-A1E7-4E73E604E1EC}"/>
    <dgm:cxn modelId="{4A8C4DB8-5186-4822-9084-9571296FE814}" srcId="{8CC4D25E-E2E5-4F9B-B476-BF2D55B39CD1}" destId="{910D7E7A-B6AD-4ECE-B464-05E3C789223B}" srcOrd="0" destOrd="0" parTransId="{1162763C-A116-4F7D-93D4-A48DE1D92573}" sibTransId="{F0173852-D3B7-4D47-B7EE-41BAA4F53E07}"/>
    <dgm:cxn modelId="{406A2CC2-C613-4B1A-9E5B-730A4CCD1BC5}" type="presOf" srcId="{F0173852-D3B7-4D47-B7EE-41BAA4F53E07}" destId="{A85F9AED-9322-48B2-AC93-A5720F8E5B5E}" srcOrd="1" destOrd="0" presId="urn:microsoft.com/office/officeart/2005/8/layout/process1"/>
    <dgm:cxn modelId="{63A900E6-144E-4BD2-B682-9385311F9DC6}" type="presOf" srcId="{8CC4D25E-E2E5-4F9B-B476-BF2D55B39CD1}" destId="{E0BFFA79-13FB-42F9-8C47-EF389C9CD44B}" srcOrd="0" destOrd="0" presId="urn:microsoft.com/office/officeart/2005/8/layout/process1"/>
    <dgm:cxn modelId="{D83FA2B8-E91B-4B8C-9C6B-C74640478583}" type="presParOf" srcId="{E0BFFA79-13FB-42F9-8C47-EF389C9CD44B}" destId="{8BA5F769-0EC6-46AE-ADA2-B7474BCB92C3}" srcOrd="0" destOrd="0" presId="urn:microsoft.com/office/officeart/2005/8/layout/process1"/>
    <dgm:cxn modelId="{21504FB3-ABDC-4C76-82C2-AC524599E510}" type="presParOf" srcId="{E0BFFA79-13FB-42F9-8C47-EF389C9CD44B}" destId="{0D424937-C364-43EF-8C95-FAA718D23F46}" srcOrd="1" destOrd="0" presId="urn:microsoft.com/office/officeart/2005/8/layout/process1"/>
    <dgm:cxn modelId="{2DFDD802-93FE-4F44-8708-3FE7E3AE55CD}" type="presParOf" srcId="{0D424937-C364-43EF-8C95-FAA718D23F46}" destId="{A85F9AED-9322-48B2-AC93-A5720F8E5B5E}" srcOrd="0" destOrd="0" presId="urn:microsoft.com/office/officeart/2005/8/layout/process1"/>
    <dgm:cxn modelId="{D679C96E-5D98-45D5-95B7-9D859319547A}" type="presParOf" srcId="{E0BFFA79-13FB-42F9-8C47-EF389C9CD44B}" destId="{D1A07F84-A0AE-4038-8AA0-560AFBA46D9D}" srcOrd="2" destOrd="0" presId="urn:microsoft.com/office/officeart/2005/8/layout/process1"/>
    <dgm:cxn modelId="{A7E6ACDD-222A-45EE-B548-13A5D3FF3ED0}" type="presParOf" srcId="{E0BFFA79-13FB-42F9-8C47-EF389C9CD44B}" destId="{AE9A2805-1F33-4F13-B9F0-701A1C182E26}" srcOrd="3" destOrd="0" presId="urn:microsoft.com/office/officeart/2005/8/layout/process1"/>
    <dgm:cxn modelId="{BD30F766-4AB6-4FD5-98A8-12F43F02ECBF}" type="presParOf" srcId="{AE9A2805-1F33-4F13-B9F0-701A1C182E26}" destId="{40DABFEF-A19E-4C0B-B645-740B8BC1AB34}" srcOrd="0" destOrd="0" presId="urn:microsoft.com/office/officeart/2005/8/layout/process1"/>
    <dgm:cxn modelId="{554E027A-103C-4AED-8741-68F96F7860BB}" type="presParOf" srcId="{E0BFFA79-13FB-42F9-8C47-EF389C9CD44B}" destId="{032BF000-91BE-47B7-8420-D8836B057F31}" srcOrd="4" destOrd="0" presId="urn:microsoft.com/office/officeart/2005/8/layout/process1"/>
    <dgm:cxn modelId="{EF14CEC5-EF97-46D7-B2C4-76A641EADE86}" type="presParOf" srcId="{E0BFFA79-13FB-42F9-8C47-EF389C9CD44B}" destId="{0C901CBE-145C-4723-B385-896885747AE3}" srcOrd="5" destOrd="0" presId="urn:microsoft.com/office/officeart/2005/8/layout/process1"/>
    <dgm:cxn modelId="{DAACE91C-A28A-4461-99A0-66EAAF9CC24D}" type="presParOf" srcId="{0C901CBE-145C-4723-B385-896885747AE3}" destId="{B46B642F-9C02-4973-8A78-24979F9303D0}" srcOrd="0" destOrd="0" presId="urn:microsoft.com/office/officeart/2005/8/layout/process1"/>
    <dgm:cxn modelId="{B581F7E7-3714-4978-94FE-3964AA6AA208}" type="presParOf" srcId="{E0BFFA79-13FB-42F9-8C47-EF389C9CD44B}" destId="{59ED9EE2-0DF7-4A32-ACF7-688CB1C63FF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556D4-1D4F-4E5D-A3BB-A52BF69D4036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577BE3AE-42A5-4A3A-924E-E92D4A90031A}">
      <dgm:prSet phldrT="[ข้อความ]"/>
      <dgm:spPr/>
      <dgm:t>
        <a:bodyPr/>
        <a:lstStyle/>
        <a:p>
          <a:r>
            <a:rPr lang="th-TH" b="1" dirty="0">
              <a:latin typeface="Angsana New" pitchFamily="18" charset="-34"/>
              <a:cs typeface="Angsana New" pitchFamily="18" charset="-34"/>
            </a:rPr>
            <a:t>ฟ้องคดี</a:t>
          </a:r>
        </a:p>
      </dgm:t>
    </dgm:pt>
    <dgm:pt modelId="{25C6CDF3-FEF5-4D10-9AF6-F6D785010699}" type="parTrans" cxnId="{041D5BE4-09DD-4688-9C7D-471B8FB4DB6B}">
      <dgm:prSet/>
      <dgm:spPr/>
      <dgm:t>
        <a:bodyPr/>
        <a:lstStyle/>
        <a:p>
          <a:endParaRPr lang="th-TH"/>
        </a:p>
      </dgm:t>
    </dgm:pt>
    <dgm:pt modelId="{6E126C02-15CE-4E36-AB5E-5550AC69A5B8}" type="sibTrans" cxnId="{041D5BE4-09DD-4688-9C7D-471B8FB4DB6B}">
      <dgm:prSet/>
      <dgm:spPr/>
      <dgm:t>
        <a:bodyPr/>
        <a:lstStyle/>
        <a:p>
          <a:endParaRPr lang="th-TH"/>
        </a:p>
      </dgm:t>
    </dgm:pt>
    <dgm:pt modelId="{8018A491-406F-416B-830D-E050678E0C99}">
      <dgm:prSet phldrT="[ข้อความ]"/>
      <dgm:spPr/>
      <dgm:t>
        <a:bodyPr/>
        <a:lstStyle/>
        <a:p>
          <a:r>
            <a:rPr lang="th-TH" b="1">
              <a:latin typeface="Angsana New" pitchFamily="18" charset="-34"/>
              <a:cs typeface="Angsana New" pitchFamily="18" charset="-34"/>
            </a:rPr>
            <a:t>พิจารณาตัดสิน</a:t>
          </a:r>
          <a:endParaRPr lang="th-TH" b="1" dirty="0">
            <a:latin typeface="Angsana New" pitchFamily="18" charset="-34"/>
            <a:cs typeface="Angsana New" pitchFamily="18" charset="-34"/>
          </a:endParaRPr>
        </a:p>
      </dgm:t>
    </dgm:pt>
    <dgm:pt modelId="{DC7C7DE2-020A-42E9-979A-6E145BD621D7}" type="parTrans" cxnId="{5374A41C-BF34-494F-84A2-17F88F8B7291}">
      <dgm:prSet/>
      <dgm:spPr/>
      <dgm:t>
        <a:bodyPr/>
        <a:lstStyle/>
        <a:p>
          <a:endParaRPr lang="th-TH"/>
        </a:p>
      </dgm:t>
    </dgm:pt>
    <dgm:pt modelId="{7589ED57-C93C-4D74-914E-318C18EFFE62}" type="sibTrans" cxnId="{5374A41C-BF34-494F-84A2-17F88F8B7291}">
      <dgm:prSet/>
      <dgm:spPr/>
      <dgm:t>
        <a:bodyPr/>
        <a:lstStyle/>
        <a:p>
          <a:endParaRPr lang="th-TH"/>
        </a:p>
      </dgm:t>
    </dgm:pt>
    <dgm:pt modelId="{9D022B5E-8FED-4EE2-B28A-82FF51F37B1A}">
      <dgm:prSet phldrT="[ข้อความ]"/>
      <dgm:spPr/>
      <dgm:t>
        <a:bodyPr/>
        <a:lstStyle/>
        <a:p>
          <a:r>
            <a:rPr lang="th-TH" b="1">
              <a:latin typeface="Angsana New" pitchFamily="18" charset="-34"/>
              <a:cs typeface="Angsana New" pitchFamily="18" charset="-34"/>
            </a:rPr>
            <a:t>บังคับคดี</a:t>
          </a:r>
          <a:endParaRPr lang="th-TH" b="1" dirty="0">
            <a:latin typeface="Angsana New" pitchFamily="18" charset="-34"/>
            <a:cs typeface="Angsana New" pitchFamily="18" charset="-34"/>
          </a:endParaRPr>
        </a:p>
      </dgm:t>
    </dgm:pt>
    <dgm:pt modelId="{88E18A9B-6D92-4F50-B350-E3A5E9474267}" type="parTrans" cxnId="{6FDEB49E-001D-48A0-BF3A-00C1FA931BC6}">
      <dgm:prSet/>
      <dgm:spPr/>
      <dgm:t>
        <a:bodyPr/>
        <a:lstStyle/>
        <a:p>
          <a:endParaRPr lang="th-TH"/>
        </a:p>
      </dgm:t>
    </dgm:pt>
    <dgm:pt modelId="{F9691C39-A920-41B4-9FCD-4063864EBEE6}" type="sibTrans" cxnId="{6FDEB49E-001D-48A0-BF3A-00C1FA931BC6}">
      <dgm:prSet/>
      <dgm:spPr/>
      <dgm:t>
        <a:bodyPr/>
        <a:lstStyle/>
        <a:p>
          <a:endParaRPr lang="th-TH"/>
        </a:p>
      </dgm:t>
    </dgm:pt>
    <dgm:pt modelId="{24BBEC6B-540F-4438-A0E4-54B9D1CDA1B5}" type="pres">
      <dgm:prSet presAssocID="{13C556D4-1D4F-4E5D-A3BB-A52BF69D4036}" presName="Name0" presStyleCnt="0">
        <dgm:presLayoutVars>
          <dgm:dir/>
          <dgm:resizeHandles val="exact"/>
        </dgm:presLayoutVars>
      </dgm:prSet>
      <dgm:spPr/>
    </dgm:pt>
    <dgm:pt modelId="{AE58A976-6327-4EA5-950A-A42DE8C890BC}" type="pres">
      <dgm:prSet presAssocID="{577BE3AE-42A5-4A3A-924E-E92D4A90031A}" presName="node" presStyleLbl="node1" presStyleIdx="0" presStyleCnt="3">
        <dgm:presLayoutVars>
          <dgm:bulletEnabled val="1"/>
        </dgm:presLayoutVars>
      </dgm:prSet>
      <dgm:spPr/>
    </dgm:pt>
    <dgm:pt modelId="{79550150-F129-493D-8A28-279E68228724}" type="pres">
      <dgm:prSet presAssocID="{6E126C02-15CE-4E36-AB5E-5550AC69A5B8}" presName="sibTrans" presStyleLbl="sibTrans2D1" presStyleIdx="0" presStyleCnt="2"/>
      <dgm:spPr/>
    </dgm:pt>
    <dgm:pt modelId="{B63A910E-5E5C-4D56-87AF-C2CC89FC7A0F}" type="pres">
      <dgm:prSet presAssocID="{6E126C02-15CE-4E36-AB5E-5550AC69A5B8}" presName="connectorText" presStyleLbl="sibTrans2D1" presStyleIdx="0" presStyleCnt="2"/>
      <dgm:spPr/>
    </dgm:pt>
    <dgm:pt modelId="{E4804DC4-A712-4FAF-94B7-12EE4A0D94FE}" type="pres">
      <dgm:prSet presAssocID="{8018A491-406F-416B-830D-E050678E0C99}" presName="node" presStyleLbl="node1" presStyleIdx="1" presStyleCnt="3">
        <dgm:presLayoutVars>
          <dgm:bulletEnabled val="1"/>
        </dgm:presLayoutVars>
      </dgm:prSet>
      <dgm:spPr/>
    </dgm:pt>
    <dgm:pt modelId="{94230DCE-0DA6-46F0-861B-D9BF1E5A7998}" type="pres">
      <dgm:prSet presAssocID="{7589ED57-C93C-4D74-914E-318C18EFFE62}" presName="sibTrans" presStyleLbl="sibTrans2D1" presStyleIdx="1" presStyleCnt="2"/>
      <dgm:spPr/>
    </dgm:pt>
    <dgm:pt modelId="{12FE9F69-219E-4137-9ADC-7C7FF679297E}" type="pres">
      <dgm:prSet presAssocID="{7589ED57-C93C-4D74-914E-318C18EFFE62}" presName="connectorText" presStyleLbl="sibTrans2D1" presStyleIdx="1" presStyleCnt="2"/>
      <dgm:spPr/>
    </dgm:pt>
    <dgm:pt modelId="{810A5DDE-5C73-40E2-889A-94113E28C42B}" type="pres">
      <dgm:prSet presAssocID="{9D022B5E-8FED-4EE2-B28A-82FF51F37B1A}" presName="node" presStyleLbl="node1" presStyleIdx="2" presStyleCnt="3">
        <dgm:presLayoutVars>
          <dgm:bulletEnabled val="1"/>
        </dgm:presLayoutVars>
      </dgm:prSet>
      <dgm:spPr/>
    </dgm:pt>
  </dgm:ptLst>
  <dgm:cxnLst>
    <dgm:cxn modelId="{3FFBDC0E-842A-49DD-BF76-F5DC79724902}" type="presOf" srcId="{13C556D4-1D4F-4E5D-A3BB-A52BF69D4036}" destId="{24BBEC6B-540F-4438-A0E4-54B9D1CDA1B5}" srcOrd="0" destOrd="0" presId="urn:microsoft.com/office/officeart/2005/8/layout/process1"/>
    <dgm:cxn modelId="{5374A41C-BF34-494F-84A2-17F88F8B7291}" srcId="{13C556D4-1D4F-4E5D-A3BB-A52BF69D4036}" destId="{8018A491-406F-416B-830D-E050678E0C99}" srcOrd="1" destOrd="0" parTransId="{DC7C7DE2-020A-42E9-979A-6E145BD621D7}" sibTransId="{7589ED57-C93C-4D74-914E-318C18EFFE62}"/>
    <dgm:cxn modelId="{FA2B7823-EF60-4E62-9BCA-3974987E4787}" type="presOf" srcId="{6E126C02-15CE-4E36-AB5E-5550AC69A5B8}" destId="{B63A910E-5E5C-4D56-87AF-C2CC89FC7A0F}" srcOrd="1" destOrd="0" presId="urn:microsoft.com/office/officeart/2005/8/layout/process1"/>
    <dgm:cxn modelId="{61FC6E2D-5F7B-49E8-A014-C112F662BEDB}" type="presOf" srcId="{7589ED57-C93C-4D74-914E-318C18EFFE62}" destId="{94230DCE-0DA6-46F0-861B-D9BF1E5A7998}" srcOrd="0" destOrd="0" presId="urn:microsoft.com/office/officeart/2005/8/layout/process1"/>
    <dgm:cxn modelId="{F7FED53B-BF21-4BA1-B8B1-4E3FD7B0202A}" type="presOf" srcId="{577BE3AE-42A5-4A3A-924E-E92D4A90031A}" destId="{AE58A976-6327-4EA5-950A-A42DE8C890BC}" srcOrd="0" destOrd="0" presId="urn:microsoft.com/office/officeart/2005/8/layout/process1"/>
    <dgm:cxn modelId="{FEFC0551-8B04-431C-9F8F-F60D9732C8AA}" type="presOf" srcId="{6E126C02-15CE-4E36-AB5E-5550AC69A5B8}" destId="{79550150-F129-493D-8A28-279E68228724}" srcOrd="0" destOrd="0" presId="urn:microsoft.com/office/officeart/2005/8/layout/process1"/>
    <dgm:cxn modelId="{D2DD457F-8474-440A-AC29-2C1016FE2E84}" type="presOf" srcId="{8018A491-406F-416B-830D-E050678E0C99}" destId="{E4804DC4-A712-4FAF-94B7-12EE4A0D94FE}" srcOrd="0" destOrd="0" presId="urn:microsoft.com/office/officeart/2005/8/layout/process1"/>
    <dgm:cxn modelId="{80C4A48E-A486-43B0-AB70-F4017BA04893}" type="presOf" srcId="{7589ED57-C93C-4D74-914E-318C18EFFE62}" destId="{12FE9F69-219E-4137-9ADC-7C7FF679297E}" srcOrd="1" destOrd="0" presId="urn:microsoft.com/office/officeart/2005/8/layout/process1"/>
    <dgm:cxn modelId="{6FDEB49E-001D-48A0-BF3A-00C1FA931BC6}" srcId="{13C556D4-1D4F-4E5D-A3BB-A52BF69D4036}" destId="{9D022B5E-8FED-4EE2-B28A-82FF51F37B1A}" srcOrd="2" destOrd="0" parTransId="{88E18A9B-6D92-4F50-B350-E3A5E9474267}" sibTransId="{F9691C39-A920-41B4-9FCD-4063864EBEE6}"/>
    <dgm:cxn modelId="{A05DAAB4-0D1F-452A-8B1E-A49BFD67499C}" type="presOf" srcId="{9D022B5E-8FED-4EE2-B28A-82FF51F37B1A}" destId="{810A5DDE-5C73-40E2-889A-94113E28C42B}" srcOrd="0" destOrd="0" presId="urn:microsoft.com/office/officeart/2005/8/layout/process1"/>
    <dgm:cxn modelId="{041D5BE4-09DD-4688-9C7D-471B8FB4DB6B}" srcId="{13C556D4-1D4F-4E5D-A3BB-A52BF69D4036}" destId="{577BE3AE-42A5-4A3A-924E-E92D4A90031A}" srcOrd="0" destOrd="0" parTransId="{25C6CDF3-FEF5-4D10-9AF6-F6D785010699}" sibTransId="{6E126C02-15CE-4E36-AB5E-5550AC69A5B8}"/>
    <dgm:cxn modelId="{453BA539-A900-43E8-A2FE-8CAB29472593}" type="presParOf" srcId="{24BBEC6B-540F-4438-A0E4-54B9D1CDA1B5}" destId="{AE58A976-6327-4EA5-950A-A42DE8C890BC}" srcOrd="0" destOrd="0" presId="urn:microsoft.com/office/officeart/2005/8/layout/process1"/>
    <dgm:cxn modelId="{C4AA314C-D457-4B7D-A66B-B23C40C33E72}" type="presParOf" srcId="{24BBEC6B-540F-4438-A0E4-54B9D1CDA1B5}" destId="{79550150-F129-493D-8A28-279E68228724}" srcOrd="1" destOrd="0" presId="urn:microsoft.com/office/officeart/2005/8/layout/process1"/>
    <dgm:cxn modelId="{D1B9D704-BC37-4B31-BC0C-DF40B3841A3C}" type="presParOf" srcId="{79550150-F129-493D-8A28-279E68228724}" destId="{B63A910E-5E5C-4D56-87AF-C2CC89FC7A0F}" srcOrd="0" destOrd="0" presId="urn:microsoft.com/office/officeart/2005/8/layout/process1"/>
    <dgm:cxn modelId="{08BD84BC-C4E9-4D8C-8CE8-44B2B958A8DE}" type="presParOf" srcId="{24BBEC6B-540F-4438-A0E4-54B9D1CDA1B5}" destId="{E4804DC4-A712-4FAF-94B7-12EE4A0D94FE}" srcOrd="2" destOrd="0" presId="urn:microsoft.com/office/officeart/2005/8/layout/process1"/>
    <dgm:cxn modelId="{8677F9DC-2264-4C11-92B1-2454BCB2454F}" type="presParOf" srcId="{24BBEC6B-540F-4438-A0E4-54B9D1CDA1B5}" destId="{94230DCE-0DA6-46F0-861B-D9BF1E5A7998}" srcOrd="3" destOrd="0" presId="urn:microsoft.com/office/officeart/2005/8/layout/process1"/>
    <dgm:cxn modelId="{B65D020E-E03D-4A74-B8E9-88C3D249ED0F}" type="presParOf" srcId="{94230DCE-0DA6-46F0-861B-D9BF1E5A7998}" destId="{12FE9F69-219E-4137-9ADC-7C7FF679297E}" srcOrd="0" destOrd="0" presId="urn:microsoft.com/office/officeart/2005/8/layout/process1"/>
    <dgm:cxn modelId="{1385BDAF-C5FA-4DEA-B124-7090F2CE6FEF}" type="presParOf" srcId="{24BBEC6B-540F-4438-A0E4-54B9D1CDA1B5}" destId="{810A5DDE-5C73-40E2-889A-94113E28C42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5F769-0EC6-46AE-ADA2-B7474BCB92C3}">
      <dsp:nvSpPr>
        <dsp:cNvPr id="0" name=""/>
        <dsp:cNvSpPr/>
      </dsp:nvSpPr>
      <dsp:spPr>
        <a:xfrm>
          <a:off x="2678" y="695794"/>
          <a:ext cx="1171277" cy="7686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จับกุม </a:t>
          </a:r>
          <a:r>
            <a:rPr lang="en-US" sz="1800" b="1" kern="1200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-</a:t>
          </a:r>
          <a:r>
            <a:rPr lang="th-TH" sz="1800" b="1" kern="1200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 สอบสวน</a:t>
          </a:r>
        </a:p>
      </dsp:txBody>
      <dsp:txXfrm>
        <a:off x="25191" y="718307"/>
        <a:ext cx="1126251" cy="723624"/>
      </dsp:txXfrm>
    </dsp:sp>
    <dsp:sp modelId="{0D424937-C364-43EF-8C95-FAA718D23F46}">
      <dsp:nvSpPr>
        <dsp:cNvPr id="0" name=""/>
        <dsp:cNvSpPr/>
      </dsp:nvSpPr>
      <dsp:spPr>
        <a:xfrm>
          <a:off x="1291083" y="93488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1400" kern="1200"/>
        </a:p>
      </dsp:txBody>
      <dsp:txXfrm>
        <a:off x="1291083" y="992976"/>
        <a:ext cx="173817" cy="174286"/>
      </dsp:txXfrm>
    </dsp:sp>
    <dsp:sp modelId="{D1A07F84-A0AE-4038-8AA0-560AFBA46D9D}">
      <dsp:nvSpPr>
        <dsp:cNvPr id="0" name=""/>
        <dsp:cNvSpPr/>
      </dsp:nvSpPr>
      <dsp:spPr>
        <a:xfrm>
          <a:off x="1642467" y="695794"/>
          <a:ext cx="1171277" cy="7686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ฟ้องคดี</a:t>
          </a:r>
        </a:p>
      </dsp:txBody>
      <dsp:txXfrm>
        <a:off x="1664980" y="718307"/>
        <a:ext cx="1126251" cy="723624"/>
      </dsp:txXfrm>
    </dsp:sp>
    <dsp:sp modelId="{AE9A2805-1F33-4F13-B9F0-701A1C182E26}">
      <dsp:nvSpPr>
        <dsp:cNvPr id="0" name=""/>
        <dsp:cNvSpPr/>
      </dsp:nvSpPr>
      <dsp:spPr>
        <a:xfrm>
          <a:off x="2930872" y="93488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1400" kern="1200"/>
        </a:p>
      </dsp:txBody>
      <dsp:txXfrm>
        <a:off x="2930872" y="992976"/>
        <a:ext cx="173817" cy="174286"/>
      </dsp:txXfrm>
    </dsp:sp>
    <dsp:sp modelId="{032BF000-91BE-47B7-8420-D8836B057F31}">
      <dsp:nvSpPr>
        <dsp:cNvPr id="0" name=""/>
        <dsp:cNvSpPr/>
      </dsp:nvSpPr>
      <dsp:spPr>
        <a:xfrm>
          <a:off x="3282255" y="695794"/>
          <a:ext cx="1171277" cy="7686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พิจารณาตัดสิน</a:t>
          </a:r>
        </a:p>
      </dsp:txBody>
      <dsp:txXfrm>
        <a:off x="3304768" y="718307"/>
        <a:ext cx="1126251" cy="723624"/>
      </dsp:txXfrm>
    </dsp:sp>
    <dsp:sp modelId="{0C901CBE-145C-4723-B385-896885747AE3}">
      <dsp:nvSpPr>
        <dsp:cNvPr id="0" name=""/>
        <dsp:cNvSpPr/>
      </dsp:nvSpPr>
      <dsp:spPr>
        <a:xfrm rot="50835">
          <a:off x="4571316" y="947130"/>
          <a:ext cx="249757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1400" kern="1200"/>
        </a:p>
      </dsp:txBody>
      <dsp:txXfrm>
        <a:off x="4571320" y="1004671"/>
        <a:ext cx="174830" cy="174286"/>
      </dsp:txXfrm>
    </dsp:sp>
    <dsp:sp modelId="{59ED9EE2-0DF7-4A32-ACF7-688CB1C63FF6}">
      <dsp:nvSpPr>
        <dsp:cNvPr id="0" name=""/>
        <dsp:cNvSpPr/>
      </dsp:nvSpPr>
      <dsp:spPr>
        <a:xfrm>
          <a:off x="4924722" y="720083"/>
          <a:ext cx="1171277" cy="768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800" b="1" kern="1200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rPr>
            <a:t>ลงโทษ</a:t>
          </a:r>
        </a:p>
      </dsp:txBody>
      <dsp:txXfrm>
        <a:off x="4947235" y="742596"/>
        <a:ext cx="1126251" cy="7236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8A976-6327-4EA5-950A-A42DE8C890BC}">
      <dsp:nvSpPr>
        <dsp:cNvPr id="0" name=""/>
        <dsp:cNvSpPr/>
      </dsp:nvSpPr>
      <dsp:spPr>
        <a:xfrm>
          <a:off x="4830" y="798870"/>
          <a:ext cx="1443844" cy="8663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b="1" kern="1200" dirty="0">
              <a:latin typeface="Angsana New" pitchFamily="18" charset="-34"/>
              <a:cs typeface="Angsana New" pitchFamily="18" charset="-34"/>
            </a:rPr>
            <a:t>ฟ้องคดี</a:t>
          </a:r>
        </a:p>
      </dsp:txBody>
      <dsp:txXfrm>
        <a:off x="30203" y="824243"/>
        <a:ext cx="1393098" cy="815560"/>
      </dsp:txXfrm>
    </dsp:sp>
    <dsp:sp modelId="{79550150-F129-493D-8A28-279E68228724}">
      <dsp:nvSpPr>
        <dsp:cNvPr id="0" name=""/>
        <dsp:cNvSpPr/>
      </dsp:nvSpPr>
      <dsp:spPr>
        <a:xfrm>
          <a:off x="1593060" y="1052987"/>
          <a:ext cx="306095" cy="3580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1800" kern="1200"/>
        </a:p>
      </dsp:txBody>
      <dsp:txXfrm>
        <a:off x="1593060" y="1124602"/>
        <a:ext cx="214267" cy="214843"/>
      </dsp:txXfrm>
    </dsp:sp>
    <dsp:sp modelId="{E4804DC4-A712-4FAF-94B7-12EE4A0D94FE}">
      <dsp:nvSpPr>
        <dsp:cNvPr id="0" name=""/>
        <dsp:cNvSpPr/>
      </dsp:nvSpPr>
      <dsp:spPr>
        <a:xfrm>
          <a:off x="2026213" y="798870"/>
          <a:ext cx="1443844" cy="866306"/>
        </a:xfrm>
        <a:prstGeom prst="roundRect">
          <a:avLst>
            <a:gd name="adj" fmla="val 10000"/>
          </a:avLst>
        </a:prstGeom>
        <a:solidFill>
          <a:schemeClr val="accent5">
            <a:hueOff val="4085978"/>
            <a:satOff val="2788"/>
            <a:lumOff val="-784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b="1" kern="1200">
              <a:latin typeface="Angsana New" pitchFamily="18" charset="-34"/>
              <a:cs typeface="Angsana New" pitchFamily="18" charset="-34"/>
            </a:rPr>
            <a:t>พิจารณาตัดสิน</a:t>
          </a:r>
          <a:endParaRPr lang="th-TH" sz="2300" b="1" kern="1200" dirty="0">
            <a:latin typeface="Angsana New" pitchFamily="18" charset="-34"/>
            <a:cs typeface="Angsana New" pitchFamily="18" charset="-34"/>
          </a:endParaRPr>
        </a:p>
      </dsp:txBody>
      <dsp:txXfrm>
        <a:off x="2051586" y="824243"/>
        <a:ext cx="1393098" cy="815560"/>
      </dsp:txXfrm>
    </dsp:sp>
    <dsp:sp modelId="{94230DCE-0DA6-46F0-861B-D9BF1E5A7998}">
      <dsp:nvSpPr>
        <dsp:cNvPr id="0" name=""/>
        <dsp:cNvSpPr/>
      </dsp:nvSpPr>
      <dsp:spPr>
        <a:xfrm>
          <a:off x="3614442" y="1052987"/>
          <a:ext cx="306095" cy="3580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8171956"/>
            <a:satOff val="5577"/>
            <a:lumOff val="-1568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h-TH" sz="1800" kern="1200"/>
        </a:p>
      </dsp:txBody>
      <dsp:txXfrm>
        <a:off x="3614442" y="1124602"/>
        <a:ext cx="214267" cy="214843"/>
      </dsp:txXfrm>
    </dsp:sp>
    <dsp:sp modelId="{810A5DDE-5C73-40E2-889A-94113E28C42B}">
      <dsp:nvSpPr>
        <dsp:cNvPr id="0" name=""/>
        <dsp:cNvSpPr/>
      </dsp:nvSpPr>
      <dsp:spPr>
        <a:xfrm>
          <a:off x="4047596" y="798870"/>
          <a:ext cx="1443844" cy="866306"/>
        </a:xfrm>
        <a:prstGeom prst="roundRect">
          <a:avLst>
            <a:gd name="adj" fmla="val 10000"/>
          </a:avLst>
        </a:prstGeom>
        <a:solidFill>
          <a:schemeClr val="accent5">
            <a:hueOff val="8171956"/>
            <a:satOff val="5577"/>
            <a:lumOff val="-1568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b="1" kern="1200">
              <a:latin typeface="Angsana New" pitchFamily="18" charset="-34"/>
              <a:cs typeface="Angsana New" pitchFamily="18" charset="-34"/>
            </a:rPr>
            <a:t>บังคับคดี</a:t>
          </a:r>
          <a:endParaRPr lang="th-TH" sz="2300" b="1" kern="1200" dirty="0">
            <a:latin typeface="Angsana New" pitchFamily="18" charset="-34"/>
            <a:cs typeface="Angsana New" pitchFamily="18" charset="-34"/>
          </a:endParaRPr>
        </a:p>
      </dsp:txBody>
      <dsp:txXfrm>
        <a:off x="4072969" y="824243"/>
        <a:ext cx="1393098" cy="815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2FD59E3-A7DE-4252-8266-80FBBB459289}" type="datetimeFigureOut">
              <a:rPr lang="th-TH" smtClean="0"/>
              <a:t>11/06/61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4E3BCC2-64B5-4CA8-90AA-BCA3D4C3EFA1}" type="slidenum">
              <a:rPr lang="th-TH" smtClean="0"/>
              <a:t>‹#›</a:t>
            </a:fld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3140968"/>
            <a:ext cx="8454711" cy="1224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sz="6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วิชา ความรู้เบื้องต้นเกี่ยวกับกฎหมาย</a:t>
            </a:r>
            <a:endParaRPr lang="en-US" sz="6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8381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83768" y="881336"/>
            <a:ext cx="6881539" cy="59766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h-TH" sz="28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ประวัติการศึกษา  </a:t>
            </a:r>
            <a:endParaRPr lang="en-US" sz="28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วุฒิบัตรกฎหมายปกครอง มหาวิทยาลัยราชภัฏราชนครินทร์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วุฒิบัตรหลักสูตรการวิจัยพัฒนาเพื่อการเรียนรู้ คุรุสภา กระทรวงศึกษาธิการ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นิติ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สตรกฎหมายการบริหารงานบุคคล มหาวิทยาลัยธรรมศาสตร์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สัมฤ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ทธิบัตร กฎหมายมหาชน มหาวิทยาลัยสุโขทัยธรรมาธิราช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ปริญญาตรี  นิติ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สตรบัณฑิต  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ปริญญาตรี  รัฐ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สตรบัณฑิต  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ปริญญาโท นิติ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ศาส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ตรมหาบัณฑิต 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ปริญญาโท รัฐประ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สน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ศาส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ตรมหาบัณฑิต 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ปริญญาเอก รัฐประ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สน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สตรดุษฎีบัณฑิต มหาวิทยาลัยปทุมธานี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ปริญญาเอก นิติ</a:t>
            </a:r>
            <a:r>
              <a:rPr lang="th-TH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สตรดุษฎีบัณฑิต มหาวิทยาลัยปทุมธานี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92357" y="382952"/>
            <a:ext cx="7211935" cy="498384"/>
          </a:xfrm>
        </p:spPr>
        <p:txBody>
          <a:bodyPr>
            <a:normAutofit fontScale="90000"/>
          </a:bodyPr>
          <a:lstStyle/>
          <a:p>
            <a:r>
              <a:rPr lang="th-TH" b="1" dirty="0">
                <a:solidFill>
                  <a:schemeClr val="tx1"/>
                </a:solidFill>
              </a:rPr>
              <a:t>ผู้ช่วยศาสตราจารย์ พ.ต.ต.ดร.</a:t>
            </a:r>
            <a:r>
              <a:rPr lang="th-TH" b="1" dirty="0" err="1">
                <a:solidFill>
                  <a:schemeClr val="tx1"/>
                </a:solidFill>
              </a:rPr>
              <a:t>สมดุลย์</a:t>
            </a:r>
            <a:r>
              <a:rPr lang="th-TH" b="1" dirty="0">
                <a:solidFill>
                  <a:schemeClr val="tx1"/>
                </a:solidFill>
              </a:rPr>
              <a:t>  ดำทองสุก 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" name="Picture 2" descr="C:\Users\HCU\Pictures\รูป  ผศ.ร.ต.อ.ดร.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82952"/>
            <a:ext cx="1728192" cy="209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99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1560" y="188640"/>
            <a:ext cx="7848872" cy="65527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h-TH" sz="4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ประสบการณ์ทำงาน </a:t>
            </a:r>
            <a:endParaRPr lang="en-US" sz="4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- ที่ปรึกษากฎหมายบริษัท เอ.พี.คอมเมอร์</a:t>
            </a:r>
            <a:r>
              <a:rPr lang="th-TH" sz="37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เซ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ียล แอนด์ ลอร์ จำกัด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ที่ปรึกษาประธานคณะกรรมาธิการแก้ไขปัญหาหนี้สินแห่งชาติ รัฐสภา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ที่ปรึกษาคณะอนุกรรมาธิการทรัพย์สินทางปัญญา รัฐสภา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ที่ปรึกษาประธานอนุกรรมาธิการพิจารณาศึกษาติดตามราคาสินค้า  การบริการและ</a:t>
            </a:r>
            <a:r>
              <a:rPr lang="en-US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การลงทุน รัฐสภา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ที่ปรึกษากิตติมศักดิ์คณะกรรมาธิการแก้ไขปัญหาหนี้สินแห่งชาติ รัฐสภา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ที่ปรึกษาประจำคณะกรรมาธิการการตำรวจ (พิจารณาเรื่องร้องเรียนตำรวจ)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อาจารย์พิเศษ  มหาวิทยาลัยปทุมธานี</a:t>
            </a:r>
            <a:r>
              <a:rPr lang="en-US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มหาวิทยาลัยราช</a:t>
            </a:r>
            <a:r>
              <a:rPr lang="th-TH" sz="37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ภัฎธน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บุรี </a:t>
            </a:r>
            <a:r>
              <a:rPr lang="en-US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,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มหาวิทยาลัย</a:t>
            </a:r>
            <a:r>
              <a:rPr lang="th-TH" sz="37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เวสเทิร์น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อาจารย์ที่ปรึกษาหลักสูตรการวิจัยพัฒนาเพื่อการเรียนรู้ คุรุสภา กระทรวงศึกษาธิการ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คณะกรรมการอาจารย์ผู้ทรงคุณวุฒิในการสอบดุษฎีนิพนธ์ ปริญญาเอก </a:t>
            </a:r>
            <a:r>
              <a:rPr lang="en-US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นิติ</a:t>
            </a:r>
            <a:r>
              <a:rPr lang="th-TH" sz="37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ศา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สตรดุษฎีบัณฑิต มหาวิทยาลัย</a:t>
            </a:r>
            <a:r>
              <a:rPr lang="th-TH" sz="37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เวสเทิร์น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สืบสวนสอบสวนกองบังคับการปราบปรามการกระทำความผิดเกี่ยวกับอาชญากรรมทางเศษ</a:t>
            </a:r>
            <a:r>
              <a:rPr lang="th-TH" sz="37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รฐ</a:t>
            </a: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กิจ (ปอศ.)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0" indent="0">
              <a:buNone/>
            </a:pPr>
            <a:r>
              <a:rPr lang="th-TH" sz="3700" dirty="0">
                <a:latin typeface="Angsana New" panose="02020603050405020304" pitchFamily="18" charset="-34"/>
                <a:cs typeface="Angsana New" panose="02020603050405020304" pitchFamily="18" charset="-34"/>
              </a:rPr>
              <a:t>     - นายตำรวจติดตามประจำสำนักงาน ผู้ช่วยผู้บัญชาการตำรวจแห่งชาติ                                       ( พล.ต.ท.เอกรัตน์ มีปรีชา )</a:t>
            </a:r>
            <a:endParaRPr lang="en-US" sz="37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57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3568" y="2348880"/>
            <a:ext cx="7772400" cy="1780108"/>
          </a:xfrm>
        </p:spPr>
        <p:txBody>
          <a:bodyPr>
            <a:normAutofit fontScale="90000"/>
          </a:bodyPr>
          <a:lstStyle/>
          <a:p>
            <a:r>
              <a:rPr lang="th-TH" sz="6000" b="1" dirty="0">
                <a:latin typeface="Angsana New" pitchFamily="18" charset="-34"/>
                <a:cs typeface="Angsana New" pitchFamily="18" charset="-34"/>
              </a:rPr>
              <a:t>บทที่5</a:t>
            </a:r>
            <a:br>
              <a:rPr lang="th-TH" sz="6000" b="1" dirty="0">
                <a:latin typeface="Angsana New" pitchFamily="18" charset="-34"/>
                <a:cs typeface="Angsana New" pitchFamily="18" charset="-34"/>
              </a:rPr>
            </a:br>
            <a:r>
              <a:rPr lang="th-TH" sz="6000" b="1" dirty="0">
                <a:latin typeface="Angsana New" pitchFamily="18" charset="-34"/>
                <a:cs typeface="Angsana New" pitchFamily="18" charset="-34"/>
              </a:rPr>
              <a:t>กฎหมายว่าด้วยการทะเบียนราษฎร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112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/>
          </a:bodyPr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กฎหมายว่าด้วยการทะเบียนราษฎรหรือพระราชบัญญัติการทะเบียนราษฎรพ.ศ. 2534 เป็นกฎหมายที่กำหนดเกี่ยวกับระเบียบปฏิบัติที่จำเป็นในชีวิตประจำวันของบุคคลได้แก่การแจ้งเกิด การแจ้งตาย นักกันแจ้งย้ายที่อยู่ ซึ่งบุคคลที่อยู่ในอาณาเขตของประเทศไทยจะต้องอยู่ภายใต้กฎเกณฑ์ของกฎหมายฉบับนี้อย่างหลีกเลี่ยงไม่ได้โดยเริ่มจาก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การเกิด การเกิดเป็นจุดเริ่มต้นของการที่บุคคลมีสภาพบุคคลตามกฎหมาย กฎหมายจะเข้ามามีบทบาทโดยเริ่ม ตั้งแต่การแจ้งการเกิด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การตาย การตายตามวัตถุประสงค์ของกฎหมายทะเบียนราษฎรเป็นการตายตามธรรมชาติของบุคคลมากกว่าจะเป็นการตายโดยผลของกฎหมายหรือการสาบสูญ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การย้ายที่อยู่ เป็นเรื่องของการเคลื่อนย้ายของประชากรซึ่งมีผลให้ต้องมีการแก้ไขเปลี่ยนแปลงทะเบียนบ้านหรือสำมะโนประชากร</a:t>
            </a:r>
          </a:p>
          <a:p>
            <a:endParaRPr lang="th-TH" dirty="0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กฎหมายว่าด้วยการทะเบียนราษฎร</a:t>
            </a:r>
          </a:p>
        </p:txBody>
      </p:sp>
    </p:spTree>
    <p:extLst>
      <p:ext uri="{BB962C8B-B14F-4D97-AF65-F5344CB8AC3E}">
        <p14:creationId xmlns:p14="http://schemas.microsoft.com/office/powerpoint/2010/main" val="229964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366830"/>
            <a:ext cx="2664296" cy="2423721"/>
          </a:xfrm>
          <a:prstGeom prst="rect">
            <a:avLst/>
          </a:prstGeom>
        </p:spPr>
      </p:pic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27584" y="1340768"/>
            <a:ext cx="7408333" cy="4497363"/>
          </a:xfrm>
        </p:spPr>
        <p:txBody>
          <a:bodyPr/>
          <a:lstStyle/>
          <a:p>
            <a:pPr marL="0" indent="0">
              <a:buNone/>
            </a:pPr>
            <a:r>
              <a:rPr lang="th-TH" sz="2800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การเกิดแบ่งเป็นสองกรณีคือการเกิดในบ้านและการเกิดนอกบ้าน</a:t>
            </a:r>
          </a:p>
          <a:p>
            <a:pPr marL="0" indent="0">
              <a:buNone/>
            </a:pPr>
            <a:r>
              <a:rPr lang="th-TH" sz="2800" b="1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หลักเกณฑ์ของการแจ้งเกิด</a:t>
            </a:r>
          </a:p>
          <a:p>
            <a:r>
              <a:rPr lang="th-TH" sz="28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การเกิดในบ้าน </a:t>
            </a:r>
            <a:r>
              <a:rPr lang="th-TH" sz="2800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กรณีเด็กเกิดในบ้าน ผู้มีหน้าที่แจ้งการเกิดของเด็กคือ “เจ้าบ้าน” ซึ่ง อาจจะเป็นเจ้าของบ้าน ผู้มีกรรมสิทธิ์ในบ้านหลังนั้นตามกฎหมายหรือหากเป็นผู้เช่าหรือผู้อาศัยที่เจ้าของบ้านยกบ้านให้อยู่โดยไม่คิดค่าตอบแทนก็อาจเป็นเจ้าบ้านได้เช่นกัน นอกจากเจ้าบ้านที่มีหน้าที่เป็นผู้แจ้งการเกิดของเด็กแล้ว บิดาหรือมารดาของเด็กก็มีหน้าที่แจ้งเช่นเดียวกัน</a:t>
            </a:r>
          </a:p>
          <a:p>
            <a:endParaRPr lang="th-TH" dirty="0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การแจ้งเกิด</a:t>
            </a:r>
          </a:p>
        </p:txBody>
      </p:sp>
    </p:spTree>
    <p:extLst>
      <p:ext uri="{BB962C8B-B14F-4D97-AF65-F5344CB8AC3E}">
        <p14:creationId xmlns:p14="http://schemas.microsoft.com/office/powerpoint/2010/main" val="410800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422" y="3068960"/>
            <a:ext cx="4150002" cy="3217745"/>
          </a:xfrm>
          <a:prstGeom prst="rect">
            <a:avLst/>
          </a:prstGeom>
        </p:spPr>
      </p:pic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001419"/>
          </a:xfrm>
        </p:spPr>
        <p:txBody>
          <a:bodyPr>
            <a:normAutofit/>
          </a:bodyPr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การแจ้งการเกิดนี้จะต้องแจ้งต่อนายทะเบียนผู้รับแจ้งแห่งท้องที่ที่มีคนเกิดในบ้านภายใน 15 วันนับแต่วันที่เกิด เช่นเด็กเกิดวันที่ 1 มกราคม พ.ศ. 2550 ก็จะต้องแจ้งภายใน 15 วันคืออย่างช้าวันที่ 16 มกรา พ.ศ. 2550 เรื่องหรือถ้าเด็กเกิดวันที่ 25 มกรา พ.ศ. 2550 จะต้องแจ้งอย่างช้าวันที่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9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กุมภา  พ.ศ. 2550 เป็นต้น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ส่วนนายทะเบียนท้องที่ที่เกิดนั้นแยกไว้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2 กรณี</a:t>
            </a:r>
          </a:p>
          <a:p>
            <a:pPr marL="0" indent="0">
              <a:buNone/>
            </a:pPr>
            <a:r>
              <a:rPr lang="en-US" sz="2800" dirty="0">
                <a:latin typeface="Angsana New" pitchFamily="18" charset="-34"/>
                <a:cs typeface="Angsana New" pitchFamily="18" charset="-34"/>
              </a:rPr>
              <a:t>    1.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หากท้องที่นั้นอยู่ในเขตเทศบาล นายทะเบียนที่จะรับแจ้งการเกิด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   ได้แก่ ปลัดเทศบาล ณ ที่ทำการเทศบาล</a:t>
            </a:r>
          </a:p>
          <a:p>
            <a:pPr marL="0" indent="0">
              <a:buNone/>
            </a:pPr>
            <a:r>
              <a:rPr lang="en-US" sz="2800" dirty="0">
                <a:latin typeface="Angsana New" pitchFamily="18" charset="-34"/>
                <a:cs typeface="Angsana New" pitchFamily="18" charset="-34"/>
              </a:rPr>
              <a:t>    2.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หากท้องที่นั้นอยู่นอกเขตเทศบาลนายทะเบียน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   ที่รับแจ้งการเกิด ได้แก่ กำนัน ณ ที่ทำการกำนัน</a:t>
            </a: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855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073427"/>
          </a:xfrm>
        </p:spPr>
        <p:txBody>
          <a:bodyPr>
            <a:normAutofit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   </a:t>
            </a:r>
            <a:r>
              <a:rPr lang="th-TH" sz="28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การเกิดนอกบ้าน   </a:t>
            </a:r>
            <a:r>
              <a:rPr lang="th-TH" sz="2800" dirty="0">
                <a:latin typeface="Angsana New" pitchFamily="18" charset="-34"/>
                <a:cs typeface="Angsana New" pitchFamily="18" charset="-34"/>
              </a:rPr>
              <a:t>คือกรณีที่เด็กเกิดในที่ใดๆก็ตามที่ไม่ใช่บ้านของตน เช่น เกิดที่บ้านของญาติ  หรือในป่าผู้ที่มีหน้าที่แจ้งการเกิดคือบิดาหรือมารดาของเด็กโดยแจ้งแก่นายทะเบียนผู้รับแจ้งท้องที่ที่คนเกิดนอกบ้านหรือท้องที่ที่จะเพิ่งแจ้งได้นับแต่วันที่เกิดซึ่งหมายความว่าเมื่อเด็กเกิดแล้วบิดาหรือมารดาจะต้องแจ้งภายใน 15 วันนับแต่วันที่เกิดแต่หากไม่สามารถแจ้งแก่นายทะเบียนในท้องที่ที่เด็กเกิดได้ภายใน 15 วันเช่น เกิดน้ำท่วมอย่างหนักเป็นเวลานานไม่อาจไปแจ้งในท้องที่ที่เด็กเกิดได้ทันเวลาก็สามารถแจ้งแก่นายทะเบียนท้องที่อื่นๆได้</a:t>
            </a:r>
          </a:p>
          <a:p>
            <a:r>
              <a:rPr lang="th-TH" sz="2800" dirty="0">
                <a:latin typeface="Angsana New" pitchFamily="18" charset="-34"/>
                <a:cs typeface="Angsana New" pitchFamily="18" charset="-34"/>
              </a:rPr>
              <a:t>       แต่ถ้ามีความจำเป็นและไม่อาจแจ้งได้ตามกำหนดเวลาไม่ว่าจะแจ้งที่ท้องที่ที่เด็กเกิดหรือท้องที่อื่นก็ตามก็ให้แจ้งภายหลังได้แต่ต้องไม่เกิน 30 วันนับแต่วันที่เกิด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83531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755576" y="836712"/>
            <a:ext cx="7408333" cy="4497363"/>
          </a:xfrm>
        </p:spPr>
        <p:txBody>
          <a:bodyPr>
            <a:normAutofit/>
          </a:bodyPr>
          <a:lstStyle/>
          <a:p>
            <a:r>
              <a:rPr lang="th-TH" sz="28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เด็กเกิดใหม่ที่ถูกทิ้งไว้   </a:t>
            </a:r>
            <a:r>
              <a:rPr lang="th-TH" sz="2800" dirty="0">
                <a:latin typeface="Angsana New" pitchFamily="18" charset="-34"/>
                <a:cs typeface="Angsana New" pitchFamily="18" charset="-34"/>
              </a:rPr>
              <a:t>ผู้ใดพบเด็กในสภาพแรกเกิดหรือเด็กอ่อนซึ่งถูกทอดทิ้งให้นำเด็กนั้นไปส่งและแจ้งต่อพนักงานฝ่ายปกครองหรือตำรวจหรือเจ้าหน้าที่ประชาสงเคราะห์แห่งท้องที่ที่ตนพบเด็กนั้นโดยเร็วในกรณีที่พนักงานฝ่ายปกครองหรือตำรวจรับเด็กไว้ให้บันทึกการรับตัวเด็กตามแบบพิมพ์ที่ ผู้อำนวยการทะเบียนกลางกำหนดแล้วนำเด็กส่งเจ้าหน้าที่ประชาสงเคราะห์เมื่อเจ้าหน้าที่ประชาสงเคราะห์ได้รับตัวเด็กไว้แล้วให้แจ้งการมีคนเกิดต่อนายทะเบียนผู้รับแจ้ง</a:t>
            </a:r>
          </a:p>
          <a:p>
            <a:r>
              <a:rPr lang="th-TH" sz="28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เด็กเกิดในโรงพยาบาลเด็กเกิด </a:t>
            </a:r>
            <a:r>
              <a:rPr lang="th-TH" sz="2800" dirty="0">
                <a:latin typeface="Angsana New" pitchFamily="18" charset="-34"/>
                <a:cs typeface="Angsana New" pitchFamily="18" charset="-34"/>
              </a:rPr>
              <a:t>โรงพยาบาลที่เด็กเกิดจะออกใบรับรองการเกิดเพื่อเป็นหลักฐานให้บิดาหรือมารดานำไปแจ้งการเกิดที่สำนักงานทะเบียนท้องที่ที่โรงพยาบาลที่เด็กเกิดตั้งอยู่</a:t>
            </a:r>
          </a:p>
        </p:txBody>
      </p:sp>
    </p:spTree>
    <p:extLst>
      <p:ext uri="{BB962C8B-B14F-4D97-AF65-F5344CB8AC3E}">
        <p14:creationId xmlns:p14="http://schemas.microsoft.com/office/powerpoint/2010/main" val="788641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1628800"/>
            <a:ext cx="7408333" cy="4497363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ให้แจ้งการเกิดภายใน 15 วันนับแต่วันที่เด็กเกิด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เมื่อมีคนเกิดในบ้านเจ้าบ้านหรือบิดามารดาเป็นผู้แจ้งการเกิด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ถ้าคนเกิดนอกบ้านบิดาหรือมารดาเป็นผู้แจ้งการเกิด หากไม่สะดวกอาจมอบหมายให้บุคคลอื่นเป็นผู้แจ้งแทนก็ได้โดยบิดามารดาต้องทำหนังสือมอบหมายและมอบบัตรประจำตัวประชาชนให้ผู้แจ้งถือมาแสดงต่อนายทะเบียนผู้รับแจ้ง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การแจ้งการเกิดนั้นผู้แจ้งต้องแจ้งต่อนายทะเบียนผู้รับแจ้งในท้องที่ที่เด็กเกิด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ในกรณีที่ยังไม่ได้แจ้งการเกิดของเด็กที่เกิดเกินกว่า 15 วันผู้แจ้งจะต้องไปแจ้งยังที่ว่าการอำเภอเพราะนายทะเบียนผู้รับแจ้งไม่อาจดำเนินการให้ได้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ผู้แจ้งการเกิดต้องเตรียมหลักฐานต่างๆไปให้พร้อม เช่น บัตรประจำตัวประชาชนของผู้แจ้ง สำเนาทะเบียนบ้าน เป็นต้น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ผู้แจ้งการเกิดต้องนำหนังสือรับรองการเกิด ที่แพทย์หรือพยาบาลผดุงครรภ์ผู้ทำคลอด เป็นผู้ออกให้ไปในวันแจ้งการเกิดด้วย</a:t>
            </a:r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 สรุปหลักเกณฑ์ในการแจ้งเกิด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2406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060848"/>
            <a:ext cx="3215059" cy="4509120"/>
          </a:xfrm>
          <a:prstGeom prst="rect">
            <a:avLst/>
          </a:prstGeom>
        </p:spPr>
      </p:pic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764704"/>
            <a:ext cx="7408333" cy="5361459"/>
          </a:xfrm>
        </p:spPr>
        <p:txBody>
          <a:bodyPr/>
          <a:lstStyle/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8. 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ก่อนการไปแจ้งเกิดผู้แจ้งการเกิดต้องตั้งชื่อเด็กที่จะขอแจ้งการเกิดให้เรียบร้อยโดยให้อยู่ในหลักเกณฑ์ดังนี้</a:t>
            </a:r>
          </a:p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	-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ไม่พ้องหรือมุ่งหมายให้คล้ายกับพระปรมาภิไธย. พระนามของพระราชินี </a:t>
            </a:r>
          </a:p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               หรือพระราชทินนาม</a:t>
            </a:r>
          </a:p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	-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ไม่มีคำหรือความหมายหยาบคาย</a:t>
            </a:r>
          </a:p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	-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 ชื่อบุคคลควรจะให้รู้ได้ว่าเป็นชายหรือหญิง</a:t>
            </a:r>
          </a:p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	-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 เป็นคำที่มีความหมายในภาษาไทย</a:t>
            </a:r>
          </a:p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	- 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ชื่อหนึ่งไม่เกิน 3 พยางค์</a:t>
            </a:r>
          </a:p>
          <a:p>
            <a:endParaRPr lang="th-TH" dirty="0"/>
          </a:p>
        </p:txBody>
      </p:sp>
      <p:pic>
        <p:nvPicPr>
          <p:cNvPr id="5" name="รูปภาพ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581128"/>
            <a:ext cx="23907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16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548680"/>
            <a:ext cx="7408333" cy="5577483"/>
          </a:xfrm>
        </p:spPr>
        <p:txBody>
          <a:bodyPr>
            <a:normAutofit lnSpcReduction="10000"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โทษ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   ผู้มีหน้าที่ดังกล่าวข้างต้นทั้งกรณีเด็กเกิดในบ้าน เด็กเกิดนอกบ้าน และผู้พบเด็กถูกทิ้ง ถ้าฝ่าฝืนไม่ทำตามหน้าที่ย่อมมีความผิดต้องระวังโทษปรับไม่เกิน 1,000 บาท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เมื่อแจ้งเด็กเกิดในบ้านหรือนอกบ้านแล้วนายทะเบียนจะออกสูติบัตร(ใบแจ้งการเกิด) ให้แก่ผู้แจ้งไว้เป็นหลักฐานซึ่งสูติบัตร จะแสดง สัญชาติ วัน เดือน ปีเกิด ชื่อบิดา ชื่อมารดา อีกทั้งควรแจ้งชื่อของเด็กที่เกิดด้วยและถ้าประสงค์จะเปลี่ยนชื่อใหม่ก็ให้แจ้งต่อนายทะเบียนภายใน 6 เดือนนับแต่วันที่เด็กเกิด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ความสำคัญของสูติบัตร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สูติบัตรเป็นเอกสารหลักฐานสำคัญตามพระราชบัญญัติการทะเบียนราษฎรพ.ศ. 2534 ใช้พิสูจน์ตรวจสอบหรือยืนยันตัวบุคคลโดยเฉพาะอย่างยิ่งเป็นหลักฐานในการขอเพิ่มชื่อในทะเบียนบ้าน(สูติบัตรและใบแจ้งการย้ายที่อยู่) หรือเป็นหลักฐานในการขอจำหน่ายชื่อออกจากทะเบียนบ้าน(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มรณ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บัตร) และเกี่ยวข้องกับสิทธิ หน้าที่ของบุคคล ได้แก่ การศึกษา การประกอบอาชีพ การเลือกตั้ง เป็นต้น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ดังนั้นผู้ที่ได้รับเอกสารเฉพาะฉบับนี้จากทางราชการควรตรวจสอบรายการต่างๆว่าเจ้าหน้าที่ได้ลงไว้ครบถ้วน ถูกต้องหรือไม่หากพบว่ามีรายการใดไม่ถูกต้องขอให้รีบแจ้งเจ้าหน้าที่แก้ไขทันที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04349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836712"/>
            <a:ext cx="7408333" cy="5289451"/>
          </a:xfrm>
        </p:spPr>
        <p:txBody>
          <a:bodyPr/>
          <a:lstStyle/>
          <a:p>
            <a:r>
              <a:rPr lang="th-TH" sz="3200" b="1" dirty="0">
                <a:solidFill>
                  <a:schemeClr val="bg1"/>
                </a:solidFill>
                <a:latin typeface="Angsana New" pitchFamily="18" charset="-34"/>
                <a:cs typeface="Angsana New" pitchFamily="18" charset="-34"/>
              </a:rPr>
              <a:t> การเก็บรักษาสูติบัตร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กฎหมายกำหนดมิให้ผู้ใดทุจริตทำปลอมเติมหรือตัดทอนข้อความหรือแก้ไขด้วยประการใดใดในสูติบัตรโดยไม่มีอำนาจหน้าที่ตามกฎหมายหากฝ่าฝืนต้องระวังโทษตามประมวลกฎหมายอาญา มาตรา 265 (จำคุกตั้งแต่หกเดือนถึงห้าปีและปรับตั้งแต่ 1000 ถึง 10,000 บาท)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การเก็บรักษาสูติบัตร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ซึ่งถือเป็นเอกสารที่มีความสำคัญมีแนวปฏิบัติดังนี้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ควรเก็บรักษาไว้ในที่ปลอดภัยอย่าให้เอกสารถูกน้ำ หรือถูกทำลาย หรือถูกบุคคลอื่นนำไปใช้แอบอ้างสวมตัวใช้สิทธิ์โดยมิชอบ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ห้ามมิให้ผู้ใดซึ่งไม่มีอำนาจหน้าที่ตามกฎหมายทำการแก้ไข ขูด ลบ ขีดฆ่า หรือเขียนข้อความเพิ่มเติมลงในเอกสารนี้โดยเด็ดขาด</a:t>
            </a:r>
          </a:p>
        </p:txBody>
      </p:sp>
    </p:spTree>
    <p:extLst>
      <p:ext uri="{BB962C8B-B14F-4D97-AF65-F5344CB8AC3E}">
        <p14:creationId xmlns:p14="http://schemas.microsoft.com/office/powerpoint/2010/main" val="94935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276872"/>
            <a:ext cx="2839566" cy="4047892"/>
          </a:xfrm>
          <a:prstGeom prst="rect">
            <a:avLst/>
          </a:prstGeom>
        </p:spPr>
      </p:pic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395536" y="1124744"/>
            <a:ext cx="7552349" cy="464137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กรณีที่ท้องที่ใดมีคนตายกฎหมายกำหนดเกี่ยวกับบุคคลที่มีหน้าที่แจ้งต่อนายทะเบียนท้องที่ที่มีการตายเกิดขึ้นโดยแบ่งเป็น 3 กรณี ดังนี้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คนตายในบ้าน </a:t>
            </a: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เจ้าบ้านต้องแจ้งต่อนายทะเบียนท้องที่ที่มีการตายเกิดขึ้นภายใน 24 ชั่วโมงนับแต่เวลาที่ตายหากไม่มีเจ้าบ้านให้ผู้พบศพเป็น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ผู้แจ้งภายใน 24 ชั่วโมงนับแต่เวลาพบศพ</a:t>
            </a:r>
            <a:endParaRPr lang="th-TH" b="1" dirty="0">
              <a:solidFill>
                <a:schemeClr val="bg2">
                  <a:lumMod val="25000"/>
                </a:schemeClr>
              </a:solidFill>
              <a:latin typeface="Angsana New" pitchFamily="18" charset="-34"/>
              <a:cs typeface="Angsana New" pitchFamily="18" charset="-34"/>
            </a:endParaRPr>
          </a:p>
          <a:p>
            <a:pPr marL="0" indent="0" fontAlgn="base">
              <a:spcBef>
                <a:spcPts val="0"/>
              </a:spcBef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ngsana New" pitchFamily="18" charset="-34"/>
                <a:cs typeface="Angsana New" pitchFamily="18" charset="-34"/>
              </a:rPr>
              <a:t>2.</a:t>
            </a:r>
            <a:r>
              <a:rPr lang="en-US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 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คนตายนอกบ้าน </a:t>
            </a: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ให้ผู้ที่ไปกับผู้ตาย หรือผู้พบศพแจ้งต่อ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นายทะเบียนท้องที่ที่มีการตายเกิดขึ้นหรือท้องที่ที่พบศพ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หรือท้องที่ที่เพิ่งจะแจ้งได้ภายใน 24 ชั่วโมง หรือจะแจ้งต่อ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พนักงานฝ่ายปกครอง หรือตำรวจที่สะดวกกว่าก็ได้เวลาใน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การแจ้งนั้นได้อีกไม่เกินเจ็ดวันนับแต่เวลาตายหรือพบศพ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สำหรับท้องที่ที่มีการคมนาคมไม่สะดวก</a:t>
            </a:r>
            <a:endParaRPr lang="th-TH" b="1" dirty="0">
              <a:solidFill>
                <a:schemeClr val="bg2">
                  <a:lumMod val="25000"/>
                </a:schemeClr>
              </a:solidFill>
              <a:latin typeface="Angsana New" pitchFamily="18" charset="-34"/>
              <a:cs typeface="Angsana New" pitchFamily="18" charset="-34"/>
            </a:endParaRPr>
          </a:p>
          <a:p>
            <a:endParaRPr lang="th-TH" dirty="0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การแจ้งตาย</a:t>
            </a:r>
          </a:p>
        </p:txBody>
      </p:sp>
    </p:spTree>
    <p:extLst>
      <p:ext uri="{BB962C8B-B14F-4D97-AF65-F5344CB8AC3E}">
        <p14:creationId xmlns:p14="http://schemas.microsoft.com/office/powerpoint/2010/main" val="184287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395536" y="620688"/>
            <a:ext cx="8136904" cy="5721499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th-TH" sz="28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   </a:t>
            </a:r>
            <a:r>
              <a:rPr lang="th-TH" sz="36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ลูกตายในท้อง </a:t>
            </a: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หมายถึงลูกที่อยู่ในครรภ์มารดาเป็นเวลาเกิน 28 สัปดาห์หรือ 196 วันและ คลอดออกมาโดยไม่มีชีวิตดังนั้นถ้ารูปนั้นอยู่ในครรภ์มารดาไม่ถึง 28 สัปดาห์แม้จะคลอดออกมาโดยไม่มีชีวิตก็ไม่ถือว่าเป็นเรื่องของลูกตายในท้องผู้ที่มีหน้าที่ในการแจ้ง    ได้แก่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th-TH" sz="2800" b="1" dirty="0">
              <a:solidFill>
                <a:schemeClr val="bg2">
                  <a:lumMod val="25000"/>
                </a:schemeClr>
              </a:solidFill>
              <a:latin typeface="Angsana New" pitchFamily="18" charset="-34"/>
              <a:cs typeface="Angsana New" pitchFamily="18" charset="-34"/>
            </a:endParaRPr>
          </a:p>
          <a:p>
            <a:pPr marL="0" indent="0" fontAlgn="base">
              <a:spcBef>
                <a:spcPts val="0"/>
              </a:spcBef>
              <a:buNone/>
            </a:pPr>
            <a:r>
              <a:rPr lang="en-US" sz="3100" b="1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1. </a:t>
            </a:r>
            <a:r>
              <a:rPr lang="th-TH" sz="3100" b="1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ถ้าลูกตายในท้องเกิดในบ้าน</a:t>
            </a: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ให้เจ้าบ้านแจ้งต่อนายทะเบียนภายใน 24 ชั่วโมงนับแต่เวลาคลอด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นายทะเบียนก็จะออกบัตรลูกตายในท้องไว้เป็นหลักฐาน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en-US" sz="3100" b="1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2. </a:t>
            </a:r>
            <a:r>
              <a:rPr lang="th-TH" sz="3100" b="1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ถ้าลูกตายในท้องเกิดขึ้นนอกบ้าน</a:t>
            </a: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ให้มารดาแจ้งต่อนายทะเบียนแห่งท้องที่ที่ลูกตายในท้องนั้น  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หรือแจ้งต่อท้องที่ที่อาจแจ้งได้ในโอกาสแรกภายใน 24 ชั่วโมงนับแต่เวลาคลอดหรือจะแจ้งต่อ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พนักงานฝ่ายปกครองหรือตำรวจที่สะดวกกว่าก็ได้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endParaRPr lang="th-TH" sz="3100" dirty="0">
              <a:solidFill>
                <a:schemeClr val="bg2">
                  <a:lumMod val="25000"/>
                </a:schemeClr>
              </a:solidFill>
              <a:latin typeface="Angsana New" pitchFamily="18" charset="-34"/>
              <a:cs typeface="Angsana New" pitchFamily="18" charset="-34"/>
            </a:endParaRPr>
          </a:p>
          <a:p>
            <a:pPr>
              <a:spcBef>
                <a:spcPts val="0"/>
              </a:spcBef>
            </a:pPr>
            <a:r>
              <a:rPr lang="th-TH" sz="28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  </a:t>
            </a: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 เมื่อนายทะเบียนได้รับแจ้งแล้วจะออก</a:t>
            </a:r>
            <a:r>
              <a:rPr lang="th-TH" sz="3100" dirty="0" err="1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มรณ</a:t>
            </a: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บัตรให้เว้นแต่นายทะเบียนจะสงสัยในการตายที่ผิดจากธรรมชาติจะไม่ออกไป</a:t>
            </a:r>
            <a:r>
              <a:rPr lang="th-TH" sz="3100" dirty="0" err="1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มรณ</a:t>
            </a: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บัตรให้จนกว่าจะได้แจ้งการตายต่อพนักงานฝ่ายปกครองหรือตำรวจและได้รับความเห็นชอบจากบุคคลเหล่านั้นแล้วจึงออกใบ</a:t>
            </a:r>
            <a:r>
              <a:rPr lang="th-TH" sz="3100" dirty="0" err="1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มรณ</a:t>
            </a:r>
            <a:r>
              <a:rPr lang="th-TH" sz="3100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บัตรให้เพื่อนำไปแสดงต่อผู้เกี่ยวข้องนำไปจัดการทรัพย์มรดกของผู้ตาย เป็นต้น</a:t>
            </a:r>
          </a:p>
          <a:p>
            <a:pPr>
              <a:spcBef>
                <a:spcPts val="0"/>
              </a:spcBef>
            </a:pPr>
            <a:endParaRPr lang="th-TH" sz="2800" dirty="0">
              <a:solidFill>
                <a:schemeClr val="bg2">
                  <a:lumMod val="25000"/>
                </a:schemeClr>
              </a:solidFill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th-TH" sz="36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  โทษ  </a:t>
            </a:r>
            <a:r>
              <a:rPr lang="th-TH" sz="3100" dirty="0">
                <a:latin typeface="Angsana New" pitchFamily="18" charset="-34"/>
                <a:cs typeface="Angsana New" pitchFamily="18" charset="-34"/>
              </a:rPr>
              <a:t>สำหรับผู้ที่มีหน้าที่ที่จะต้องแจ้งการตายแต่ฝ่าฝืนไม่แจ้งภายในระยะเวลาที่กฎหมายกำหนดต้องระวังโทษปรับไม่เกิน </a:t>
            </a:r>
            <a:r>
              <a:rPr lang="th-TH" sz="3100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1,000 </a:t>
            </a:r>
            <a:r>
              <a:rPr lang="th-TH" sz="3100" dirty="0">
                <a:latin typeface="Angsana New" pitchFamily="18" charset="-34"/>
                <a:cs typeface="Angsana New" pitchFamily="18" charset="-34"/>
              </a:rPr>
              <a:t>บาท</a:t>
            </a:r>
            <a:br>
              <a:rPr lang="th-TH" sz="3100" dirty="0"/>
            </a:br>
            <a:endParaRPr lang="th-TH" sz="3100" dirty="0"/>
          </a:p>
        </p:txBody>
      </p:sp>
    </p:spTree>
    <p:extLst>
      <p:ext uri="{BB962C8B-B14F-4D97-AF65-F5344CB8AC3E}">
        <p14:creationId xmlns:p14="http://schemas.microsoft.com/office/powerpoint/2010/main" val="3924363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1556792"/>
            <a:ext cx="7408333" cy="4569371"/>
          </a:xfrm>
        </p:spPr>
        <p:txBody>
          <a:bodyPr/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การย้ายที่อยู่เป็นการเปลี่ยนแปลงรายการใน ทะเบียนบ้านซึ่งเป็นเอกสารของทางราชการที่มีรายละเอียดเกี่ยวกับสถานะเพศอายุของผู้ที่อยู่ในบ้านโดยเจ้าบ้านไม่จำเป็นต้องเป็นเจ้าของกรรมสิทธิ์ในบ้านหลัง นั้นสมาชิกในครอบครัวถ้าต้องการย้ายที่อยู่ต้องแจ้งต่อนายทะเบียนผู้แจ้งต้องนำทะเบียนบ้านไปให้นายทะเบียนตรวจสอบ นายทะเบียนจะกรอกใบแจ้งย้าย กรอกรายการย้ายทะเบียนบ้านและสำเนา กรอกรายการย้ายทะเบียนคน และมอบใบแจ้งย้ายตอน1 และ 2 บัตรทะเบียนคนและสำเนาทะเบียนบ้านแก่ผู้แจ้ง ผู้ย้ายที่อยู่จะต้องนำเอกสารดังกล่าวแสดงต่อนายทะเบียนท้องถิ่นที่ย้ายเข้าการแจ้งทั้งสองกรณีจะต้องทำภายใน 15 วันนับแต่มีการย้ายออกหรือย้ายเข้าบ้าน</a:t>
            </a:r>
          </a:p>
          <a:p>
            <a:endParaRPr lang="th-TH" dirty="0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การย้ายที่อยู่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3227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548680"/>
            <a:ext cx="7408333" cy="5577483"/>
          </a:xfrm>
        </p:spPr>
        <p:txBody>
          <a:bodyPr>
            <a:normAutofit lnSpcReduction="10000"/>
          </a:bodyPr>
          <a:lstStyle/>
          <a:p>
            <a:r>
              <a:rPr lang="th-TH" sz="3200" b="1" dirty="0">
                <a:solidFill>
                  <a:schemeClr val="bg1"/>
                </a:solidFill>
                <a:latin typeface="Angsana New" pitchFamily="18" charset="-34"/>
                <a:cs typeface="Angsana New" pitchFamily="18" charset="-34"/>
              </a:rPr>
              <a:t>การแจ้งย้ายออกจากบ้าน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   เมื่อผู้มีชื่ออยู่ในทะเบียนบ้านย้ายออกไปจากบ้านที่ตนมีชื่ออยู่ไม่ว่าจะไปประกอบอาชีพหรือย้ายภูมิลำเนาเดิมไปอยู่ ที่อื่นจะต้องแจ้งการย้ายออกต่อนายทะเบียนผู้รับแจ้งภายใน 15 วันนับแต่วันที่ย้ายออกจากบ้านโดยผู้มีหน้าที่แจ้งย้ายคือเจ้าบ้านของบ้านที่มีคนย้ายออกหรือบุคคลที่ได้รับมอบหมายจากเจ้าบ้านให้แจ้งการย้ายแทน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สถานที่แจ้งการย้ายที่อยู่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1.1 ถ้าบ้านของคนย้ายออกอยู่ในเขตท้องที่ที่ว่าการอำเภอให้แจ้งต่อผู้ใหญ่บ้านของหมู่บ้านที่บ้านหลังนั้นตั้งอยู่โดยผู้ใหญ่บ้านในฐานะนายทะเบียนผู้รับแจ้งประจำหมู่บ้านจะรับแจ้งการย้ายที่อยู่และออกหลักฐานใบรับแจ้งย้ายที่อยู่ (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ท.ร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.6 ตอนหน้า) ให้เป็นหลักฐาน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1.2 เมื่อได้รับใบรับแจ้งการย้ายที่อยู่แล้ว เจ้าบ้านจะต้องนำหลักฐานดังกล่าวไปแจ้งต่อนายทะเบียนที่สำนักงานทะเบียนของอำเภอเพื่อให้ขอออกใบแจ้งย้ายที่อยู่อย่างไรก็ตามหากเจ้าบ้านสามารถที่จะไปแจ้งการย้ายออกที่งานทะเบียนของที่ว่าการอำเภอได้โดยตรงโดยไม่ต้องทำการแจ้งกับผู้ใหญ่บ้านก็ได้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48477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27584" y="620688"/>
            <a:ext cx="7408333" cy="5073427"/>
          </a:xfrm>
        </p:spPr>
        <p:txBody>
          <a:bodyPr/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1.3 เมื่อนายทะเบียนรับแจ้งการย้ายแล้วจะออกแจ้งการย้ายที่อยู่ตอน1 และ 2 ให้เป็นหลักฐานเพื่อนำไปแจ้งย้ายเข้าบ้านหลังที่ไปอาศัยอยู่ใหม่หักบ้านที่คนย้ายออกอยู่ในเขตท้องที่ที่เทศบาลสามารถไปแจ้งการย้ายออกที่งานทะเบียนในสำนักงานเขตเทศบาลนั้นได้กรณีนี้จะไม่มีหลักฐานใบรับแจ้งการย้ายที่อยู่ (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ท.ร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.6 ตอนหน้า)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2.หลักฐานที่ต้องนำไปแสดง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2.1บัตรประจำตัวของเจ้าบ้าน หรือของผู้ที่ได้รับมอบหมาย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2.2บัตรประจำตัวของคนที่ย้ายออก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2.3ใบรับแจ้งการย้ายที่อยู่(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ท.ร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.6 ตอนหน้า) ที่ผู้ใหญ่บ้านออกให้(ถ้ามี)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2.4สำเนาทะเบียนบ้านที่คนย้ายออกมีชื่ออยู่</a:t>
            </a: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12" y="4293095"/>
            <a:ext cx="4262016" cy="22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62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39553" y="1412776"/>
            <a:ext cx="8136904" cy="5040560"/>
          </a:xfrm>
        </p:spPr>
        <p:txBody>
          <a:bodyPr>
            <a:normAutofit fontScale="92500"/>
          </a:bodyPr>
          <a:lstStyle/>
          <a:p>
            <a:r>
              <a:rPr lang="th-TH" sz="2800" dirty="0">
                <a:latin typeface="Angsana New" pitchFamily="18" charset="-34"/>
                <a:cs typeface="Angsana New" pitchFamily="18" charset="-34"/>
              </a:rPr>
              <a:t> เมื่อมีคนย้ายเข้ามาอาศัยอยู่ในบ้านจะต้องแจ้งการย้ายเข้าต่อนายทะเบียนผู้รับแจ้งภายใน 15 วันนับแต่วันที่ผู้นั้นเข้ามาอยู่ในบ้านโดยผู้มีหน้าที่แจ้งการย้ายเข้าคือเจ้าบ้านของบ้านที่มีคนย้ายเข้าหรือบุคคลที่ได้รับมอบหมายจากเจ้าบ้านให้แจ้งการย้ายแทน</a:t>
            </a:r>
          </a:p>
          <a:p>
            <a:r>
              <a:rPr lang="th-TH" sz="2800" dirty="0">
                <a:latin typeface="Angsana New" pitchFamily="18" charset="-34"/>
                <a:cs typeface="Angsana New" pitchFamily="18" charset="-34"/>
              </a:rPr>
              <a:t>      1.สถานที่แจ้งการย้ายที่อยู่</a:t>
            </a:r>
          </a:p>
          <a:p>
            <a:pPr marL="0" indent="0">
              <a:buNone/>
            </a:pPr>
            <a:r>
              <a:rPr lang="th-TH" sz="2800" dirty="0">
                <a:latin typeface="Angsana New" pitchFamily="18" charset="-34"/>
                <a:cs typeface="Angsana New" pitchFamily="18" charset="-34"/>
              </a:rPr>
              <a:t>       1.1 ถ้าบ้านที่ย้ายเข้าอยู่ในเขตท้องที่เทศบาลก็ให้ไปแจ้งย้ายเข้าที่งานทะเบียนในสำนักงานทะเบียนของเทศบาลนั้น </a:t>
            </a:r>
          </a:p>
          <a:p>
            <a:pPr marL="0" indent="0">
              <a:buNone/>
            </a:pPr>
            <a:r>
              <a:rPr lang="th-TH" sz="2800" dirty="0">
                <a:latin typeface="Angsana New" pitchFamily="18" charset="-34"/>
                <a:cs typeface="Angsana New" pitchFamily="18" charset="-34"/>
              </a:rPr>
              <a:t>       1.2 ถ้าบ้านที่ย้ายเข้าอยู่นอกเขตเทศบาลก็ให้ไปแจ้งยังงานทะเบียนของที่ว่าการอำเภอในท้องที่ที่ตั้งอยู่นั้น</a:t>
            </a:r>
          </a:p>
          <a:p>
            <a:r>
              <a:rPr lang="th-TH" sz="2800" dirty="0">
                <a:latin typeface="Angsana New" pitchFamily="18" charset="-34"/>
                <a:cs typeface="Angsana New" pitchFamily="18" charset="-34"/>
              </a:rPr>
              <a:t>การไม่แจ้งย้ายออกภายใน 15 วันนับแต่วันที่มีคนย้ายออกจากบ้านและการไม่แจ้งย้ายเข้าภายใน 15 วันนับแต่วันที่มีคนเข้ามาอยู่อาศัยภายในบ้านเป็นความผิดมีโทษปรับไม่เกิน 1,000 บาท</a:t>
            </a: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07444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การแจ้งย้ายเข้าอยู่ในบ้าน</a:t>
            </a:r>
          </a:p>
        </p:txBody>
      </p:sp>
    </p:spTree>
    <p:extLst>
      <p:ext uri="{BB962C8B-B14F-4D97-AF65-F5344CB8AC3E}">
        <p14:creationId xmlns:p14="http://schemas.microsoft.com/office/powerpoint/2010/main" val="2998656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221088"/>
            <a:ext cx="5328592" cy="2400850"/>
          </a:xfrm>
          <a:prstGeom prst="rect">
            <a:avLst/>
          </a:prstGeom>
        </p:spPr>
      </p:pic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611560" y="188640"/>
            <a:ext cx="7408333" cy="54334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sz="4000" b="1" dirty="0">
                <a:solidFill>
                  <a:schemeClr val="bg1"/>
                </a:solidFill>
                <a:latin typeface="Angsana New" pitchFamily="18" charset="-34"/>
                <a:cs typeface="Angsana New" pitchFamily="18" charset="-34"/>
              </a:rPr>
              <a:t>การแจ้งย้ายปลายทาง</a:t>
            </a:r>
          </a:p>
          <a:p>
            <a:pPr marL="0" indent="0" algn="ctr">
              <a:buNone/>
            </a:pPr>
            <a:endParaRPr lang="th-TH" b="1" dirty="0">
              <a:solidFill>
                <a:schemeClr val="bg1"/>
              </a:solidFill>
              <a:latin typeface="Angsana New" pitchFamily="18" charset="-34"/>
              <a:cs typeface="Angsana New" pitchFamily="18" charset="-34"/>
            </a:endParaRP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เพื่อเป็นการอำนวยความสะดวกแก่ผู้ที่ย้ายเข้ามาอยู่ในบ้านซึ่งตั้งอยู่ต่างท้องที่กลับบ้านที่ผู้นั้นมีชื่ออยู่ในทะเบียนบ้านโดยผู้ย้ายที่อยู่ไม่ต้องกลับไปแจ้งการย้ายออก ณ สำนักทะเบียนที่บ้านเดิมตั้งอยู่ในเขตพื้นที่ผู้ใหญ่ที่อยู่สามารถยื่นคำร้องขอแจ้งการย้ายออกและย้ายเข้าในคราวเดียวกันได้ที่สำนักทะเบียนอำเภอหรือสำนักทะเบียนท้องถิ่นเทศบาลซึ่งเป็นที่จะย้ายเข้าไปอยู่อาศัยนั้นตั้งอยู่ในเขตพื้นที่เรียกว่าการแจ้งย้ายที่อยู่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ปลายทาง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55292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5054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sz="3600" b="1" dirty="0">
                <a:solidFill>
                  <a:schemeClr val="bg1"/>
                </a:solidFill>
                <a:latin typeface="Angsana New" pitchFamily="18" charset="-34"/>
                <a:cs typeface="Angsana New" pitchFamily="18" charset="-34"/>
              </a:rPr>
              <a:t>การแจ้งย้ายที่อยู่ของคนที่ไปต่างประเทศ</a:t>
            </a:r>
          </a:p>
          <a:p>
            <a:pPr marL="0" indent="0" algn="ctr">
              <a:buNone/>
            </a:pPr>
            <a:endParaRPr lang="th-TH" sz="2000" b="1" dirty="0">
              <a:solidFill>
                <a:schemeClr val="bg1"/>
              </a:solidFill>
              <a:latin typeface="Angsana New" pitchFamily="18" charset="-34"/>
              <a:cs typeface="Angsana New" pitchFamily="18" charset="-34"/>
            </a:endParaRPr>
          </a:p>
          <a:p>
            <a:r>
              <a:rPr lang="th-TH" sz="2800" dirty="0">
                <a:latin typeface="Angsana New" pitchFamily="18" charset="-34"/>
                <a:cs typeface="Angsana New" pitchFamily="18" charset="-34"/>
              </a:rPr>
              <a:t>     เมื่อคนที่มีชื่ออยู่ในทะเบียนบ้านเดินทางไปต่างประเทศเพื่อไปประกอบอาชีพหรือไปอาศัยอยู่เป็นเวลานาน หรือไปศึกษาเล่าเรียนจะต้องแจ้งย้ายออกโดยผู้มีหน้าที่แจ้งย้ายได้แก่เจ้าบ้านของบ้านที่มีคนไปต่างประเทศ หรือบุคคลที่ได้รับมอบหมายจากเจ้าบ้านให้แจ้งการย้ายแทนและเมื่อนายทะเบียนรับแจ้งการย้ายแล้ว จะเพิ่มชื่อคนที่ย้ายออกนั้นไว้ในทะเบียนบ้านชั่วคราวสำหรับผู้ที่เดินทางไปต่างประเทศเมื่อบุคคลดังกล่าวเดินทางกลับประเทศ ก็สามารถขอแจ้งรายชื่อกลับไปเข้าทะเบียนบ้านตามเดิมได้</a:t>
            </a:r>
            <a:endParaRPr lang="th-TH" sz="2800" dirty="0"/>
          </a:p>
        </p:txBody>
      </p:sp>
    </p:spTree>
    <p:extLst>
      <p:ext uri="{BB962C8B-B14F-4D97-AF65-F5344CB8AC3E}">
        <p14:creationId xmlns:p14="http://schemas.microsoft.com/office/powerpoint/2010/main" val="910842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872067" y="1844824"/>
            <a:ext cx="7804389" cy="4281339"/>
          </a:xfrm>
        </p:spPr>
        <p:txBody>
          <a:bodyPr>
            <a:normAutofit/>
          </a:bodyPr>
          <a:lstStyle/>
          <a:p>
            <a:pPr lvl="1"/>
            <a:r>
              <a:rPr lang="th-TH" sz="2400" dirty="0">
                <a:latin typeface="Angsana New" pitchFamily="18" charset="-34"/>
                <a:cs typeface="Angsana New" pitchFamily="18" charset="-34"/>
              </a:rPr>
              <a:t> ถ้าคนที่มีชื่ออยู่ในทะเบียนบ้านออกจากบ้านไปอยู่ที่อื่นเป็นเวลาไม่น้อยกว่า 180 วัน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โดยที่เจ้าบ้านและบุคคลในบ้านไม่รู้ว่าไปอยู่อาศัยอยู่ที่ใดมีชีวิตอยู่หรือไม่จะต้องแจ้งย้าย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บุคคลนั้นออกจากทะเบียนบ้านภายใน 30 วันนับแต่วันที่ออกจากบ้านไปครบ 180 วันโดยผู้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มีหน้าที่แจ้งย้ายได้แก่เจ้าบ้านของบ้านที่มีคนย้ายออกหรือบุคคลที่ได้รับมอบหมายจากเจ้า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บ้านให้แจ้งการย้ายแทนและเมื่อนายทะเบียนรับแจ้งการย้ายออกแล้วจะเพิ่มชื่อคนที่ออกไป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จากบ้านเป็นเวลานานไว้ในทะเบียนบ้านกลางของสำนักทะเบียนถ้าบุคคลนั้นปรากฏตัวขึ้น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ภายหลังก็สามารถ ขอแจ้งย้ายออกจากทะเบียนบ้านกลางไปเข้าบ้านที่อาศัยอยู่จริงได้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32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โทษ</a:t>
            </a:r>
          </a:p>
          <a:p>
            <a:pPr marL="301943" lvl="1" indent="0">
              <a:buNone/>
            </a:pPr>
            <a:r>
              <a:rPr lang="th-TH" sz="2400" dirty="0">
                <a:latin typeface="Angsana New" pitchFamily="18" charset="-34"/>
                <a:cs typeface="Angsana New" pitchFamily="18" charset="-34"/>
              </a:rPr>
              <a:t>       ถ้าไม่แจ้งย้ายภายในเวลาที่กำหนดต้องระวังโทษปรับไม่เกิน </a:t>
            </a:r>
            <a:r>
              <a:rPr lang="th-TH" sz="2400" u="sng" dirty="0">
                <a:latin typeface="Angsana New" pitchFamily="18" charset="-34"/>
                <a:cs typeface="Angsana New" pitchFamily="18" charset="-34"/>
              </a:rPr>
              <a:t>1</a:t>
            </a:r>
            <a:r>
              <a:rPr lang="en-US" sz="2400" u="sng" dirty="0">
                <a:latin typeface="Angsana New" pitchFamily="18" charset="-34"/>
                <a:cs typeface="Angsana New" pitchFamily="18" charset="-34"/>
              </a:rPr>
              <a:t>,</a:t>
            </a:r>
            <a:r>
              <a:rPr lang="th-TH" sz="2400" u="sng" dirty="0">
                <a:latin typeface="Angsana New" pitchFamily="18" charset="-34"/>
                <a:cs typeface="Angsana New" pitchFamily="18" charset="-34"/>
              </a:rPr>
              <a:t>000</a:t>
            </a:r>
            <a:r>
              <a:rPr lang="th-TH" sz="2400" dirty="0">
                <a:latin typeface="Angsana New" pitchFamily="18" charset="-34"/>
                <a:cs typeface="Angsana New" pitchFamily="18" charset="-34"/>
              </a:rPr>
              <a:t> บาท</a:t>
            </a:r>
          </a:p>
          <a:p>
            <a:pPr marL="301943" lvl="1" indent="0">
              <a:buNone/>
            </a:pPr>
            <a:endParaRPr lang="th-TH" sz="2400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การแจ้งย้ายที่อยู่ของคนที่ออกไปจากบ้านเป็นเวลานาน</a:t>
            </a:r>
            <a:br>
              <a:rPr lang="th-TH" b="1" dirty="0">
                <a:latin typeface="Angsana New" pitchFamily="18" charset="-34"/>
                <a:cs typeface="Angsana New" pitchFamily="18" charset="-34"/>
              </a:rPr>
            </a:br>
            <a:r>
              <a:rPr lang="th-TH" b="1" dirty="0">
                <a:latin typeface="Angsana New" pitchFamily="18" charset="-34"/>
                <a:cs typeface="Angsana New" pitchFamily="18" charset="-34"/>
              </a:rPr>
              <a:t>และไม่รู้ว่าอยู่ที่ใด</a:t>
            </a:r>
          </a:p>
        </p:txBody>
      </p:sp>
    </p:spTree>
    <p:extLst>
      <p:ext uri="{BB962C8B-B14F-4D97-AF65-F5344CB8AC3E}">
        <p14:creationId xmlns:p14="http://schemas.microsoft.com/office/powerpoint/2010/main" val="3148997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121" y="5085184"/>
            <a:ext cx="2828925" cy="1619250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611560" y="1196752"/>
            <a:ext cx="7408333" cy="4425355"/>
          </a:xfrm>
        </p:spPr>
        <p:txBody>
          <a:bodyPr/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บ้าน  หมายความว่า โรงเรือนหรือสิ่งปลูกสร้างสำหรับใช้เป็นที่อยู่อาศัยซึ่งมีเจ้าบ้านครอบครองและให้หมายความรวมถึงแพหรือเรือซึ่งจอด เป็นประจำและใช้เป็นที่อยู่ประจำหรือสถานที่หรือยานพาหนะอื่นซึ่งใช้เป็นที่อยู่อาศัยประจำได้ด้วยโดยกฎหมายกำหนดให้ทุกบ้านมีเลขประจำบ้านหากบ้านใดยังไม่มีเลขประจำบ้านให้เจ้าบ้านแจ้งต่อนายทะเบียนผู้รับแจ้งเพื่อขอเลขประจำบ้านภายใน 15 วันนับตั้งแต่วันสร้างบ้านเสร็จ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ทะเบียนบ้าน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     เป็นเอกสารทางราชการที่ระบุรายละเอียดของแต่ละบุคคลที่อาศัยอยู่ในบ้านหลังนั้นนั้นโดยจะระบุว่าผู้ใดเป็นเจ้าบ้านและผู้อาศัยทะเบียนบ้านนั้นไม่ได้เป็นเอกสารซึ่งบ่งบอกถึงการมีกรรมสิทธิ์ในทรัพย์สินแต่เป็นเอกสารซึ่งระบุว่าผู้ใดเป็นเจ้าบ้านและมีใครเป็นผู้อาศัยอยู่ในบ้านหลังนั้นซึ่งเป็นไปตามพระราชบัญญัติการทะเบียนพ.ศ. 2534 และแก้ไขเมื่อปีพ.ศ. 2551</a:t>
            </a: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07444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การทะเบียนบ้าน</a:t>
            </a:r>
          </a:p>
        </p:txBody>
      </p:sp>
    </p:spTree>
    <p:extLst>
      <p:ext uri="{BB962C8B-B14F-4D97-AF65-F5344CB8AC3E}">
        <p14:creationId xmlns:p14="http://schemas.microsoft.com/office/powerpoint/2010/main" val="867858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84784"/>
            <a:ext cx="7408333" cy="4641379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ทะเบียนบ้าน(</a:t>
            </a:r>
            <a:r>
              <a:rPr lang="th-TH" sz="2600" dirty="0" err="1">
                <a:latin typeface="Angsana New" pitchFamily="18" charset="-34"/>
                <a:cs typeface="Angsana New" pitchFamily="18" charset="-34"/>
              </a:rPr>
              <a:t>ท.ร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.14)ใช้สำหรับลงรายการของคนที่มีสัญชาติไทยและคนต่างด้าวที่มีใบสำคัญประจำตัวคนต่างด้าว</a:t>
            </a:r>
          </a:p>
          <a:p>
            <a:r>
              <a:rPr lang="en-US" sz="2600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ทะเบียนบ้าน(</a:t>
            </a:r>
            <a:r>
              <a:rPr lang="th-TH" sz="2600" dirty="0" err="1">
                <a:latin typeface="Angsana New" pitchFamily="18" charset="-34"/>
                <a:cs typeface="Angsana New" pitchFamily="18" charset="-34"/>
              </a:rPr>
              <a:t>ท.ร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.13)ใช้ลงรายการของคนต่างด้าวที่เข้าเมืองโดยชอบด้วยกฎหมายแต่อยู่ในลักษณะชั่วคราวหรือเข้าเมืองโดยไม่ชอบด้วยกฎหมายตามกฎหมายคนเข้าเมือง</a:t>
            </a:r>
          </a:p>
          <a:p>
            <a:r>
              <a:rPr lang="en-US" sz="2600" dirty="0">
                <a:latin typeface="Angsana New" pitchFamily="18" charset="-34"/>
                <a:cs typeface="Angsana New" pitchFamily="18" charset="-34"/>
              </a:rPr>
              <a:t>3.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 ทะเบียนบ้านกลางมิใช่ทะเบียนบ้านแต่เป็นทะเบียนซึ่งผู้อำนวยการทะเบียนกลางกำหนดให้จัดทำขึ้นสำหรับลงรายการบุคคลที่ไม่อาจมีชื่อในทะเบียนบ้าน                 </a:t>
            </a:r>
          </a:p>
          <a:p>
            <a:r>
              <a:rPr lang="en-US" sz="2600" dirty="0">
                <a:latin typeface="Angsana New" pitchFamily="18" charset="-34"/>
                <a:cs typeface="Angsana New" pitchFamily="18" charset="-34"/>
              </a:rPr>
              <a:t>4.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 ทะเบียนบ้านชั่วคราวเป็นทะเบียนประจำบ้านที่ออกให้กลับบ้านที่ปลูกสร้างในที่สาธารณะหรือโดยบุกรุกป่าสงวนหรือโดยไม่ได้รับอนุญาตตามกฎหมายว่าด้วยการควบคุมการก่อสร้างอาคารหรือตามกฎหมายอื่นทั้งนี้ทะเบียนบ้านชั่วคราวเป็นเอกสารราชการใช้ได้เหมือนทะเบียนบ้านและผู้มีชื่อในทะเบียนบ้านชั่วคราวคงมีสิทธิและหน้าที่เช่นเดียวกับบุคคลที่มีชื่ออยู่ในทะเบียนบ้าน           </a:t>
            </a:r>
          </a:p>
          <a:p>
            <a:r>
              <a:rPr lang="th-TH" sz="2600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2600" dirty="0">
                <a:latin typeface="Angsana New" pitchFamily="18" charset="-34"/>
                <a:cs typeface="Angsana New" pitchFamily="18" charset="-34"/>
              </a:rPr>
              <a:t>5.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 ทะเบียนบ้านชั่วคราวของสำนักทะเบียนเป็นทะเบียนบ้าน พวกที่ผู้อำนวยการทะเบียนกลางกำหนดให้ทุกสำนักทะเบียนจัดทำขึ้นเพื่อใช้ลงรายการของบุคคลซึ่งขอแจ้งย้ายออกจากทะเบียนบ้านเพื่อเดินทางไปต่างประเทศ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ลักษณะของทะเบียนบ้าน</a:t>
            </a:r>
          </a:p>
        </p:txBody>
      </p:sp>
    </p:spTree>
    <p:extLst>
      <p:ext uri="{BB962C8B-B14F-4D97-AF65-F5344CB8AC3E}">
        <p14:creationId xmlns:p14="http://schemas.microsoft.com/office/powerpoint/2010/main" val="4283765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84784"/>
            <a:ext cx="7408333" cy="46413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h-TH" dirty="0"/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เจ้าบ้านหมายความว่าผู้ซึ่งเป็นหัวหน้าครอบครองบ้านในฐานะเป็นเจ้าของผู้เช่าหรือในฐานะอื่นใดก็ตามในกรณีที่ไม่ปรากฏเจ้าบ้านหรือเจ้าบ้านไม่อยู่ตายสูญหายสาบสูญหรือไม่สามารถปฏิบัติกิจการได้ให้ถือว่าผู้มีหน้าที่ดูแลบ้านในขณะนั้นเป็นเจ้าบ้า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หน้าที่ของเจ้าบ้าน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เจ้าบ้านเป็นผู้มีหน้าที่ต้องแจ้งเกี่ยวกับการต่างๆที่ได้บัญญัติไว้ตาม พ.ร.บ.การทะเบียนราษฎรพ.ศ. 2534 เช่นการแจ้งเกิดแจ้งตายแจ้งย้ายที่อยู่หรือเรื่องอื่นๆเกี่ยวกับบ้านโดยอาจมอบหมายให้ผู้อื่นไปดำเนินการแทนได้หากเจ้าบ้านไม่อยู่เช่นไปต่างประเทศหรืออยู่แต่ไม่สามารถปฏิบัติภารกิจได้ผู้มีชื่อในทะเบียนบ้านผู้หนึ่งผู้ใดสามารถดำเนินการแจ้งโดยทำหน้าที่เจ้าบ้านได้โดยในทะเบียนบ้านจะบันทึกถ้อยคำให้ได้ข้อเท็จจริงว่าบุคคลดังกล่าวเป็นผู้มีหน้าที่ดูแลบ้านแทนเจ้าบ้านในขณะนั้น 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เจ้าบ้านและการมอบหมาย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57137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556792"/>
            <a:ext cx="7408333" cy="4569371"/>
          </a:xfrm>
        </p:spPr>
        <p:txBody>
          <a:bodyPr/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หลักเกณฑ์การจำหน่ายชื่อและรายการบุคคลออกจากทะเบียนบ้านมีหลายกรณีได้แก่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1. ผู้มีชื่อในทะเบียนบ้านถึงแก่ความตาย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2. กรณีบุคคลมีชื่อซ้ำในทะเบียนบ้านเกินกว่าหนึ่งแห่ง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3.กรณีบุคคลมีชื่อในทะเบียนบ้านโดยมิชอบด้วยกฎหมายและระเบียบ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การจำหน่ายชื่อและรายการบุคคลออกจากทะเบียนบ้าน</a:t>
            </a:r>
            <a:br>
              <a:rPr lang="th-TH" dirty="0"/>
            </a:br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351088"/>
            <a:ext cx="3289548" cy="317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352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221088"/>
            <a:ext cx="4320480" cy="2522418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467544" y="1052736"/>
            <a:ext cx="8280920" cy="3456384"/>
          </a:xfrm>
        </p:spPr>
        <p:txBody>
          <a:bodyPr>
            <a:normAutofit/>
          </a:bodyPr>
          <a:lstStyle/>
          <a:p>
            <a:r>
              <a:rPr lang="th-TH" dirty="0"/>
              <a:t>  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คนสัญชาติไทยจะถือบัตรประจำตัวบุคคลที่ออกโดยอาศัยอำนาจตามพ.ร.บ.บัตรประชาชนพ.ศ. 2526 ซึ่งถูกแก้ไขและเพิ่มเติมโดยพ.ร.บ. บัตรประชาชนพ.ศ. 2526 โดยกรมการปกครองซึ่งเป็นหน่วยงานที่รับผิดชอบทะเบียนราษฎรประกาศกำหนดให้บุคคลภายในประเทศไทยต้องมีเลขประจำตัวประชาชนปรากฏในทะเบียนบ้านและบัตรประจำตัวประชาชนเนื่องจากก่อนหน้านี้ประเทศไทยยังไม่เคยกำหนดเลข ประจำตัว เช่นนี้มาก่อนโดยบุคคลภายในประเทศไทยทั้งหมดจะต้องมีเลขประจำตัวประชาชนเพื่อแสดงตนว่าเป็นบุคคลประเภทใดโดยดูตามเงื่อนไขในแต่ละกรณีผู้ถือบัตรประจำตัวประชาชนไทยประเภทจะถูกบันทึกรายการ สถานะบุคคลในทะเบียนบ้านตามกฎหมายการทะเบียนราษฎรตามมาตรา 36 แห่งพ.ร.บ.การทะเบียนราษฎรพ.ศ. 2534 ซึ่งถูกแก้ไขและเพิ่มเติม(ฉบับที่2) พ.ศ.2551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826352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บัตรประจำตัวประชาชน</a:t>
            </a:r>
          </a:p>
        </p:txBody>
      </p:sp>
    </p:spTree>
    <p:extLst>
      <p:ext uri="{BB962C8B-B14F-4D97-AF65-F5344CB8AC3E}">
        <p14:creationId xmlns:p14="http://schemas.microsoft.com/office/powerpoint/2010/main" val="1555572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80728"/>
            <a:ext cx="7732381" cy="5145435"/>
          </a:xfrm>
        </p:spPr>
        <p:txBody>
          <a:bodyPr>
            <a:normAutofit/>
          </a:bodyPr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บัตรประจำตัวประชาชนเป็นเอกสารราชการที่ออกให้สำหรับผู้มีสัญชาติไทยเพื่อใช้เป็นหลักฐานในการแสดงตนเพื่อพิสูจน์และยืนยันบุคคลในการติดต่อราชการการขอรับบริการและสวัสดิการต่างๆจากหน่วยงานของรัฐรวมทั้งใช้ประกอบการทำธุรกิจและนิติกรรมต่างๆเช่นการขอเปิดเริ่มใช้บัตรประชาชนแบบอเนกประสงค์ตั้งแต่ปีพ.ศ. 2547 ซึ่งเป็นการพัฒนาระบบมาจากบัตรประจำตัวประชาชนแบบแถบแม่เหล็กมีระบบความปลอดภัยและป้องกันการปลอมแปลงด้านหน้าประกอบด้วยชื่อนามสกุลทั้งภาษาไทย และภาษาอังกฤษที่อยู่ของผู้ถือบัตร สถานที่ออกบัตร วันที่บัตรหมดอายุ รหัสบาร์โค้ดและเลขรหัสเฉพาะสำหรับระบบความปลอดภัยด้านหลังบัตรจะมีแถบแม่เหล็กรองรับการใช้บัตรเอทีเอ็ม รหัสใบขับขี่ รหัสรองรับหมายเลขหนังสือเดินทาง และหนังสือผ่านแดน ส่วนที่เป็นชิพ เก็บข้อมูลบนบัตรจะบรรจุข้อมูลศาสนา หมู่โลหิต ลายพิมพ์นิ้วมือ และภาพถ่ายของเจ้าของบัตรรวมทั้งข้อมูลพื้นฐานอื่นเฉพาะที่จำเป็น เช่น ข้อมูลประกันสังคม และบัตรประจำตัวผู้เสียภาษี. เป็นต้น. </a:t>
            </a:r>
          </a:p>
        </p:txBody>
      </p:sp>
    </p:spTree>
    <p:extLst>
      <p:ext uri="{BB962C8B-B14F-4D97-AF65-F5344CB8AC3E}">
        <p14:creationId xmlns:p14="http://schemas.microsoft.com/office/powerpoint/2010/main" val="2336202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2780928"/>
            <a:ext cx="7408333" cy="3849291"/>
          </a:xfrm>
        </p:spPr>
        <p:txBody>
          <a:bodyPr>
            <a:normAutofit lnSpcReduction="10000"/>
          </a:bodyPr>
          <a:lstStyle/>
          <a:p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 เลขประจำตัวในบัตรประชาชนของคนไทยเป็นหมายเลข 13 หลักและตัวเลข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ในแต่ละหลักนั้นมีความหมายแตกต่างกัน ดังต่อไปนี้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 </a:t>
            </a:r>
            <a:r>
              <a:rPr lang="th-TH" sz="26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ตัวเลขหลักที่1 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หมายถึง ประเภทบุคคลซึ่งมีอยู่ 8 ประเภทได้แก่ คนที่เกิดและมี  สัญชาติไทยและได้แจ้งเกิดภายในกำหนดเวลา คนที่เกิดและมีสัญชาติไทยได้แจ้งเกิดเกินกำหนดเวลา คนไทยและคนต่างด้าวที่มีใบสำคัญประจำตัวคนต่างด้าว คนไทยที่ได้รับอนุมัติให้เพิ่มชื่อเข้าไปในทะเบียนบ้านในกรณีตกสำรวจหรือกรณีอื่นๆ ผู้ที่เข้าเมืองโดยมิชอบด้วยกฎหมาย ผู้ที่เข้าเมืองโดยชอบด้วยกฎหมายแต่อยู่ในลักษณะชั่วคราวและคนต่างด้าวที่เข้าเมืองโดยถูกต้องตามกฎหมาย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  </a:t>
            </a:r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60648"/>
            <a:ext cx="540060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46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505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	ตัวเลขหลักที่ 2 ถึงหลักที่5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หมายถึง รหัสของสำนักทะเบียนหรืออำเภอที่มีชื่ออยู่ในทะเบียนคณะที่ให้เลขกล่าวคือเลขหลักที่2และ3 จะหมายถึงจังหวัดที่อยู่ ส่วนหลักที่4 และ5 หมายถึงเขตเหลืออำเภอในจังหวัดนั้นๆ </a:t>
            </a:r>
          </a:p>
          <a:p>
            <a:pPr marL="0" indent="0">
              <a:buNone/>
            </a:pP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	ตัวเลขที่ 6 ถึงหลักที่ 10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หมายถึง กลุ่มของบุคคลแต่ละประเภทตามหลักแรกซึ่งทางสำนักทะเบียนในแต่ละแห่งก็จะจัดกลุ่มเรียงไปตามลำดับหรือหักเป็นเด็กเกิดใหม่ในปัจจุบันเลขดังกล่าวก็จะหมายถึงเลขที่ของ สูติบัตร(ใบแจ้งเกิดที่อำเภอหรือเขตออกให้) ซึ่งก็คือเลขประจำตัวในทะเบียนบ้านของเด็กที่แต่ละอำเภอหรือเขตออกให้และจะปรากฏในบัตรประชาชน เมื่อถึงอายุต้องทำบัตรนั่นเองแต่ถ้ายังไม่ถึงเกณฑ์เลขนี้ก็จะปรากฏอยู่แค่ในทะเบียนบ้านของเด็กเท่านั้น</a:t>
            </a:r>
          </a:p>
          <a:p>
            <a:pPr marL="0" indent="0">
              <a:buNone/>
            </a:pP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	ตัวเลขหลักที่11 ถึงหลักที่12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หมายถึง ลำดับที่ของบุคคลในแต่ละกลุ่มประเภทเป็นการจัดลำดับว่าเป็นคนที่เท่าไหร่ในกลุ่มของบุคคลนั้นๆ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ตัวเลขหลักที่13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เป็นตัวเลขตรวจสอบความถูกต้องของเลขทั้ง 12 หลักแรก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42999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692696"/>
            <a:ext cx="7408333" cy="54334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h-TH" sz="28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คุณสมบัติของผู้ที่ต้องมีบัตรประจำตัว</a:t>
            </a:r>
            <a:endParaRPr lang="en-US" sz="2800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มีสัญชาติไทย 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มีอายุตั้งแต่ 7 ปีบริบูรณ์แต่ไม่เกิน 70 ปี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ต้องมีชื่ออยู่ในทะเบียนบ้าน(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ท.ร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.14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)</a:t>
            </a:r>
          </a:p>
          <a:p>
            <a:pPr marL="0" indent="0">
              <a:buNone/>
            </a:pPr>
            <a:r>
              <a:rPr lang="th-TH" sz="28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บุคคลที่กฎหมายยกเว้นไม่ต้องมีบัตรประจำตัวประชาชน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	1. สมเด็จพระบรมราชินี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	2. พระบรมวงศานุวงศ์ตั้งแต่ฉันพระองค์เจ้าขึ้นไป 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	3. ภิกษุ สามเณร นักพรต นักบวช 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	4. ผู้มีกายพิการเดินไม่ได้หรือเป็นใบ้หรือตาบอดทั้งสองข้างหรือจิตฟั่นเฟือน  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              ไม่สมประกอบ 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	 5. ผู้อยู่ในที่คุมขังโดยชอบด้วยกฎหมาย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              6. บุคคลซึ่งกำลังศึกษาวิชานะต่างประเทศและไม่สามารถยื่นคำขอมีบัตรประจำตัว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                 ประชาชนได้</a:t>
            </a:r>
          </a:p>
          <a:p>
            <a:pPr marL="0" indent="0">
              <a:buNone/>
            </a:pPr>
            <a:r>
              <a:rPr lang="th-TH" dirty="0">
                <a:solidFill>
                  <a:schemeClr val="bg2">
                    <a:lumMod val="25000"/>
                  </a:schemeClr>
                </a:solidFill>
                <a:latin typeface="Angsana New" pitchFamily="18" charset="-34"/>
                <a:cs typeface="Angsana New" pitchFamily="18" charset="-34"/>
              </a:rPr>
              <a:t>                     7. บุคคลที่ได้รับการยกเว้นข้างต้น จะขอมีบัตรประจำตัวประชาชนก็ได้</a:t>
            </a:r>
          </a:p>
          <a:p>
            <a:pPr marL="0" indent="0">
              <a:buNone/>
            </a:pPr>
            <a:endParaRPr lang="th-TH" dirty="0">
              <a:solidFill>
                <a:schemeClr val="bg2">
                  <a:lumMod val="25000"/>
                </a:schemeClr>
              </a:solidFill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endParaRPr lang="th-TH" sz="2800" b="1" dirty="0">
              <a:solidFill>
                <a:srgbClr val="C00000"/>
              </a:solidFill>
              <a:latin typeface="Angsana New" pitchFamily="18" charset="-34"/>
              <a:cs typeface="Angsana New" pitchFamily="18" charset="-34"/>
            </a:endParaRP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51134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>
            <a:normAutofit fontScale="92500" lnSpcReduction="10000"/>
          </a:bodyPr>
          <a:lstStyle/>
          <a:p>
            <a:r>
              <a:rPr lang="th-TH" sz="26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ผู้ยื่นคำขอมีบัตร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 </a:t>
            </a:r>
            <a:r>
              <a:rPr lang="th-TH" sz="2600" dirty="0">
                <a:latin typeface="Angsana New" pitchFamily="18" charset="-34"/>
                <a:cs typeface="Angsana New" pitchFamily="18" charset="-34"/>
              </a:rPr>
              <a:t>1. เด็กที่มีอายุตั้งแต่เจ็ดปีบริบูรณ์แต่ไม่ถึง 15 ปีให้บิดามารดาผู้ปกครองหรือบุคคลซึ่งรับดูแลผู้นั้นอยู่เป็นผู้ยื่นคำขอแทนเด็กแต่ถ้าเด็กประสงค์จะยื่นคำขอด้วยตนเองก็ได้ 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 2. บุคคลที่อายุตั้งแต่ 15 ปีให้ยื่นคำขอด้วยตนเอง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 </a:t>
            </a:r>
            <a:r>
              <a:rPr lang="th-TH" sz="26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กรณีขอทำบัตรประจำตัวประชาชนครั้งแรก 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1. ผู้ที่มีอายุ 7 ปีบริบูรณ์ต้องทำบัตรประจำตัวประชาชนภายใน 60 วัน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2. ผู้ที่มีอายุ 7 ปีแต่ไม่เกิน 15 ปีต้องทำบัตรประจำตัวประชาชนภายใน1ปี 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3. หากพ้นกำหนดจะต้องเสียค่าปรับตามกฎหมาย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 </a:t>
            </a:r>
            <a:r>
              <a:rPr lang="th-TH" sz="26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กรณีบัตรเดิมหมดอายุ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1. เมื่อบัตรเดิมหมดอายุให้ทำบัตรใหม่ภายใน 60 วันนับแต่วันที่บัตรเดิมหมดอายุแต่หากพ้นกำหนดจะต้องเสียค่าปรับไม่เกิน 100บาท</a:t>
            </a:r>
          </a:p>
          <a:p>
            <a:pPr marL="0" indent="0">
              <a:buNone/>
            </a:pPr>
            <a:r>
              <a:rPr lang="th-TH" sz="2600" dirty="0">
                <a:latin typeface="Angsana New" pitchFamily="18" charset="-34"/>
                <a:cs typeface="Angsana New" pitchFamily="18" charset="-34"/>
              </a:rPr>
              <a:t>     2. ผู้ถือบัตรสามารถขอทำบัตรใหม่ก่อนวันที่บัตรเดิมหมดอายุก็ได้โดยยื่นคำขอภายใน 60 วันก่อนวันที่บัตรเดิมหมดอายุ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97217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80728"/>
            <a:ext cx="7408333" cy="5145435"/>
          </a:xfrm>
        </p:spPr>
        <p:txBody>
          <a:bodyPr>
            <a:normAutofit fontScale="92500"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กรณีบัตรหายหรือถูกทำลาย  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เมื่อบัตรประจำตัวประชาชนหายหรือถูกทำลายให้ไปแจ้งความไว้เป็นหลักฐาน ณ ที่ว่าการอำเภอสำนักงานเขตเทศบาลเมืองพัทยาแล้วแต่กรณีและขอทำบัตรใหม่ภายใน 60 วันนับแต่วันที่บัตรหายหรือถูกทำลายหากพ้นกำหนดจะต้องเสียค่าปรับตามกฎหมาย</a:t>
            </a:r>
          </a:p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กรณีเปลี่ยนชื่อตัวหรือชื่อสกุลแล้วต้องเปลี่ยนบัตร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เมื่อพูดถึงบัตรเปลี่ยนชื่อตัวชื่อสกุลหรือเปลี่ยน ชื่อตัวและชื่อสกุลต้องเปลี่ยนบัตรภายใน 60 วันนับแต่วันที่แก้ไขชื่อตัวชื่อสกุลหรือชื่อตัวและชื่อสกุลในทะเบียนบ้านหากพ้นกำหนดจะต้องเสียค่าปรับตามกฎหมาย</a:t>
            </a:r>
          </a:p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กรณีบัตรเดิมชำรุดในสาระสำคัญ.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ากบัตรเดิมชำรุดในสาระสำคัญบัตรถูกทำลายเช่นบัตรถูกไฟไหม้บางส่วนบัตรชำรุดเลอะเลือนเป็นต้นต้องเปลี่ยนบัตรภายใน 60 วันนับแต่วันที่บัตรเดิมชำรุดหากพ้นกำหนดจะต้องเสียค่าปรับตามกฎหมาย</a:t>
            </a:r>
          </a:p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กรณีผู้ถือบัตรย้ายที่อยู่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พื่อให้รายการที่อยู่ที่ปรากฏในบัตรประจำตัวประชาชนตรงกับรายการในทะเบียนบ้านผู้ถือบัตรผู้ใดย้ายที่อยู่จะขอเปลี่ยนบัตรโดยที่บัตรเดิมยังไม่หมดอายุสามารถทำได้แต่หากไม่ขอเป็นบัตรก็สามารถใช้บัตรนั้นได้ต่อไปจนกว่าจะหมดอายุ</a:t>
            </a:r>
          </a:p>
        </p:txBody>
      </p:sp>
    </p:spTree>
    <p:extLst>
      <p:ext uri="{BB962C8B-B14F-4D97-AF65-F5344CB8AC3E}">
        <p14:creationId xmlns:p14="http://schemas.microsoft.com/office/powerpoint/2010/main" val="56145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h-TH" sz="5400" b="1" dirty="0">
                <a:latin typeface="Angsana New" pitchFamily="18" charset="-34"/>
                <a:cs typeface="Angsana New" pitchFamily="18" charset="-34"/>
              </a:rPr>
              <a:t>ส่วนที่  3</a:t>
            </a:r>
            <a:br>
              <a:rPr lang="th-TH" sz="5400" b="1" dirty="0">
                <a:latin typeface="Angsana New" pitchFamily="18" charset="-34"/>
                <a:cs typeface="Angsana New" pitchFamily="18" charset="-34"/>
              </a:rPr>
            </a:br>
            <a:r>
              <a:rPr lang="th-TH" sz="5400" b="1" dirty="0">
                <a:latin typeface="Angsana New" pitchFamily="18" charset="-34"/>
                <a:cs typeface="Angsana New" pitchFamily="18" charset="-34"/>
              </a:rPr>
              <a:t>กระบวนการยุติธรรมและระบบศาลไทย</a:t>
            </a:r>
          </a:p>
        </p:txBody>
      </p:sp>
    </p:spTree>
    <p:extLst>
      <p:ext uri="{BB962C8B-B14F-4D97-AF65-F5344CB8AC3E}">
        <p14:creationId xmlns:p14="http://schemas.microsoft.com/office/powerpoint/2010/main" val="4274893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3568" y="1124744"/>
            <a:ext cx="7772400" cy="1780108"/>
          </a:xfrm>
        </p:spPr>
        <p:txBody>
          <a:bodyPr>
            <a:normAutofit fontScale="90000"/>
          </a:bodyPr>
          <a:lstStyle/>
          <a:p>
            <a:r>
              <a:rPr lang="th-TH" sz="6000" b="1" dirty="0">
                <a:latin typeface="Angsana New" pitchFamily="18" charset="-34"/>
                <a:cs typeface="Angsana New" pitchFamily="18" charset="-34"/>
              </a:rPr>
              <a:t>บทที่6</a:t>
            </a:r>
            <a:br>
              <a:rPr lang="th-TH" sz="6000" b="1" dirty="0">
                <a:latin typeface="Angsana New" pitchFamily="18" charset="-34"/>
                <a:cs typeface="Angsana New" pitchFamily="18" charset="-34"/>
              </a:rPr>
            </a:br>
            <a:r>
              <a:rPr lang="th-TH" sz="6000" b="1" dirty="0">
                <a:latin typeface="Angsana New" pitchFamily="18" charset="-34"/>
                <a:cs typeface="Angsana New" pitchFamily="18" charset="-34"/>
              </a:rPr>
              <a:t>กระบวนการยุติธรรม</a:t>
            </a:r>
            <a:br>
              <a:rPr lang="th-TH" dirty="0"/>
            </a:br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852936"/>
            <a:ext cx="3505572" cy="310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68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539552" y="1916832"/>
            <a:ext cx="7804389" cy="3450696"/>
          </a:xfrm>
        </p:spPr>
        <p:txBody>
          <a:bodyPr/>
          <a:lstStyle/>
          <a:p>
            <a:r>
              <a:rPr lang="th-TH" dirty="0"/>
              <a:t>    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ฎหมายเป็นเครื่องมือของรัฐที่ใช้บังคับแก่ประชาชนเพื่อให้สังคมอยู่อย่างสงบสุขด้วยการลงโทษผู้กระทำผิดการที่จะได้ตัวผู้กระทำผิดมาลงโทษตลอดจนการดำเนินการพิพากษาคดีว่าผู้กระทำผิดจะถูกลงโทษมากน้อยเพียงใดนับว่าเป็นเรื่องยุ่งยากไม่น้อยและไม่สามารถที่จะกระทำได้เพ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ียง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นเดียวจะต้องใช้บุคลากรและองค์การของรัฐเป็นผู้ดำเนินการจำนวนมากและมีขั้นตอนหลายอย่างดังนั้นการศึกษาให้รู้ถึงกระบวนการยุติธรรมจึงเป็นเรื่องสำคัญเรื่องหนึ่ง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กระบวนการยุติธรรม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4221088"/>
            <a:ext cx="3614707" cy="202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99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/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</a:t>
            </a:r>
            <a:r>
              <a:rPr lang="th-TH" sz="2800" dirty="0">
                <a:latin typeface="Angsana New" pitchFamily="18" charset="-34"/>
                <a:cs typeface="Angsana New" pitchFamily="18" charset="-34"/>
              </a:rPr>
              <a:t>กระบวนยุติธรรม   หมายถึง    ขั้นตอนและวิธีการดำเนินการเพื่อนำตัวผู้กระทำผิดกฎหมายทั้งทางแพ่งและอาญาเข้ามาสู่การพิพากษาคดีตามความผิดที่กระทำขึ้นเพื่อคุ้มครองความปลอดภัยและสิทธิของบุคคลในสังคม</a:t>
            </a:r>
          </a:p>
          <a:p>
            <a:r>
              <a:rPr lang="th-TH" sz="2800" dirty="0">
                <a:latin typeface="Angsana New" pitchFamily="18" charset="-34"/>
                <a:cs typeface="Angsana New" pitchFamily="18" charset="-34"/>
              </a:rPr>
              <a:t>   กระบวนยุติธรรมแบ่งออกได้เป็น 2 ระบบ</a:t>
            </a:r>
          </a:p>
          <a:p>
            <a:pPr marL="0" indent="0">
              <a:buNone/>
            </a:pPr>
            <a:r>
              <a:rPr lang="th-TH" sz="2800" dirty="0">
                <a:latin typeface="Angsana New" pitchFamily="18" charset="-34"/>
                <a:cs typeface="Angsana New" pitchFamily="18" charset="-34"/>
              </a:rPr>
              <a:t>	 </a:t>
            </a:r>
            <a:r>
              <a:rPr lang="en-US" sz="2800" dirty="0">
                <a:latin typeface="Angsana New" pitchFamily="18" charset="-34"/>
                <a:cs typeface="Angsana New" pitchFamily="18" charset="-34"/>
              </a:rPr>
              <a:t>- </a:t>
            </a:r>
            <a:r>
              <a:rPr lang="th-TH" sz="2800" dirty="0">
                <a:latin typeface="Angsana New" pitchFamily="18" charset="-34"/>
                <a:cs typeface="Angsana New" pitchFamily="18" charset="-34"/>
              </a:rPr>
              <a:t>กระบวนการยุติธรรมในทางอาญา</a:t>
            </a:r>
          </a:p>
          <a:p>
            <a:pPr marL="0" indent="0">
              <a:buNone/>
            </a:pPr>
            <a:r>
              <a:rPr lang="en-US" sz="2800" dirty="0">
                <a:latin typeface="Angsana New" pitchFamily="18" charset="-34"/>
                <a:cs typeface="Angsana New" pitchFamily="18" charset="-34"/>
              </a:rPr>
              <a:t>	 - </a:t>
            </a:r>
            <a:r>
              <a:rPr lang="th-TH" sz="2800" dirty="0">
                <a:latin typeface="Angsana New" pitchFamily="18" charset="-34"/>
                <a:cs typeface="Angsana New" pitchFamily="18" charset="-34"/>
              </a:rPr>
              <a:t>กระบวนการยุติธรรมในทางแพ่ง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th-TH" sz="4900" b="1" dirty="0">
                <a:latin typeface="Angsana New" pitchFamily="18" charset="-34"/>
                <a:cs typeface="Angsana New" pitchFamily="18" charset="-34"/>
              </a:rPr>
              <a:t>ความหมายของกระบวนการยุติธรรม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22413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340768"/>
            <a:ext cx="7408333" cy="4281339"/>
          </a:xfrm>
        </p:spPr>
        <p:txBody>
          <a:bodyPr>
            <a:normAutofit/>
          </a:bodyPr>
          <a:lstStyle/>
          <a:p>
            <a:r>
              <a:rPr lang="th-TH" dirty="0"/>
              <a:t>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กระบวนการยุติธรรมในทางอาญา หมายถึง  ขั้นตอนดำเนินการเพื่อนำผู้กระทำผิดในทางอาญามาลงโทษเช่นความผิดเกี่ยวกับลักทรัพย์ ทำร้ายร่างกาย ฆ่าผู้อื่น ข่มขืนกระทำชำเรา เป็นต้น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ขั้นตอนของกระบวนการยุติธรรมในทางอาญามีดังนี้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ขั้นสืบสวนสอบสวนจับกุมผู้กระทำผิด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ขั้นฟ้องคดี  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ขั้นพิจารณาตัดสินคดี 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ขั้นการลงโทษผู้กระทำความผิด. 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800" b="1" dirty="0">
                <a:latin typeface="Angsana New" pitchFamily="18" charset="-34"/>
                <a:cs typeface="Angsana New" pitchFamily="18" charset="-34"/>
              </a:rPr>
              <a:t>กระบวนการยุติธรรมในทางอาญา</a:t>
            </a:r>
          </a:p>
        </p:txBody>
      </p:sp>
      <p:graphicFrame>
        <p:nvGraphicFramePr>
          <p:cNvPr id="4" name="ไดอะแกรม 3"/>
          <p:cNvGraphicFramePr/>
          <p:nvPr>
            <p:extLst>
              <p:ext uri="{D42A27DB-BD31-4B8C-83A1-F6EECF244321}">
                <p14:modId xmlns:p14="http://schemas.microsoft.com/office/powerpoint/2010/main" val="2482688871"/>
              </p:ext>
            </p:extLst>
          </p:nvPr>
        </p:nvGraphicFramePr>
        <p:xfrm>
          <a:off x="1547664" y="4077072"/>
          <a:ext cx="6096000" cy="2160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สี่เหลี่ยมผืนผ้า 4"/>
          <p:cNvSpPr/>
          <p:nvPr/>
        </p:nvSpPr>
        <p:spPr>
          <a:xfrm>
            <a:off x="1691680" y="5835434"/>
            <a:ext cx="7361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240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ตำรวจ</a:t>
            </a:r>
            <a:endParaRPr lang="th-TH" sz="2400" cap="none" spc="0" dirty="0">
              <a:ln w="12700">
                <a:solidFill>
                  <a:srgbClr val="C00000"/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2915817" y="5805264"/>
            <a:ext cx="18002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2400" cap="none" spc="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อัยการและทนายความ</a:t>
            </a:r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5220072" y="5805264"/>
            <a:ext cx="51969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240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ศาล</a:t>
            </a:r>
            <a:endParaRPr lang="th-TH" sz="2400" cap="none" spc="0" dirty="0">
              <a:ln w="12700">
                <a:solidFill>
                  <a:srgbClr val="C00000"/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6588224" y="5835435"/>
            <a:ext cx="96853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2400" cap="none" spc="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ราชทัณฑ์</a:t>
            </a:r>
          </a:p>
        </p:txBody>
      </p:sp>
      <p:cxnSp>
        <p:nvCxnSpPr>
          <p:cNvPr id="12" name="ตัวเชื่อมต่อตรง 11"/>
          <p:cNvCxnSpPr/>
          <p:nvPr/>
        </p:nvCxnSpPr>
        <p:spPr>
          <a:xfrm flipV="1">
            <a:off x="3815917" y="5589240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ตัวเชื่อมต่อตรง 13"/>
          <p:cNvCxnSpPr>
            <a:stCxn id="8" idx="0"/>
          </p:cNvCxnSpPr>
          <p:nvPr/>
        </p:nvCxnSpPr>
        <p:spPr>
          <a:xfrm flipH="1" flipV="1">
            <a:off x="7072491" y="5589240"/>
            <a:ext cx="1" cy="246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ตัวเชื่อมต่อตรง 15"/>
          <p:cNvCxnSpPr>
            <a:stCxn id="7" idx="0"/>
          </p:cNvCxnSpPr>
          <p:nvPr/>
        </p:nvCxnSpPr>
        <p:spPr>
          <a:xfrm flipV="1">
            <a:off x="5479919" y="5589240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ตัวเชื่อมต่อตรง 19"/>
          <p:cNvCxnSpPr/>
          <p:nvPr/>
        </p:nvCxnSpPr>
        <p:spPr>
          <a:xfrm flipV="1">
            <a:off x="2059730" y="5589240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486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1340768"/>
            <a:ext cx="7408333" cy="4569371"/>
          </a:xfrm>
        </p:spPr>
        <p:txBody>
          <a:bodyPr>
            <a:normAutofit/>
          </a:bodyPr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กระบวนการยุติธรรมในทางแพ่ง หมายถึง ขั้นตอนดำเนินการเพื่อบังคับผู้กระทำผิดในทางแพ่งให้ทำตามสัญญาหรือชดใช้ค่าเสียหายที่ผู้กระทำผิดได้กระทำการละเมิดผู้อื่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ขั้นตอนกระบวนการยุติธรรมในทางแพ่งมีดังนี้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ขั้นฟ้องคดี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ขั้นพิจารณาตัดสิน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ขั้นการบังคับคดี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กระบวนการยุติธรรมในทางแพ่ง</a:t>
            </a:r>
          </a:p>
        </p:txBody>
      </p:sp>
      <p:graphicFrame>
        <p:nvGraphicFramePr>
          <p:cNvPr id="4" name="ไดอะแกรม 3"/>
          <p:cNvGraphicFramePr/>
          <p:nvPr>
            <p:extLst>
              <p:ext uri="{D42A27DB-BD31-4B8C-83A1-F6EECF244321}">
                <p14:modId xmlns:p14="http://schemas.microsoft.com/office/powerpoint/2010/main" val="1260512347"/>
              </p:ext>
            </p:extLst>
          </p:nvPr>
        </p:nvGraphicFramePr>
        <p:xfrm>
          <a:off x="1691680" y="3573016"/>
          <a:ext cx="5496272" cy="2464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สี่เหลี่ยมผืนผ้า 4"/>
          <p:cNvSpPr/>
          <p:nvPr/>
        </p:nvSpPr>
        <p:spPr>
          <a:xfrm>
            <a:off x="1835696" y="5611780"/>
            <a:ext cx="1242648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sz="24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-</a:t>
            </a:r>
            <a:r>
              <a:rPr lang="th-TH" sz="24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240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ผู้เสียหาย</a:t>
            </a:r>
          </a:p>
          <a:p>
            <a:r>
              <a:rPr lang="en-US" sz="24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-</a:t>
            </a:r>
            <a:r>
              <a:rPr lang="th-TH" sz="24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240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ทนายความ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4080673" y="5611780"/>
            <a:ext cx="519694" cy="46166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2400" b="1" cap="none" spc="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ศาล</a:t>
            </a:r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5523547" y="5611780"/>
            <a:ext cx="190308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2400" cap="none" spc="0" dirty="0">
                <a:ln w="12700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เจ้าพนักงานบังคับคดี</a:t>
            </a:r>
          </a:p>
        </p:txBody>
      </p:sp>
      <p:cxnSp>
        <p:nvCxnSpPr>
          <p:cNvPr id="9" name="ตัวเชื่อมต่อตรง 8"/>
          <p:cNvCxnSpPr/>
          <p:nvPr/>
        </p:nvCxnSpPr>
        <p:spPr>
          <a:xfrm flipV="1">
            <a:off x="2457020" y="5229200"/>
            <a:ext cx="0" cy="382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ตัวเชื่อมต่อตรง 10"/>
          <p:cNvCxnSpPr/>
          <p:nvPr/>
        </p:nvCxnSpPr>
        <p:spPr>
          <a:xfrm flipV="1">
            <a:off x="4340520" y="5229200"/>
            <a:ext cx="0" cy="382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ตัวเชื่อมต่อตรง 12"/>
          <p:cNvCxnSpPr/>
          <p:nvPr/>
        </p:nvCxnSpPr>
        <p:spPr>
          <a:xfrm flipV="1">
            <a:off x="6475090" y="5229200"/>
            <a:ext cx="0" cy="382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5780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700808"/>
            <a:ext cx="7408333" cy="4425355"/>
          </a:xfrm>
        </p:spPr>
        <p:txBody>
          <a:bodyPr>
            <a:normAutofit lnSpcReduction="10000"/>
          </a:bodyPr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รัฐธรรมนูญแห่งราชอาณาจักรไทยพ.ศ. 2560 ได้บัญญัติไว้ในมาตรา 29 ดังนี้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บุคคลไม่ต้องรับโทษอาญาเว้นแต่ได้กระทำการอันกฎหมายที่ใช้อยู่ในเวลาที่กระทำนั้นบัญญัติเป็นความผิดและกำหนดโทษไว้และโทษที่จะลงแก่บุคคลนั้นจะหนักกว่าโทษที่บัญญัติไว้ในกฎหมายที่ใช้อยู่ในเวลาที่กระทำความผิดมิได้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ในคดีอาญาให้สันนิษฐานไว้ก่อนว่าผู้ต้องหาหรือจำเลยไม่มีความผิดและก่อนมีคำพิพากษาอันถึงที่สุดแสดงว่าบุคคลใดได้กระทำความผิดจะปฏิบัติต่อบุคคลนั้นเสมือนเป็นผู้ กระทำความผิดไม่ได้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การควบคุมหรือคุมขังผู้ต้องหาหรือจำเลยให้กระทำได้เพียงเท่าที่จำเป็นเพื่อป้องกันมิให้มีการหลบหนี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ในคดีอาญาจะบังคับให้บุคคลให้การเป็นปฏิปักษ์ต่อตนเองได้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คำขอประกันผู้ต้องหาหรือจำเลยในคดีอาญาต้องได้รับการพิจารณาและจะเรียกหลักประกันจนเกินควรแก่กรณีมิได้การไม่ให้ประกันต้องเป็นไปตามที่กฎหมายบัญญัติ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สิทธิในกระบวนการยุติธรรม</a:t>
            </a:r>
          </a:p>
        </p:txBody>
      </p:sp>
    </p:spTree>
    <p:extLst>
      <p:ext uri="{BB962C8B-B14F-4D97-AF65-F5344CB8AC3E}">
        <p14:creationId xmlns:p14="http://schemas.microsoft.com/office/powerpoint/2010/main" val="1261819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/>
          <a:lstStyle/>
          <a:p>
            <a:r>
              <a:rPr lang="th-TH" dirty="0"/>
              <a:t> 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การจ่ายค่าตอบแทนแก่ผู้เสียหายและค่าทดแทนแก่จำเลยในคดีอาญา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เรื่องนี้มีบัญญัติไว้ในพ.ร.บ.ค่าตอบแทน ผู้เสียหายและค่าตอบแทนและค่าใช้จ่ายแก่จำเลยในคดีอาญาพ.ศ. 2544 ที่ควรทราบดังนี้</a:t>
            </a:r>
          </a:p>
          <a:p>
            <a:r>
              <a:rPr lang="th-TH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      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จำเลย </a:t>
            </a:r>
            <a:r>
              <a:rPr lang="th-TH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หมายความว่า บุคคลซึ่งถูกฟ้องต่อศาลว่าได้กระทำความผิดอาญา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ค่าตอบแทน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หมายความว่า เงินทรัพย์สินหรือประโยชน์อื่นใดที่ผู้เสียหายมีสิทธิ์ได้รับตอบแทนความเสียหายที่เกิดจากหรือเนื่องจากมีการกระทำความผิดอาญาของผู้อื่น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ค่าทดแทน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หมายความว่า เงินทรัพย์สินหรือประโยชน์อื่นใดที่จำเลยมีสิทธิ์ได้รับเนื่องจากการตกเป็นจำเลยใน คดีอาญาและถูกคุณขังระหว่างการพิจารณาคดีและปรากฏว่าคำพิพากษาถึงที่สุดในคดีนั้นฟังเป็นยุติว่าจำเลยไม่ได้เป็นผู้กระทำความผิดหรือการกระทำของจำเลยไม่เป็นความผิด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825018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692696"/>
            <a:ext cx="7408333" cy="5433467"/>
          </a:xfrm>
        </p:spPr>
        <p:txBody>
          <a:bodyPr>
            <a:normAutofit lnSpcReduction="10000"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ความผิดที่กระทำต่อผู้เสียหายอันอาจได้รับค่าตอบแทน.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ต้องเป็นความผิดดังต่อไปนี้(มาตรา 17)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1. ความผิดเกี่ยวกับเพศเช่นความผิดฐานคมคืนกระทำชำเราเป็นต้น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2. ความผิดต่อชีวิตเช่นความผิดฐานฆ่าผู้อื่นโดยเจตนาเป็นต้น 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      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ความผิดต่อร่างกายเช่นความผิดฐานทำร้ายร่างกายผู้อื่นจนเป็นเหตุให้ได้รับอันตรายสาหัสเป็นต้น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4. ความผิดฐานทำให้แท้งลูก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5. ความผิดฐานทอดทิ้งเด็กคนเจ็บป่วยหรือคนชรา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</a:t>
            </a:r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ค่าตอบแทนผู้เสียหายในคดีอาญา.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ได้แก่ค่าตอบแทน ดังต่อไปนี้ (มาตรา 18)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1. ค่าใช้จ่ายที่จำเป็นในการรักษาพยาบาล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2. ค่าฟื้นฟูสมรรถภาพทางร่างกายและจิตใจ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3. ค่าตอบแทนในกรณีที่ผู้เสียหายถึงแก่ความตาย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4. ค่าขาดประโยชน์ทำมาหาได้ในระหว่างที่ไม่สามารถประกอบการงานได้ตามปกติ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324746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692696"/>
            <a:ext cx="7408333" cy="5433467"/>
          </a:xfrm>
        </p:spPr>
        <p:txBody>
          <a:bodyPr>
            <a:norm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ค่าทดแทนและค่าใช้จ่ายให้แก่จำเลย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(มาตรา 21)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 เมื่อจำเลยที่ถูกคุมขังระหว่างพิจารณาคดีและมีคำพิพากษาถึงที่สุดว่าไม่มีความผิดจำเลยจะได้รับค่า ทดแทนดังต่อไปนี้ 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1. ค่าทดแทนการถูกคุมขังคำนวณเป็นรายวันวันละ 200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2. ค่าใช้จ่ายที่จำเป็นในการรักษาพยาบาลและค่าฟื้นฟูสมรรถภาพทางร่างกายและจิตใจ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3. ค่าทดแทนในกรณีจำเลยถึงแก่ความตายอันเป็นผลโดยตรงจากการถูกดำเนินคดี 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4. ค่าขาดประโยชน์ทำมาหาได้ในระหว่างถูกดำเนินคดี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5. ค่าใช้จ่ายที่จำเป็นในการดำเนินคดี</a:t>
            </a:r>
          </a:p>
          <a:p>
            <a:r>
              <a:rPr lang="th-TH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ผู้มีสิทธิยื่นคำขอค่าตอบแทนหรือค่าทดแทน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ได้แก่. ผู้เสียหายจำเลยทายาทหรือผู้แทนที่กระทรวงยุติธรรมแต่งตั้งทั้งนี้ภายในกำหนดหนึ่งปีนับแต่วันรู้ความผิด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98198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700808"/>
            <a:ext cx="7408333" cy="4425355"/>
          </a:xfrm>
        </p:spPr>
        <p:txBody>
          <a:bodyPr>
            <a:normAutofit fontScale="92500" lnSpcReduction="20000"/>
          </a:bodyPr>
          <a:lstStyle/>
          <a:p>
            <a:r>
              <a:rPr lang="th-TH" sz="25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ตำรวจ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 จะต้องเข้ามาทำหน้าที่ในการสืบสวนสอบสวนเพื่อหาตัวและจับกุมตัวผู้กระทำความผิดเพื่อจะได้เสนอต่ออัยการว่าเห็นควรสั่งฟ้องหรือไม่สั่งฟ้อง</a:t>
            </a:r>
          </a:p>
          <a:p>
            <a:r>
              <a:rPr lang="th-TH" sz="25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อัยการ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 มีหน้าที่เมื่อตำรวจส่งสำนวนการสอบสวนขึ้นมาให้อัยการจะพิจารณาสำนวนว่าควรให้ตำรวจสอบสวนเพิ่มเติมหรือไม่และเห็นควรสั่งคดีว่าจะฟ้องหรือไม่ฟ้องต่อศาลต่อไปถ้าเห็นควรสั่งฟ้องก็จะนำคดีขึ้นสู่ศาลตัดสินต่อไป</a:t>
            </a:r>
          </a:p>
          <a:p>
            <a:r>
              <a:rPr lang="th-TH" sz="25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ศาล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 มีหน้าที่เมื่ออัยการส่งคดีมาให้ตัดสินคดีความศาลจะพิจารณาตัดสินคดีว่าควรสั่งสืบสอบเพิ่มเติมหรือไม่ถ้ามีคำพิพากษาตัดสินลงโทษตามข้อบัญญัติของกฎหมายที่กำหนดไว้ เช่นประหารชีวิต จำคุก กักขัง ปรับ ริบทรัพย์ ฯลฯ ซึ่งถ้ามีการลงโทษประหารชีวิต จำคุก กักขัง จะส่งให้ราชทัณฑ์ต่อไปแต่ถ้าให้มีการรอการลงโทษ หรือรอการกำหนดโทษจะส่งให้คุมประพฤติดำเนินการต่อไป</a:t>
            </a:r>
          </a:p>
          <a:p>
            <a:r>
              <a:rPr lang="th-TH" sz="25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ทนายความ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 มีหน้าที่ให้คำปรึกษาแนะนำว่าความการต่อสู้ดีแก่ผู้กล่าวหาหรือผู้ถูกกล่าวหาทั้งคดีแพ่งและอาญาจากที่ได้รับการว่าจ้างหรือร้องขอจากศาลซึ่งทนายจะมีหน้าที่เข้าไปเกี่ยวข้องกับกระบวนการยุติธรรมให้คู่กรณีตั้งแต่ในชั้นของตำรวจจนถึงกระบวนการยุติธรรมในการพิจารณาคดีขอ</a:t>
            </a:r>
            <a:r>
              <a:rPr lang="th-TH" sz="2500" dirty="0" err="1">
                <a:latin typeface="Angsana New" pitchFamily="18" charset="-34"/>
                <a:cs typeface="Angsana New" pitchFamily="18" charset="-34"/>
              </a:rPr>
              <a:t>งศาล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ต่อไป</a:t>
            </a: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กระบวนการดำเนินงานขององค์กรในกระบวน</a:t>
            </a:r>
            <a:br>
              <a:rPr lang="th-TH" b="1" dirty="0">
                <a:latin typeface="Angsana New" pitchFamily="18" charset="-34"/>
                <a:cs typeface="Angsana New" pitchFamily="18" charset="-34"/>
              </a:rPr>
            </a:br>
            <a:r>
              <a:rPr lang="th-TH" b="1" dirty="0">
                <a:latin typeface="Angsana New" pitchFamily="18" charset="-34"/>
                <a:cs typeface="Angsana New" pitchFamily="18" charset="-34"/>
              </a:rPr>
              <a:t>การยุติธรรมทางอาญา</a:t>
            </a:r>
          </a:p>
        </p:txBody>
      </p:sp>
    </p:spTree>
    <p:extLst>
      <p:ext uri="{BB962C8B-B14F-4D97-AF65-F5344CB8AC3E}">
        <p14:creationId xmlns:p14="http://schemas.microsoft.com/office/powerpoint/2010/main" val="22983064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>
            <a:normAutofit fontScale="92500" lnSpcReduction="20000"/>
          </a:bodyPr>
          <a:lstStyle/>
          <a:p>
            <a:r>
              <a:rPr lang="th-TH" sz="25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คุมประพฤติ  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มีหน้าที่เมื่อได้รับคำสั่งจากศาลแล้วถ้าศาลให้มีการสืบเสาะความประพฤติก็จะทำหน้าที่สืบเสาะและรายงานต่อศาลเพื่อพิจารณาตัดสินคดีต่อไปแต่ถ้าศาลสั่งให้มีการลงโทษผู้ทำผิดโดยไม่ต้องกักขังแต่ให้ทำกิจกรรมที่เป็นประโยชน์ต่อชุมชนคนรับรถก็จะมีหน้าที่ควบคุมดูแล</a:t>
            </a:r>
            <a:r>
              <a:rPr lang="th-TH" sz="2500" dirty="0" err="1">
                <a:latin typeface="Angsana New" pitchFamily="18" charset="-34"/>
                <a:cs typeface="Angsana New" pitchFamily="18" charset="-34"/>
              </a:rPr>
              <a:t>ดำเนินการ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 ตามคำสั่งของศาล</a:t>
            </a:r>
          </a:p>
          <a:p>
            <a:r>
              <a:rPr lang="th-TH" sz="25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ราชทัณฑ์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 มีหน้าที่เมื่อศาลตัดสินประหารชีวิตจำคุกจะดำเนินการตามคำสั่งของศาลถ้าผู้ทำผิดถูกจำคุกน่าจะทันจะดำเนินการคุมขังและขณะเดียวกันจะต้องฟื้นฟูพัฒนาสงเคราะห์โดยการพัฒนาอาชีพให้การศึกษาแก่นักโทษในขณะที่ต้องขังด้วยเพื่อจะได้กลับตัวกลับใจเป็นคนดีกลับคืนสู่สังคมและ เมื่อผู้ทำผิดพ้นจากการต้องโทษแล้วก็จะปล่อยตัวออกไปแต่ผู้ทำผิดต้องรายงานความประพฤติให้เจ้าหน้าที่ได้ทราบตามกำหนดระยะเวลาต่อไป</a:t>
            </a:r>
          </a:p>
          <a:p>
            <a:r>
              <a:rPr lang="th-TH" sz="2500" b="1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องค์กรอื่นๆที่เกี่ยวข้องกับกระบวนการยุติธรรม 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เช่น กรมสอบสวนคดีพิเศษสำนักงานป้องกันและปราบปรามการฟอกเงินมีหน้าที่สืบสวนและสอบสวนเช่นเดียวกับตำรวจแต่ต้องเป็นคดีพิเศษหรือที่คณะกรรมการของกรมฯ มีคำสั่งให้ดำเนินการแทนตำรวจ เช่น คดีอาชญากรรมทางเศรษฐกิจ การฟอกเงิน ฯลฯ เป็นต้น ขณะที่คณะกรรมการสิทธิมนุษยชนแห่งชาติรับข้อสองเรียนจากผู้เสียหายที่คิดว่าไม่ได้รับความเป็นธรรมจากคดีต่างๆที่เกิดขึ้นโดยเฉพาะที่ได้รับจากการกระทำของภาครัฐแล้วจะดำเนินการ ให้ผู้เสียหายได้รับความเป็นธรรมต่อไปเช่นกรณีการประท้วงที่ตากใบ </a:t>
            </a:r>
            <a:r>
              <a:rPr lang="th-TH" sz="2500" dirty="0" err="1">
                <a:latin typeface="Angsana New" pitchFamily="18" charset="-34"/>
                <a:cs typeface="Angsana New" pitchFamily="18" charset="-34"/>
              </a:rPr>
              <a:t>กรือเซะ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 แล้วมีการเสียชีวิต ฯลฯ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690367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84784"/>
            <a:ext cx="7408333" cy="4641379"/>
          </a:xfrm>
        </p:spPr>
        <p:txBody>
          <a:bodyPr/>
          <a:lstStyle/>
          <a:p>
            <a:r>
              <a:rPr lang="th-TH" sz="2800" b="1" dirty="0">
                <a:latin typeface="Angsana New" pitchFamily="18" charset="-34"/>
                <a:cs typeface="Angsana New" pitchFamily="18" charset="-34"/>
              </a:rPr>
              <a:t>สำนักงานตำรวจแห่งชาติ</a:t>
            </a:r>
            <a:endParaRPr lang="en-US" sz="2800" b="1" dirty="0">
              <a:latin typeface="Angsana New" pitchFamily="18" charset="-34"/>
              <a:cs typeface="Angsana New" pitchFamily="18" charset="-34"/>
            </a:endParaRP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ความหมายของตำรวจ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ตำรวจ หมายถึง เจ้าหน้าที่ของรัฐมีหน้าที่ตรวจตรารักษาความสงบจับกุมและปราบปรามผู้กระทำผิดกฎหมาย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       ตำรวจตามประมวลกฎหมายวิธีพิจารณาความอาญามาตรา2 (16) ได้ให้คำจำกัดความคำว่าตำรวจคือเจ้าพนักงานซึ่งกฎหมายให้อำนาจและหน้าที่ในการรักษาความสงบเรียบร้อยของประชาชน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หน่วยงานในกระบวนการยุติธรรม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4251980"/>
            <a:ext cx="4392488" cy="227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35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484784"/>
            <a:ext cx="7408333" cy="4785395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รักษาความปลอดภัยสำหรับองค์พระมหากษัตริย์ พระราชินี พระรัชทายาท ผู้สำเร็จราชการแทนพระองค์ พระบรมวงศานุวงศ์ผู้แทนพระองค์ และพระราชอาคันตุกะ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ดูแลควบคุมและกำกับการปฏิบัติงานของข้าราชการตำรวจซึ่งปฏิบัติการตามประมวลกฎหมายวิธีพิจารณาความอาญา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ป้องกันและปราบปรามการกระทำความผิดทางอาญา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รักษาความสงบเรียบร้อย ความปลอดภัยของประชาชนและความมั่นคงของราชอาณาจักร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ปฏิบัติการอื่นใดตามที่กฎหมายกำหนดให้เป็นอำนาจหน้าที่ของข้าราชการตำรวจหรือสำนักงานตำรวจแห่งชาติ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ช่วยเหลือการพัฒนาประเทศตามที่นายกรัฐมนตรีมอบหมาย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ปฏิบัติการอื่นใด เพื่อส่งเสริมและสนับสนุนให้การปฏิบัติการตามอำนาจหน้าที่เป็นไปอย่างมีประสิทธิภาพ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อำนาจหน้าที่ของตำรวจ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061518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>
            <a:normAutofit lnSpcReduction="10000"/>
          </a:bodyPr>
          <a:lstStyle/>
          <a:p>
            <a:r>
              <a:rPr lang="th-TH" dirty="0"/>
              <a:t> 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หน้าที่และความรับผิดชอบของตำรวจได้มี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เซอร์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โร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เบิร์ต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พีล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บิดาตำรวจอังกฤษได้กำหนดหลักการสำหรับวิชาชีพตำรวจซึ่งยังถือเป็นหลักสากลที่สามารถปฏิบัติได้ในปัจจุบัน คือ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การป้องกันปราบปรามอาชญากรรมเป็นภารกิจพื้นฐานของตำรวจ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ตำรวจต้องได้รับความเคารพนับถือยกย่องจากประชาชนอย่างแท้จริง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การที่ประชาชนเคารพปฏิบัติตามกฎหมายเป็นการชักนำให้ประชาชนเคารพ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     ยำเกรงต่อตำรวจ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การปฏิบัติหน้าที่เชิงบังคับขู่เข็ญเพิ่มพูนของตำรวจจะเป็นผลทำให้ประชาชน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     สนับสนุนกิจการตำรวจน้อยลงเป็นสัดส่วนกัน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5.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ตำรวจต้องปฏิบัติหน้าที่ใช้บังคับกฎหมายด้วยความเที่ยงธรรม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</a:t>
            </a: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800" b="1" dirty="0">
                <a:latin typeface="Angsana New" pitchFamily="18" charset="-34"/>
                <a:cs typeface="Angsana New" pitchFamily="18" charset="-34"/>
              </a:rPr>
              <a:t>หลักการปฏิบัติหน้าที่สากลของตำรวจ </a:t>
            </a:r>
          </a:p>
        </p:txBody>
      </p:sp>
    </p:spTree>
    <p:extLst>
      <p:ext uri="{BB962C8B-B14F-4D97-AF65-F5344CB8AC3E}">
        <p14:creationId xmlns:p14="http://schemas.microsoft.com/office/powerpoint/2010/main" val="41549428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80728"/>
            <a:ext cx="7408333" cy="514543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6. ตำรวจเพิ่งใช้กำลังอาวุธในกรณีจำเป็นสุดวิสัยซึ่งไม่อาจหลีกเลี่ยงได้แล้ว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7.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ตำรวจและประชาชนเปรียบเสมือนบุคคลเดียวกัน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8.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ตำรวจเป็นตัวแทนของกฎหมาย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9.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สังคมที่ปลอดภัยจากอาชญากรรมและมีความสงบเงียบเป็นการทดสอบถึง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     ประสิทธิภาพของตำรวจ 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284984"/>
            <a:ext cx="4365104" cy="29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594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12776"/>
            <a:ext cx="7408333" cy="4713387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th-TH" dirty="0">
                <a:solidFill>
                  <a:srgbClr val="000000"/>
                </a:solidFill>
                <a:latin typeface="Arial"/>
              </a:rPr>
              <a:t>   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กระบวนการดำเนินงานของตำรวจตามประมวลกฎหมายวิธีพิจารณาความอาญาอาจสรุป สาระสำคัญและจัดแบ่งเฉพาะที่สำคัญได้8 ขั้นตอนดังนี้</a:t>
            </a:r>
          </a:p>
          <a:p>
            <a:pPr>
              <a:spcBef>
                <a:spcPts val="0"/>
              </a:spcBef>
            </a:pPr>
            <a:r>
              <a:rPr lang="th-TH" b="1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ขั้นตอนที่หนึ่ง 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การร้องทุกข์ในคดีอาญา</a:t>
            </a:r>
            <a:r>
              <a:rPr lang="th-TH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เมื่อเกิดอาชญากรรมในคดีอาญา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ผู้เสียหายที่ได้รับความเสียหายจากการกระทำผิดที่เกิดขึ้น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เจ้าพนักงาน หรือผู้ประสบเหตุ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ผู้เห็นเหตุการณ์ฝ่ายหนึ่งอาจนำเรื่องไปแจ้งกล่าวโทษหรือร้องทุกข์ต่อตำรวจโดยผู้ต้องหาซึ่งหมายถึงผู้ถูกกล่าวหาว่ากระทำความผิดคดีอาญานั้นนั้นอยู่อีกฝ่ายหนึ่ง</a:t>
            </a:r>
          </a:p>
          <a:p>
            <a:pPr>
              <a:spcBef>
                <a:spcPts val="0"/>
              </a:spcBef>
            </a:pPr>
            <a:r>
              <a:rPr lang="th-TH" b="1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ขั้นตอนที่สอง 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ตำรวจทำหน้าที่เป็นพนักงานสอบสวน</a:t>
            </a:r>
            <a:r>
              <a:rPr lang="th-TH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โดยรับแจ้งเหตุแล้วทำการสอบสวนรวบรวมพยานหลักฐานเป็นสำนวนคดี และเพื่อให้ตำรวจสามารถดำเนินการได้ประมวลกฎหมายวิธีพิจารณาความอาญาได้บัญญัติให้อำนาจตำรวจไว้ดังนี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อำนาจในการสอบสวนและสืบสวนคดีอาญาเพื่อให้ทราบตัวผู้กระทำความผิดและหาพยานหลักฐานเพื่อพิสูจน์การกระทำผิ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chemeClr val="tx2">
                    <a:lumMod val="75000"/>
                  </a:schemeClr>
                </a:solidFill>
                <a:latin typeface="Angsana New" pitchFamily="18" charset="-34"/>
                <a:cs typeface="Angsana New" pitchFamily="18" charset="-34"/>
              </a:rPr>
              <a:t>ตำรวจคนโตบุคคลและสถานที่เพื่อหาพยานหลักฐานและจับผู้ต้องหา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กระบวนการดำเนินงานของตำรวจ</a:t>
            </a:r>
          </a:p>
        </p:txBody>
      </p:sp>
    </p:spTree>
    <p:extLst>
      <p:ext uri="{BB962C8B-B14F-4D97-AF65-F5344CB8AC3E}">
        <p14:creationId xmlns:p14="http://schemas.microsoft.com/office/powerpoint/2010/main" val="38978015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692696"/>
            <a:ext cx="7408333" cy="5433467"/>
          </a:xfrm>
        </p:spPr>
        <p:txBody>
          <a:bodyPr>
            <a:normAutofit lnSpcReduction="10000"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en-US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3.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จับกุมผู้ต้องหาเพื่อนำมาดำเนินคดี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en-US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4.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ออกหมายเรียกพยานและผู้ต้องหามาเพื่อทำการสอบสวนไว้เป็นพยานหลักฐานในคดี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en-US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5.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ยึดวัตถุพยานใช้เป็นพยานหลักฐานในคดี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en-US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6.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ความคมบอกผู้ต้องหาเพื่อทำการสอบสวน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en-US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7.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ให้ประกันตัวผู้ต้องหาในระหว่างการสอบสวน</a:t>
            </a:r>
          </a:p>
          <a:p>
            <a:pPr>
              <a:spcBef>
                <a:spcPts val="0"/>
              </a:spcBef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ขั้นตอนที่สาม 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คดีอาญาที่เลิกกันได้ในชั้นตำรวจในฐานะเป็นพนักงานสอบสวน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ดังนี้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คดีอาญาที่เป็นความผิดต่อส่วนตัวเช่นคดีฉ้อโกง ทรัพย์  และยักยอกทรัพย์ เมื่อผู้เสียหายถอนคำร้องขอ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คดีที่ตำรวจมีอำนาจเปรียบเทียบปรับและผู้ต้องหาได้ชำระค่าปรับตามกำหนดแล้วเช่นคดีความผิดพระราชบัญญัติจราจรเป็นต้น</a:t>
            </a:r>
          </a:p>
          <a:p>
            <a:pPr>
              <a:spcBef>
                <a:spcPts val="0"/>
              </a:spcBef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ขั้นตอนที่สี่  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อำนาจการควบคุมผู้ต้องหาในระหว่างการสอบสวนของตำรวจ</a:t>
            </a:r>
            <a:r>
              <a:rPr lang="th-TH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ฉพาะคดีที่มีอัตราโทษที่กฎหมายบัญญัติให้อำนาจตำรวจทำการตรวจผู้ต้องหาไว้ในระหว่างการสอบสวนได้แยกเป็นสองกรณีคือ 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คดีที่อยู่ในอำนาจศาลแขวงควบคุมตัวผู้ต้องหาได้ 48 ชั่วโมง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คดีที่อยู่ในอำนาจศาลอาญาควบคุมตัวผู้ต้องหาได้ 48 ชั่วโมง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7974549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692696"/>
            <a:ext cx="7408333" cy="5649491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ขั้นตอนที่ห้า 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การขอผัดฟ้องและฝากขังผู้ต้องหา</a:t>
            </a:r>
            <a:r>
              <a:rPr lang="th-TH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หลังจากครบอำนาจควบคุมตัวผู้ต้องหาแล้วหากการสอบสวนยังไม่เสร็จตำรวจต้องนำผู้ต้องหาไปขอผัดฟ้องหรือฝากขังต่อศาลแขวง หรือศาลอาญา ดังนี้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คดีที่อยู่ในอำนาจศาลแขวงผัดฟ้อง(ในกรณีผู้ต้องหามีประกันตัว) 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หรือผัดฟ้องฝากขังในตอนนี้ผู้ต้องหาไม่มีประกันตัวได้ไม่เกินห้าครั้ง ครั้ง ละไม่เกินหกวัน(พระราชบัญญัติจัดตั้งศาลแขวงและวิธีพิจารณาความอาญาในศาลแขวงมาตรา 7)</a:t>
            </a:r>
          </a:p>
          <a:p>
            <a:pPr>
              <a:spcBef>
                <a:spcPts val="0"/>
              </a:spcBef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   2.1 คดีที่มีอัตราโทษจำคุกอย่างสูงเกินกว่าหกเดือนแต่ไม่ถึง 10 ปีหรือปรับเกินกว่า 500 บาทหรือทั้งจำทั้งปรับฝากขังได้หลายครั้งติดติดกันแต่ครั้งหนึ่งต้องไม่เกิน 12 วันและรวมกันทั้งหมดต้องไม่เกิน 48 วัน</a:t>
            </a:r>
          </a:p>
          <a:p>
            <a:pPr>
              <a:spcBef>
                <a:spcPts val="0"/>
              </a:spcBef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   2.2 คดีที่มีอัตราโทษจำคุกอย่างสูงตั้งแต่ 10 ปีขึ้นไปฝากขังได้หลายครั้งติดติดกันครั้งหนึ่งต้องไม่เกิน 12 วันรวมกันทั้งหมดต้องไม่เกิน 48 วัน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 เมื่อศาลอนุญาตให้ผัดฟ้องฝากขัง(คดีศาลแขวง)หรือฝากขัง(คดีอาญา)แล้วจะมอบตัว ผู้ต้องหาให้อยู่ในอำนาจการควบคุมของศาลซึ่งศาลจะได้มอบให้เจ้าหน้าที่ราชทัณฑ์นำตัวไป ควบคุมไว้ในเรือนจำต่อไป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กรณีผู้ต้องหาได้ประกันตัวในชั้นสอบสวนตำรวจไม่ต้องขออำนาจศาลฝากขังแต่อย่างใด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125408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908720"/>
            <a:ext cx="7408333" cy="5361459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buClr>
                <a:srgbClr val="31B6FD"/>
              </a:buClr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ขั้นตอนที่หก 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การสรุปสำนวนของตำรวจ</a:t>
            </a:r>
            <a:r>
              <a:rPr lang="th-TH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เมื่อตำรวจรวบรวมพยานหลักฐานเสร็จแล้วก็จะสรุปสำนวนการสอบสวนมีความเห็นทางคดีได้ 3 ทางดังนี้</a:t>
            </a:r>
          </a:p>
          <a:p>
            <a:pPr lvl="0" fontAlgn="base">
              <a:spcBef>
                <a:spcPts val="0"/>
              </a:spcBef>
              <a:buClr>
                <a:srgbClr val="31B6FD"/>
              </a:buClr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เห็นควรงดการสอบสวน (กรณีไม่มีตัวผู้ต้องหา)</a:t>
            </a:r>
          </a:p>
          <a:p>
            <a:pPr lvl="0" fontAlgn="base">
              <a:spcBef>
                <a:spcPts val="0"/>
              </a:spcBef>
              <a:buClr>
                <a:srgbClr val="31B6FD"/>
              </a:buClr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เห็นควรสั่งฟ้องผู้ต้องหา</a:t>
            </a:r>
          </a:p>
          <a:p>
            <a:pPr lvl="0" fontAlgn="base">
              <a:spcBef>
                <a:spcPts val="0"/>
              </a:spcBef>
              <a:buClr>
                <a:srgbClr val="31B6FD"/>
              </a:buClr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เห็นควรสั่งไม่ฟ้องผู้ต้องหา</a:t>
            </a:r>
          </a:p>
          <a:p>
            <a:pPr>
              <a:spcBef>
                <a:spcPts val="0"/>
              </a:spcBef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ขั้นตอนที่เจ็ด 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กรณีตำรวจมีความเห็นควรสั่งฟ้อง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ให้ส่งสำนวนการสอบสวนพร้อมตัวผู้ต้องหาไปยังพนักงานอัยการเพื่อดำเนินการต่อไปส่วนการประกันตัวชั้นการควบคุมของอัยการ ผู้ต้องหามีสิทธิจะยื่นคำร้องขอประกันตัวต่ออัยการได้</a:t>
            </a:r>
          </a:p>
          <a:p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ขั้นตอนที่แปด </a:t>
            </a:r>
            <a:r>
              <a:rPr lang="th-TH" u="sng" dirty="0">
                <a:solidFill>
                  <a:srgbClr val="C00000"/>
                </a:solidFill>
                <a:latin typeface="Angsana New" pitchFamily="18" charset="-34"/>
                <a:cs typeface="Angsana New" pitchFamily="18" charset="-34"/>
              </a:rPr>
              <a:t>กรณีตำรวจมีความเห็นควรสั่งไม่ฟ้อง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ให้ส่งสำนวนการสอบสวนไปยังอัยการเพื่อพิจารณาต่อไปส่วนตัวผู้ต้องหาหากอยู่ในความควบคุมของตำรวจ ให้ปล่อยตัวไปอยู่ในความควบคุมของศาลให้ยื่นคำร้องขอปล่อยตัวผู้ต้องหาต่อศาล</a:t>
            </a:r>
          </a:p>
          <a:p>
            <a:br>
              <a:rPr lang="th-TH" dirty="0"/>
            </a:br>
            <a:endParaRPr lang="th-TH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866421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836712"/>
            <a:ext cx="7408333" cy="5289451"/>
          </a:xfrm>
        </p:spPr>
        <p:txBody>
          <a:bodyPr/>
          <a:lstStyle/>
          <a:p>
            <a:pPr lvl="0">
              <a:spcBef>
                <a:spcPts val="0"/>
              </a:spcBef>
              <a:buClr>
                <a:srgbClr val="31B6FD"/>
              </a:buClr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สรุป  </a:t>
            </a:r>
            <a:endParaRPr lang="th-TH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pPr lvl="0">
              <a:spcBef>
                <a:spcPts val="0"/>
              </a:spcBef>
              <a:buClr>
                <a:srgbClr val="31B6FD"/>
              </a:buClr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 ตำรวจเป็นเจ้าหน้าที่ของรัฐในกระบวนการยุติธรรมที่ใกล้ชิดประชาชนมากที่สุดอีกทั้งยังเป็นหน่วยงานของรัฐและเจ้าหน้าที่ของรัฐที่อยู่ให้กระบวนการยุติธรรมเป็นลำดับแรกอำนาจหน้าที่ในการดำเนินงานหรือบริหารงานราชการของตำรวจในส่วนที่เกี่ยวข้องกับคดีอาญาที่สำคัญมี 8 ขั้นตอนซึ่งมากเพียงพอที่จะให้ความยุติธรรมและอำนวยความยุติธรรมแก่ประชาชนบ้าง</a:t>
            </a: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356992"/>
            <a:ext cx="4231324" cy="281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097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9" y="3933056"/>
            <a:ext cx="2232248" cy="2774517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ความหมาย.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จ้าหน้าที่ของรัฐที่สังกัดสำนักงานอัยการสูงสุดซึ่งเป็นส่วนราชการไม่สังกัดสำนักนายกรัฐมนตรีกระทรวงหรือทบวงมีฐานะเป็นกรมและอยู่ในบังคับของรัฐมนตรีว่าการกระทรวงยุติธรรมบางครั้งเรียกอัยการว่าทนายแผ่นดิน อาจกล่าวได้ว่ามีหน้าที่หลักคือตัดสินว่าจะสั่งฟ้องผู้ต้องหา ต่อศาลหรือไม่หลังจากที่ได้รับสรุปสำนวนจากตำรวจแล้วอัยการถือว่าเป็นส่วนสำคัญส่วนหนึ่งในกระบวนการยุติธรรมทางอาญา</a:t>
            </a:r>
          </a:p>
          <a:p>
            <a:pPr marL="0" indent="0">
              <a:buNone/>
            </a:pPr>
            <a:br>
              <a:rPr lang="th-TH" dirty="0"/>
            </a:b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อัยการ</a:t>
            </a:r>
          </a:p>
        </p:txBody>
      </p:sp>
    </p:spTree>
    <p:extLst>
      <p:ext uri="{BB962C8B-B14F-4D97-AF65-F5344CB8AC3E}">
        <p14:creationId xmlns:p14="http://schemas.microsoft.com/office/powerpoint/2010/main" val="3702463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196752"/>
            <a:ext cx="7408333" cy="492941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th-TH" dirty="0">
                <a:solidFill>
                  <a:srgbClr val="000000"/>
                </a:solidFill>
                <a:latin typeface="Arial"/>
              </a:rPr>
              <a:t>	</a:t>
            </a: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พระราชบัญญัติปรับปรุงกระทรวง ทบวง กรม พ.ศ.2545 (มาตรา 46(9)) บัญญัติให้สำนักงานอัยการสูงสุดมีอำนาจหน้าที่เกี่ยวกับการดำเนินคดีอาญาทั้งปวงดำเนินคดีแพ่งและให้คำปรึกษาด้านกฎหมายแก่รัฐบาลและหน่วยงานของรัฐและอำนาจหน้าที่ตามที่กำหนดไว้ในกฎหมายทำงานหน้าที่ของอัยการที่สำคัญมี 4 ประการ  ดังนี้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sz="2600" dirty="0">
                <a:solidFill>
                  <a:srgbClr val="002060"/>
                </a:solidFill>
                <a:latin typeface="Arial"/>
              </a:rPr>
              <a:t>	</a:t>
            </a:r>
            <a:r>
              <a:rPr lang="en-US" sz="2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1</a:t>
            </a:r>
            <a:r>
              <a:rPr lang="en-US" sz="2600" b="1" dirty="0">
                <a:solidFill>
                  <a:srgbClr val="002060"/>
                </a:solidFill>
                <a:latin typeface="Arial"/>
              </a:rPr>
              <a:t>.</a:t>
            </a:r>
            <a:r>
              <a:rPr lang="th-TH" sz="2600" b="1" u="sng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การอำนวยความยุติธรรม</a:t>
            </a:r>
            <a:r>
              <a:rPr lang="th-TH" sz="2600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ตามประมวลกฎหมายวิธีพิจารณาความอาญา เช่น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ฟ้องคดีอาญาต่อศาลชั้นต้นตลอดจนฟ้องอุทธรณ์ ฟ้องฎีกา และแก้ฟ้องอุทธรณ์ แก้ฟ้องฎีกาด้วย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สั่งให้งดหรือให้ทำการสอบสวนต่อไปในคดีที่ไม่ปรากฏว่าผู้ใดเป็นผู้กระทำผิด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นกรณีที่พนักงานสอบสวนมีความจำเป็นควรสั่งไม่ฟ้องและพนักงานอัยการเห็นชอบด้วยให้ออกคำสั่งไม่ฟ้องและแจ้งคำสั่งนี้ให้พนักงานสอบสวนทราบแต่ถ้าไม่เห็นชอบด้วยก็ให้สั่งฟ้องและแจ้งให้พนักงานสอบสวนส่ง ตัวผู้ต้องหามาเพื่อฟ้องหรือจัดการอย่างไรอย่างใดเพื่อให้ได้ตัวผู้ต้องหามา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นกรณีที่พนักงานสอบสวนมีความผิดสั่งฟ้องและพนักงานอัยการเห็นชอบด้วยให้ออกคำสั่งฟ้องและฟ้องผู้ต้องหาต่อศาล แต่ถ้าไม่เห็นชอบด้วยก็ให้สั่งไม่ฟ้องและปล่อยตัวผู้ต้องหาไป และแจ้งคำสั่งให้พนักงาน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สั่งให้พนักงานสอบสวนดำเนินการสอบสวนเพิ่มเติมหรือส่งพยานคนใดมาให้ซักถามเพื่อสั่งต่อไป</a:t>
            </a:r>
          </a:p>
          <a:p>
            <a:pPr marL="0" indent="0">
              <a:buNone/>
            </a:pPr>
            <a:endParaRPr lang="th-TH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86416"/>
          </a:xfrm>
        </p:spPr>
        <p:txBody>
          <a:bodyPr>
            <a:normAutofit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อำนาจหน้าที่ </a:t>
            </a:r>
          </a:p>
        </p:txBody>
      </p:sp>
    </p:spTree>
    <p:extLst>
      <p:ext uri="{BB962C8B-B14F-4D97-AF65-F5344CB8AC3E}">
        <p14:creationId xmlns:p14="http://schemas.microsoft.com/office/powerpoint/2010/main" val="13967508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476672"/>
            <a:ext cx="7408333" cy="597666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</a:pP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2. </a:t>
            </a:r>
            <a:r>
              <a:rPr lang="th-TH" sz="2800" b="1" u="sng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การรักษาผลประโยชน์ของรัฐ</a:t>
            </a:r>
          </a:p>
          <a:p>
            <a:pPr marL="0" indent="0" fontAlgn="base">
              <a:spcBef>
                <a:spcPts val="0"/>
              </a:spcBef>
              <a:buNone/>
            </a:pPr>
            <a:r>
              <a:rPr lang="en-US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    (1)</a:t>
            </a: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ในคดีแพ่งหรือคดีปกครอง (ตามพ.ร.บ.องค์กรอัยการและพนักงานอัยการพ.ศ. 2553 ม. 14)</a:t>
            </a:r>
          </a:p>
          <a:p>
            <a:pPr>
              <a:spcBef>
                <a:spcPts val="0"/>
              </a:spcBef>
            </a:pP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  1.1 ในคดีแพ่งหรือคดีปกครองมีอำนาจหน้าที่ดำเนินคดีแทนรัฐบาลหน่วยงานของรัฐที่เป็นองค์กรตามรัฐธรรมนูญราชการส่วนกลางหรือราชการส่วนภูมิภาคในศาลหรือในกระบวนการทางอนุญาโตตุลาการทั้งปวง กลับมีอำนาจและหน้าที่ตามกฎหมายอื่นซึ่งบัญญัติว่าเป็นอำนาจหน้าที่ของสำนักงานอัยการสูงสุดหรือพนักงานอัยการ</a:t>
            </a:r>
          </a:p>
          <a:p>
            <a:pPr>
              <a:spcBef>
                <a:spcPts val="0"/>
              </a:spcBef>
            </a:pP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  1.2 ในคดีแพ่ง คดีปกครอง หรือคดีอาญา ซึ่งเจ้าหน้าที่ของรัฐถูกฟ้องในเรื่องการที่ได้กระทำไปตามหน้าที่ก็ดีหรือในคดีแพ่งหรือคดีอาญาที่ราษฎรผู้หนึ่งผู้ใดถูกฟ้องในเรื่องการที่ได้กระทำตามคำสั่งของเจ้าหน้าที่ของรัฐซึ่งได้สั่งการโดยชอบด้วยกฎหมายหรือเข้าร่วมหรือช่วยเหลือเจ้าหน้าที่ของรัฐซึ่งกระทำการ ในหน้าที่ราชการก็ดี เมื่อเห็นสมควรพนักงานอัยการจะรับแก้ต่างให้ก็ได้</a:t>
            </a:r>
          </a:p>
          <a:p>
            <a:pPr>
              <a:spcBef>
                <a:spcPts val="0"/>
              </a:spcBef>
            </a:pP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1.3 ในคดีแพ่ง คดีปกครอง หรือกรณีข้อพิพาทที่ต้องดำเนินการทางอนุญาโตตุลาการ</a:t>
            </a:r>
          </a:p>
          <a:p>
            <a:pPr>
              <a:spcBef>
                <a:spcPts val="0"/>
              </a:spcBef>
            </a:pP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1.4 ผู้ดำรงตำแหน่งทางการเมืองผู้ใดมีทรัพย์สินเพิ่มผิดปกติให้ประธานกรรมการป้องกันและปราบปรามการทุจริตแห่งชาติส่งเอกสารทั้งหมดพร้อมทั้งรายงานการตรวจสอบไปยังอัยการสูงสุดเพื่อดำเนินงานคดีในศาลฎีกาแผนกคดีอาญาของผู้ดำรงตำแหน่งทางการเมืองเพื่อให้ทรัพย์สินที่</a:t>
            </a:r>
            <a:r>
              <a:rPr lang="th-TH" sz="2800" dirty="0" err="1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เพิ่มขึ้น</a:t>
            </a: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ผิดปกตินั้นตกเป็นของแผ่นดิน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sz="28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213202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548680"/>
            <a:ext cx="7408333" cy="5577483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>
                <a:srgbClr val="31B6FD"/>
              </a:buClr>
              <a:buNone/>
            </a:pPr>
            <a:r>
              <a:rPr lang="th-TH" dirty="0">
                <a:solidFill>
                  <a:srgbClr val="00000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(2) เป็นที่ปรึกษากฎหมายของรัฐโดยให้คำปรึกษาหรือความเห็นทางกฎหมายหรือตรวจร่างสัญญาต่างๆก่อนลงนาม</a:t>
            </a:r>
          </a:p>
          <a:p>
            <a:pPr>
              <a:spcBef>
                <a:spcPts val="0"/>
              </a:spcBef>
            </a:pPr>
            <a:endParaRPr lang="th-TH" dirty="0">
              <a:solidFill>
                <a:srgbClr val="000000"/>
              </a:solidFill>
              <a:latin typeface="Angsana New" pitchFamily="18" charset="-34"/>
              <a:cs typeface="Angsana New" pitchFamily="18" charset="-34"/>
            </a:endParaRPr>
          </a:p>
          <a:p>
            <a:pPr>
              <a:spcBef>
                <a:spcPts val="0"/>
              </a:spcBef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   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3. </a:t>
            </a:r>
            <a:r>
              <a:rPr lang="th-TH" b="1" u="sng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การคุ้มครองสิทธิและเสรีภาพของประชาชน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อัยการมีอำนาจหน้าที่ดำเนินการคุ้มครองสิทธิและเสรีภาพตามที่กฎหมายบัญญัติไว้เช่นยื่นคำร้องขอให้ศาลออกหมายปล่อยผู้ต้องหา ยื่นคำร้องขอให้ศาลปล่อยบุคคลที่ถูกคุมขังโดยมิชอบด้วยกฎหมายหรือถูกจำคุกผิดจากคำพิพากษาของศาล</a:t>
            </a:r>
          </a:p>
          <a:p>
            <a:pPr>
              <a:spcBef>
                <a:spcPts val="0"/>
              </a:spcBef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4. </a:t>
            </a:r>
            <a:r>
              <a:rPr lang="th-TH" b="1" u="sng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อำนาจหน้าที่อื่นๆตามที่กฎหมายบัญญัติไว้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เช่น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 อัยการสูงสุดเป็นผู้ตรวจสอบข้อเท็จจริงและยื่นคำร้องให้ศาลรัฐธรรมนูญวินิจฉัยสั่งการให้บุคคลหรือพรรคการเมืองใดเลิกการกระทำเพื่อล้มล้างการปกครองระบอบประชาธิปไตยอันมีพระมหากษัตริย์เป็นประมุขหรือเพื่อให้ได้มาซึ่งอำนาจในการปกครองประเทศโดยวิธีการซึ่งมิได้เป็นไปตามวิถีทางที่บัญญัติไว้ในรัฐธรรมนูญ</a:t>
            </a:r>
          </a:p>
          <a:p>
            <a:pPr marL="0" indent="0">
              <a:buNone/>
            </a:pP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490301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84784"/>
            <a:ext cx="7408333" cy="4641379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solidFill>
                  <a:srgbClr val="000000"/>
                </a:solidFill>
                <a:latin typeface="Arial"/>
              </a:rPr>
              <a:t>	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ในการดำเนินคดีอาญาเพื่ออำนวย ความยุติธรรมเป็นไปตามพระราชบัญญัติองค์กรอัยการและพนักงานอัยการพ.ศ. 2553 ม .14 และประมวลกฎหมายวิธีพิจารณาความอาญาเป็นหลักที่สำคัญมี 2 ขั้นตอน ดังนี้</a:t>
            </a:r>
          </a:p>
          <a:p>
            <a:pPr marL="0" indent="0">
              <a:buNone/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ขั้นตอนที่หนึ่ง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การสั่งคดี</a:t>
            </a:r>
          </a:p>
          <a:p>
            <a:pPr marL="0" indent="0">
              <a:buNone/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ขั้นตอนที่สอง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การดำเนินคดีอาญาในศาล</a:t>
            </a:r>
          </a:p>
          <a:p>
            <a:pPr>
              <a:spcBef>
                <a:spcPts val="0"/>
              </a:spcBef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สรุป  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อัยการมีอำนาจหน้าที่ 4 ประการและกระบวนการดำเนินงานของอัยการที่สำคัญมี 2 ขั้นตอนได้แก่ การสั่งคดี และการดำเนินคดีอาญาในศาล กล่าวคือ ตำรวจซึ่งทำหน้าที่เป็นพนักงานสอบสวนเรื่องส่งมาถึงอัยการอัยการจะพิจารณาและมีความเห็นคดีไว้คือ งดการสอบสวนสั่งฟ้องหรือสั่งไม่ฟ้อง</a:t>
            </a:r>
          </a:p>
          <a:p>
            <a:pPr marL="0" indent="0">
              <a:buNone/>
            </a:pPr>
            <a:br>
              <a:rPr lang="th-TH" dirty="0"/>
            </a:br>
            <a:endParaRPr lang="th-TH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กระบวนการดำเนินงานของอัยการ 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4653136"/>
            <a:ext cx="2952328" cy="171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651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412776"/>
            <a:ext cx="7408333" cy="474684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th-TH" dirty="0">
                <a:solidFill>
                  <a:srgbClr val="000000"/>
                </a:solidFill>
                <a:latin typeface="Arial"/>
              </a:rPr>
              <a:t> 	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หมายถึง   ผู้พิพากษาซึ่งมีอำนาจในการตัดสินคดีความต่างๆตามกฎหมายในที่นี้หมายถึงศาลยุติธรรมหรือผู้พิพากษาที่มีอำนาจพิจารณาพิพากษาคดีอาญาและเป็นส่วนสำคัญส่วนหนึ่งในกระบวนการยุติธรรมทางอาญาศาลยุติธรรมยังเป็นองค์กรตามรัฐธรรมนูญที่มีความเป็นอิสระในการพิจารณาพิพากษา อรรถคดีโดยแบ่งเป็น 3 ชั้นศาล ได้แก่. ศาลชั้นต้น. ศาลอุทธรณ์ และศาลฎีกา</a:t>
            </a:r>
          </a:p>
          <a:p>
            <a:br>
              <a:rPr lang="th-TH" dirty="0"/>
            </a:b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645024"/>
            <a:ext cx="4680520" cy="26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607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02597" y="4437112"/>
            <a:ext cx="7408333" cy="2140626"/>
          </a:xfrm>
        </p:spPr>
        <p:txBody>
          <a:bodyPr/>
          <a:lstStyle/>
          <a:p>
            <a:pPr marL="0" indent="0" fontAlgn="base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อำนาจหน้าที่ของศาลยุติธรรมมาแล้วธรรมนูญแห่งราชอาณาจักรไทยบัญญัติให้ศาลยุติธรรม มีอำนาจพิจารณาพิพากษาคดีทั้งปวงเว้นแต่คดีที่รัฐธรรมนูญนี้ หรือกฎหมายบัญญัติให้อยู่ในอำนาจของศาลอื่น</a:t>
            </a:r>
            <a:endParaRPr lang="th-TH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br>
              <a:rPr lang="th-TH" dirty="0"/>
            </a:b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อำนาจหน้าที่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484784"/>
            <a:ext cx="540060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9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th-TH" dirty="0">
                <a:solidFill>
                  <a:srgbClr val="000000"/>
                </a:solidFill>
                <a:latin typeface="Arial"/>
              </a:rPr>
              <a:t>    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ในที่นี้หมายถึงการดำเนินงานของศาลในคดีอาญาโดยศึกษาเฉพาะการดำเนินงานที่สำคัญซึ่งมีอยู่ 7 ขั้นตอน</a:t>
            </a:r>
          </a:p>
          <a:p>
            <a:pPr>
              <a:spcBef>
                <a:spcPts val="0"/>
              </a:spcBef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ขั้นตอนที่หนึ่ง.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การไต่สวนมูลฟ้อง หมายถึงกระบวนไต่สวนของศาลวินิจฉัยคดีที่นำมาฟ้องต่อศาลว่ามีมูลหรือไม่มีมูล เป็นการกลั่นกรองคดีที่จะให้ศาลพิจารณาพิพากษาคดีอาจแยกออกเป็น 2 กรณีคือ. กรณีอัยการเป็นโจทก์ฟ้อง.  และกรณีผู้เสียหายเป็นโจทก์ฟ้อง</a:t>
            </a:r>
          </a:p>
          <a:p>
            <a:pPr>
              <a:spcBef>
                <a:spcPts val="0"/>
              </a:spcBef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      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ขั้นตอนที่สอง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พิจารณาคดีอาญาเมื่อศาลประทับรับฟ้องแล้วศาลจะดำเนินการพิจารณาคดีและสืบพยานต่อไปโดยมีสาระสำคัญ 2 ประการ คือ การคุ้มครองจำเลยในการต่อสู้คดี  และองค์คณะพิจารณาพิพากษาคดี</a:t>
            </a:r>
          </a:p>
          <a:p>
            <a:pPr marL="0" indent="0">
              <a:buNone/>
            </a:pPr>
            <a:br>
              <a:rPr lang="th-TH" dirty="0"/>
            </a:b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90472"/>
          </a:xfrm>
        </p:spPr>
        <p:txBody>
          <a:bodyPr>
            <a:normAutofit fontScale="90000"/>
          </a:bodyPr>
          <a:lstStyle/>
          <a:p>
            <a:pPr marL="274320" lvl="0" indent="-274320" fontAlgn="base">
              <a:spcBef>
                <a:spcPts val="0"/>
              </a:spcBef>
            </a:pPr>
            <a:r>
              <a:rPr lang="th-TH" sz="4800" b="1" dirty="0">
                <a:solidFill>
                  <a:schemeClr val="bg1"/>
                </a:solidFill>
                <a:latin typeface="Angsana New" pitchFamily="18" charset="-34"/>
                <a:ea typeface="+mn-ea"/>
                <a:cs typeface="Angsana New" pitchFamily="18" charset="-34"/>
              </a:rPr>
              <a:t>กระบวนการดำเนินงานของศาล </a:t>
            </a:r>
            <a:br>
              <a:rPr lang="th-TH" sz="2200" dirty="0">
                <a:solidFill>
                  <a:srgbClr val="000000"/>
                </a:solidFill>
                <a:latin typeface="Arial"/>
                <a:ea typeface="+mn-ea"/>
              </a:rPr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577194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692696"/>
            <a:ext cx="7660373" cy="564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ขั้นตอนที่สาม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การขอให้ศาลรอการลงโทษจำคุก  ในคดีที่จำเลยรับสารภาพว่าได้กระทำผิดจริงตามฟ้องและเป็นคดีไม่ร้ายแรง   ซึ่งศาลจะลงโทษจำคุกไม่เกินสามปีจำเลยอาจยื่นคำแถลงประกอบคำรับสารภาพขอให้ศาลรอการลงโทษจำคุกจำเลยกลับตัวเป็นคนดีได้โดยควรได้หลักฐานต่างๆเกี่ยวกับอายุ ประวัติ ความประพฤติ การศึกษาอบรม สุขภาพ  ภาวะแห่งจิต  นิสัย อาชีพ สิ่งแวดล้อม สภาพความผิด หรือเหตุอื่นอันควรปราณีด้วย   เช่น บันทึกการตกลงชดใช้ค่าเสียหายเพื่อบรรเทาผลร้าย  สำเนาทะเบียนบ้าน  หรือสูติบัตร   ซึ่งแสดงว่ามีบุตรต้องอยู่ในความอุปการะเลี้ยงดู เป็นต้น แต่ทั้งนี้ศาลอาจลงโทษจำคุกและปรับ แต่รอการลงโทษจำคุกไว้โดยกำหนดเงื่อนไข  คุมความประพฤติด้วยการให้จำเลยไปรายงานตัว หรือทำกิจกรรมบริการสังคมหรือสาธารณ ประโยชน์ด้วยหรือไม่เพียงใด ก็ได้และจำเลยต้องปฏิบัติตามเงื่อนไขนั้นโดยเคร่งครัด  หากมิฉะนั้นแล้วศาลอาจนำโทษจำคุกที่รอไว้นั้นมาลงแก่จำเลยได้การขอให้ศาลรอการลงโทษจำคุกนี้เกี่ยวข้องกับการคุมประพฤติซึ่งจะได้ศึกษาต่อไป</a:t>
            </a:r>
          </a:p>
        </p:txBody>
      </p:sp>
    </p:spTree>
    <p:extLst>
      <p:ext uri="{BB962C8B-B14F-4D97-AF65-F5344CB8AC3E}">
        <p14:creationId xmlns:p14="http://schemas.microsoft.com/office/powerpoint/2010/main" val="14371474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268760"/>
            <a:ext cx="7408333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b="1" dirty="0">
                <a:latin typeface="Angsana New" pitchFamily="18" charset="-34"/>
                <a:cs typeface="Angsana New" pitchFamily="18" charset="-34"/>
              </a:rPr>
              <a:t>	ขั้นตอนที่สี่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การพิพากษาคดีอาญา       เมื่อสืบพยานจนได้ข้อยุติอย่างไรอย่างหนึ่งแล้วว่าจำเลยได้กระทำความผิดหรือไม่ได้กระทำความผิดจริงตามฟ้องให้ศาลอ่านคำพิพากษาหรือคำสั่งในศาลโดยเปิดเผยในวันเสร็จการพิจารณาหรือภายในเวลาสามวันนับแต่วันเสร็จคดีเว้นแต่มีเหตุอันควร  เช่น ศาลติดเรียบเรียงคำพิพากษาเรื่องอื่นหลายเรื่องหรือต้องส่งร่างคำพิพากษาไปให้อธิบดีผู้พิพากษาภาคตรวจตามระเบียบเสียก่อน เช่นนี้ ศาลอาจเลื่อนอ่านคำพิพากษาไปวันอื่นก็ได้  แต่ต้องจดเหตุผลไว้ในรายงานกระบวนพิจารณาคำพิพากษาหรือคำสั่งของศาลต้องทำเป็นหนังสือลงลายมือชื่อชื่อผู้พิพากษา   ซึ่งนั่งพิจารณาคดีในการทำคำพิพากษาหรือคำสั่ง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อาจดำเนินการเป็น 2 กรณี  คือ  กรณีพิพากษายกฟ้อง  และกรณีพิพากษาลงโทษจำเลย</a:t>
            </a:r>
          </a:p>
        </p:txBody>
      </p:sp>
    </p:spTree>
    <p:extLst>
      <p:ext uri="{BB962C8B-B14F-4D97-AF65-F5344CB8AC3E}">
        <p14:creationId xmlns:p14="http://schemas.microsoft.com/office/powerpoint/2010/main" val="42321860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484784"/>
            <a:ext cx="7408333" cy="5217443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ขั้นตอนที่ห้า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อุทธรณ์ฎีกาเมื่อศาลชั้นต้นมีคำพิพากษาหรือคำสั่งแล้วคู่ความไม่พอใจคำพิพากษานั้นคู่ความอาจธรคำพิพากษาของศาลชั้นต้นกับศาลอุทธรณ์ภายในกำหนดอายุความอุทธรณ์เกิน 30 วันนับแต่วันที่ศาลชั้นต้นมีคำพิพากษาหรือคำสั่งให้ยกเว้นกล่าวว่า  การอุทธรณ์ฎีกาเมื่อศาลชั้นต้นมีคำพิพากษาหรือคำสั่งแล้วคู่ความไม่พอใจคำพิพากษานั้นคู่ความอาจธรคำพิพากษาของศาลชั้นต้นกับศาลอุทธรณ์ภายในกำหนดอายุความอุทธรณ์ 30 วันนับแต่วันที่ศาลชั้นต้นมีคำพิพากษาหรือคำสั่งให้ยกเว้น แต่ว่าคดีนั้นต้องห้ามอุทธรณ์เมื่อศาลอุทธรณ์มีคำพิพากษาหรือคำสั่งเช่นยืนตามคำพิพากษาของศาลชั้นต้นกลับหรือแก้ คำพิพากษาของศาลชั้นต้นคู่ความไม่พอใจหรือติดใจในคำพิพากษาหรือคำสั่งนั้นก็อาจยื่นฎีกาต่อศาลฎีกาก่อนพ้นกำหนดอายุความฎีกาคือ 30 วันนับแต่วันที่อ่านคำพิพากษาหรือคำสั่งของศาลอุทธรณ์ยกเว้นแต่ว่าคดีนั้นห้ามฎีกา</a:t>
            </a:r>
          </a:p>
        </p:txBody>
      </p:sp>
    </p:spTree>
    <p:extLst>
      <p:ext uri="{BB962C8B-B14F-4D97-AF65-F5344CB8AC3E}">
        <p14:creationId xmlns:p14="http://schemas.microsoft.com/office/powerpoint/2010/main" val="7550252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908720"/>
            <a:ext cx="7408333" cy="5649491"/>
          </a:xfrm>
        </p:spPr>
        <p:txBody>
          <a:bodyPr/>
          <a:lstStyle/>
          <a:p>
            <a:pPr marL="0" indent="0">
              <a:buNone/>
            </a:pPr>
            <a:r>
              <a:rPr lang="th-TH" b="1" dirty="0">
                <a:latin typeface="Angsana New" pitchFamily="18" charset="-34"/>
                <a:cs typeface="Angsana New" pitchFamily="18" charset="-34"/>
              </a:rPr>
              <a:t>	ขั้นตอนที่หก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อภัยโทษตามรัฐธรรมนูญแห่งราชอาณาจักรไทยและประมวลกฎหมายวิธีพิจารณาความอาญาการพระราชทานอภัยโทษเป็นอำนาจของพระมหากษัตริย์เมื่อจำเลยถูกศาลพิพากษาถึงที่สุดให้ลงโทษจำเลยจำเลยหรือผู้มีส่วนได้เสียอาจยื่นขอพระราชทานอภัยโทษได้  2 กรณี  คือ กรณีโทษประหารชีวิต และกรณีโทษอื่นๆ</a:t>
            </a:r>
          </a:p>
          <a:p>
            <a:pPr marL="0" indent="0">
              <a:buNone/>
            </a:pPr>
            <a:r>
              <a:rPr lang="th-TH" b="1" dirty="0">
                <a:latin typeface="Angsana New" pitchFamily="18" charset="-34"/>
                <a:cs typeface="Angsana New" pitchFamily="18" charset="-34"/>
              </a:rPr>
              <a:t>	ขั้นตอนที่เจ็ด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การรื้อฟื้นคดีอาญาขึ้นพิจารณาใหม่   รัฐธรรมนูญแห่งราชอาณาจักรไทยได้บัญญัติไว้ว่า  บุคคลใดต้องรับโทษอาญาโดยคำพิพากษาอันถึงที่สุดบุคคลนั้น ผู้มีส่วนได้เสียหรือพนักงานอัยการอาจร้องขอให้มีการรื้อฟื้นคดีขึ้นพิจารณาใหม่ได้ และหากปรากฏตามคำพิพากษาของศาลที่รื้อฟื้นคดีขึ้นพิจารณาใหม่ว่า  บุคคลนั้นมิได้เป็นผู้กระทำความผิด บุคคลนั้นหรือทายาทย่อมมีสิทธิได้รับค่าทดแทนและค่าใช้จ่ายตามสมควร ตลอดจนบรรดาสิทธิที่เสียไปเพราะผลแห่งคำพิพากษานั้นคืน ทั้งนี้   ตามเงื่อนไขและวิธีการที่กฎหมายบัญญัติ    บทบัญญัติของรัฐธรรมนูญเช่นนี้   เป็นการให้สิทธิบุคคลขอให้มีการรื้อฟื้นคดีอาญาขึ้นพิจารณาใหม่ได้  อันเป็นหลักประกันว่าประชาชนจะได้รับความยุติธรรมจากรัฐอย่างเต็มที่</a:t>
            </a:r>
          </a:p>
        </p:txBody>
      </p:sp>
    </p:spTree>
    <p:extLst>
      <p:ext uri="{BB962C8B-B14F-4D97-AF65-F5344CB8AC3E}">
        <p14:creationId xmlns:p14="http://schemas.microsoft.com/office/powerpoint/2010/main" val="39555997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692696"/>
            <a:ext cx="7408333" cy="5394912"/>
          </a:xfrm>
        </p:spPr>
        <p:txBody>
          <a:bodyPr/>
          <a:lstStyle/>
          <a:p>
            <a:pPr marL="0" indent="0">
              <a:buNone/>
            </a:pPr>
            <a:r>
              <a:rPr lang="th-TH" b="1" dirty="0">
                <a:latin typeface="Angsana New" pitchFamily="18" charset="-34"/>
                <a:cs typeface="Angsana New" pitchFamily="18" charset="-34"/>
              </a:rPr>
              <a:t>	สรุป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รัฐธรรมนูญแห่งราชอาณาจักรไทยกำหนดให้ศาลมีอำนาจมีอำนาจพิจารณาพิพากษาอรรถคดี ซึ่งศาลต้องดำเนินการตามรัฐธรรมนูญ ตามกฎหมายและในพระปรมาภิไธยของพระมหากษัตริย์ กระบวนการดำเนินงานของศาลที่สำคัญมี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7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ขั้นตอน ซึ่งถือว่าเป็นการบริหารงานราชการที่เป็นส่วนหนึ่งของกระบวนการยุติธรรม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3068960"/>
            <a:ext cx="3447827" cy="344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237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3501008"/>
            <a:ext cx="7408333" cy="2880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หมายถึง มาตรการหนึ่งของกรมคุมประพฤติกระทรวงยุติธรรมที่ใช้ในการปฏิบัติต่อผู้กระทำผิดที่เป็นผู้ใหญ่ในชุมชนโดยยึดหลักอาชญาวิทยา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และทัณฑ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วิทยาแนวใหม่ซึ่งเน้นการปฏิบัติต่อผู้กระทำผิดเป็นรายบุคคลนอกจากนี้ยังเป็นการเปลี่ยนแนวคิดจากวิธีการลงโทษมาเป็นที่การแก้ไขบำบัดพร้อมกับเปลี่ยนแนวคิดจากการลงโทษจำคุกเป็นวิธีการ เลี่ยงการจำคุกโดยเฉพาะอย่างยิ่งการให้ชุมชนเข้ามามีส่วนร่วมและรับผิดชอบในการป้องกันและอาชญากรรมและแก้ไขฟื้นฟูผู้กระทำผิด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07444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คุมประพฤติ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74" y="1484783"/>
            <a:ext cx="3037309" cy="182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066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84784"/>
            <a:ext cx="7408333" cy="4641379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คุมประพฤติจึงเป็นการบริหารงานที่สำคัญในกระบวนการยุติธรรมทางอาญาโดยครอบคลุมทั้งในขั้นตอนก่อนและหลังการพิพากษาคดีของศาลมีพนักงานคุมประพฤติผู้ดำเนินการขั้นตอนก่อนคำพิพากษาของศาลนั้นเรียกว่า การสืบเสาะและพินิจ ส่วนขั้นตอนหลังคำพิพากษาคดีของศาล เรียกว่า  การควบคุมและสอดส่อง ซึ่งพนักงานคุมประพฤติจะทำหน้าที่ให้คำแนะนำช่วยเหลือผู้กระทำความผิดนั้นๆ พร้อมกับนำทรัพยากรในชุมชนเข้ามาช่วยเหลือเรียกว่า กิจกรรมชุมชน ทั้งนี้เพื่อมุ่งหวังให้จำเลยได้กลับตัวเป็นพลเมืองดีและกลับคืนสู่ชุมชนอย่างมีคุณค่าตลอดไป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557924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340768"/>
            <a:ext cx="7408333" cy="4752528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กรมคุมประพฤติมีอำนาจหน้าที่ </a:t>
            </a:r>
            <a:r>
              <a:rPr lang="en-US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7 </a:t>
            </a: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ประการดังนี้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สืบเสาะและพิจารณาควบคุมและสอดส่องแก้ไขฟื้นฟูและสงเคราะห์ผู้กระทำผิดในฉันก่อนฟ้องฉันพิจารณาคดีของศาลและภายหลังที่ศาลมีคำพิพากษาตามที่กฎหมายกำหน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ดำเนินการฟื้นฟูสมรรถภาพผู้ติด</a:t>
            </a:r>
            <a:r>
              <a:rPr lang="th-TH" sz="2600" dirty="0" err="1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ในระบบบังคับรักษาตามกฎหมายว่าด้วยการฝนฟูสมรรถภาพผู้ติด</a:t>
            </a:r>
            <a:r>
              <a:rPr lang="th-TH" sz="2600" dirty="0" err="1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ยาเสพติด</a:t>
            </a:r>
            <a:endParaRPr lang="th-TH" sz="2600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ส่งเสริมสนับสนุนเกี่ยวกับการดำเนินการแก้ไขฟื้นฟูและสงเคราะห์ผู้กระทำผิดในชุมชน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พัฒนาระบบรูปแบบและวิธีการปฏิบัติต่อผู้กระทำผิดในชุมชน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จัดทำและประสานแผนงานของกรมให้สอดคล้องกับนโยบายและแผนแม่บทของกระทรวงรวมทั้งเร่งรัดติดตามและประเมินผลการปฏิบัติงานของคนงานในสังกั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สริมสร้างสนับสนุนและประสานงานให้ชุมชนและภาคประชาสังคมเข้ามามีส่วนร่วมและเป็นเครือข่ายในการปฏิบัติต่อผู้กระทำผิด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sz="26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ฏิบัติการอื่นใดตามที่กฎหมายกำหนดให้เป็นอำนาจหน้าที่ของกรมหรือตามที่กระทรวงหรือคณะรัฐมนตรีมอบหมาย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3682488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548681"/>
            <a:ext cx="7408333" cy="4032447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สรุป 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กรมคุมประพฤติสังกัดกระทรวงยุติธรรมกรมคุมประพฤติมีอำนาจหน้าที่หลายประการนอกเหนือจากการคุมประพฤติเช่นการฟื้นฟูสมรรถภาพผู้ติด</a:t>
            </a:r>
            <a:r>
              <a:rPr lang="th-TH" dirty="0" err="1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รวมตลอดถึงการมีส่วนสำคัญในกระบวนการชะลอการฟ้องตามที่กฎหมายให้อำนาจไว้ด้วยแต่ในที่นี้เน้นศึกษาอำนาจหน้าที่เกี่ยวกับการคุมประพฤติซึ่งเกี่ยวข้องกับกระบวนการยุติธรรมทางอาญาทั้งในขั้นตอนก่อนที่ศาลจะพิพากษาคดีเห็นได้จากการสืบและสองพี่นิดจำเลยโดยพนักงานคุม</a:t>
            </a:r>
            <a:r>
              <a:rPr lang="th-TH" dirty="0" err="1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ประพฤ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ติและขั้นตอนหลังจากศาลพิพากษาคดีแล้วเห็นได้จากการควบคุมและสอดส่องโดยพนักงานคุมประพฤติ</a:t>
            </a:r>
          </a:p>
          <a:p>
            <a:pPr marL="0" indent="0">
              <a:buNone/>
            </a:pPr>
            <a:br>
              <a:rPr lang="th-TH" dirty="0"/>
            </a:br>
            <a:endParaRPr lang="th-TH" dirty="0"/>
          </a:p>
        </p:txBody>
      </p:sp>
      <p:pic>
        <p:nvPicPr>
          <p:cNvPr id="6" name="รูปภาพ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753" y="3573016"/>
            <a:ext cx="4253458" cy="277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50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556792"/>
            <a:ext cx="7408333" cy="4353347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เป็นกิจกรรมของกรมราชทัณฑ์กระทรวงยุติธรรมสำหรับเจ้าหน้าที่ของรัฐที่ปฏิบัติราชการของกรมราชทัณฑ์คือเจ้าพนักงานเรือนจำซึ่งแบ่งเป็นสองประเภทได้แก่เจ้าพนักงานอำนวยการกลางและเจ้าพนักงานประจำเรือนจำ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เจ้าพนักงานอำนวยการกลาง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นั้นประกอบด้วยอธิบดีผู้ช่วยอธิบดีหัวหน้ากองในกรมราชทัณฑ์สารวัตรเรือนจำหัวหน้าแผนกในกรมราชทัณฑ์และข้าราชการสังกัดกรมราชทัณฑ์.   ส่วน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เจ้าพนักงานประจำเรือนจำ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ประกอบด้วย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4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ตำแหน่งได้แก่ผู้บัญชาการเรือนจำสารวัตรเรือนจำพัศดีและเจ้าหน้าที่ราชทัณฑ์หรือผู้คุม</a:t>
            </a: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ราชทัณฑ์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426541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604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980728"/>
            <a:ext cx="7408333" cy="4425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 กรมคุมราชทัณฑ์มีอำนาจหน้าที่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5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ประการ  ดังนี้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ฏิบัติต่อผู้กระทำผิดให้เป็นไปตามคำพิพากษาหรือคำสั่งตามกฎหมายโดยดำเนินการตามกฎหมายว่าด้วยการราชทัณฑ์และกฎหมายอื่นที่เกี่ยวข้อง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ำหนดแนวทางปฏิบัติต่อผู้ต้องขังโดยให้สอดคล้องกับกฎหมายระเบียบข้อบังคับนโยบายของกระทรวงหลักอาชญาวิทยา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และทัณฑ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วิทยาตลอดถึงข้อกำหนดมาตรฐานขั้นต่ำสำหรับปฏิบัติต่อผู้ต้องขังและข้อเสนอแนะในเรื่องที่เกี่ยวข้องของสหประชาชาติ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ดำเนินการเกี่ยวกับสวัสดิการและการสงเคราะห์แก่ผู้ต้องขัง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จัดทำและประสานแผนของกรมให้เป็นไปตามนโยบายและแผนปฏิบัติงานตามแผนงานของหน่วยงานในสังกัดกรมราชทัณฑ์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5.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ฏิบัติการอื่นใดตามที่กฎหมายกำหนดให้เป็นอำนาจหน้าที่ของกรมราชทัณฑ์ตามที่กระทรวงหรือคณะรัฐมนตรีมอบหมาย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อำนาจหน้าที่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869160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481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700808"/>
            <a:ext cx="7408333" cy="4425355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กระบวนการดำเนินงานเพื่อปฏิบัติตามคำพิพากษาของศาลหรือ การบังคับคดีโดยกรมราชทัณฑ์ มี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7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ขั้นตอน ดังนี้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การรับตัวจำเลยผู้ต้องโทษ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การให้สวัสดิการแก่ผู้ต้องโทษ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การรักษาระเบียบวินัย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การให้การศึกษาวิชาสามัญและการฝึกวิชาชีพ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5.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การให้ทำงานโดยใช้แรงงานผู้ต้องโทษ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6.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การฝึกอบรมจิตใจ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7.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การปล่อยตัว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กระบวนการดำเนินงาน</a:t>
            </a:r>
          </a:p>
        </p:txBody>
      </p:sp>
    </p:spTree>
    <p:extLst>
      <p:ext uri="{BB962C8B-B14F-4D97-AF65-F5344CB8AC3E}">
        <p14:creationId xmlns:p14="http://schemas.microsoft.com/office/powerpoint/2010/main" val="40794788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3573016"/>
            <a:ext cx="7408333" cy="25531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กรมสอบสวนคดีพิเศษ สังกัดกระทรวงยุติธรรม สืบเนื่องจากสถานการณ์ของโลกมีการเปลี่ยนแปลงอย่างรวดเร็ว ส่งผลกระทบต่อระบบเทคโนโลยี เศรษฐกิจ สังคม การเมือง วัฒนธรรม สิ่งแวดล้อม ทำให้เกิดปัญหาอาชญากรรมในสังคมที่ได้ทวีความรุนแรง มีความสลับซับซ้อนของการกรำทำความผิดขึ้นตามมาเป็นลำดับ เช่น อาชญากรรมเศรษฐกิจ คอมพิวเตอร์ ฯลฯ มีการพัฒนารูปแบบวิธีการของการกระทำความผิดอย่างต่อเนื่องและตลอดเวลา ทั้งในด้านกรรมวิธีการกระทำความผิด การนำเทคนิควิธีการสมัยใหม่เข้ามาเป็นเครื่องมือประกอบการกระทำความผิด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กรมสอบสวนคดีพิเศษ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340768"/>
            <a:ext cx="336037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97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628800"/>
            <a:ext cx="7408333" cy="4209331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ลักษณะการกระทำความผิดที่มีการดำเนินการอย่างมีระบบและขบวนการ มีความเกี่ยวเนื่องและมีเครือข่ายโยงใยระหว่างประเทศ ผู้กระทำผิดเป็นผู้ที่มีความรู้ ความชำนาญ และความเชี่ยวชาญในด้านนั้นๆ เป็นอย่างดี ฯลฯ สร้างความเสียหายโดยตรงต่อระบบเศรษฐกิจ การเงิน การคลังของประเทศนับหมื่นล้านบาทต่อปี ก่อให้เกิดผลกระทบ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อย่างรุนแรงต่อความมั่นคงของประเทศอย่างมากมาย ประกอบกับการสืบสวนสอบสวนหรือจับกุมตัวผู้กระทำผิดมีความยากลำบากมาก จึงต้องมีการจัดตั้งกรมสอบสวนคดีพิเศษขึ้นโดยอยู่ภายใต้สังกัดกระทรวงยุติธรรม ใช้ชื่อภาษาอังกฤษว่า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“ DEPARTMENT OF SPECIAL INVESTIGATION ”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มีชื่อย่อว่า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 “DSI”</a:t>
            </a: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828924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539552" y="1556792"/>
            <a:ext cx="7408333" cy="413732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ดำเนินการป้องกันและปราบปราม และควบคุมอาชญากรรมพิเศษ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พัฒนาระบบ รูปแบบ วิธีการ และมาตรการในการป้องกันปราบปรามและ  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        ควบคุมอาชญากรรม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ประสานความร่วมมือในการป้องกันปราบปราม และควบคุมอาชญากรรม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              พิเศษจากหน่วยงานภาครัฐ และภาคประชาชนทั้งภายในและต่างประเทศ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บทบาทและหน้าที่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717032"/>
            <a:ext cx="4900564" cy="274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133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/>
          <a:lstStyle/>
          <a:p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อาชญากรรมทางเศรษฐกิจที่กระทำต่อระบบการเงินการธนาคาร การค้าการพาณิชย์ การหลีกเลี่ยงภาษีอากร การละเมิดทรัพย์สินทางปัญญา และการทำลายสิ่งแวดล้อมและทรัพยากรธรรมชาติ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r>
              <a:rPr lang="en-US" dirty="0">
                <a:latin typeface="Angsana New" pitchFamily="18" charset="-34"/>
                <a:cs typeface="Angsana New" pitchFamily="18" charset="-34"/>
              </a:rPr>
              <a:t>2.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อาชญากรรมคอมพิวเตอร์หรืออาชญากรรมด้านเทคโนโลยีสารสนเทศที่กระทำการลักลอบ แก้ไข เปลี่ยนแปลงหรือทำลายข้อมูลระบบปฏิบัติการของหน่วยงานต่างๆ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r>
              <a:rPr lang="en-US" dirty="0">
                <a:latin typeface="Angsana New" pitchFamily="18" charset="-34"/>
                <a:cs typeface="Angsana New" pitchFamily="18" charset="-34"/>
              </a:rPr>
              <a:t>3.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อาชญากรรมที่อิทธิพลเข้ามาเกี่ยวข้อง ในรูปแบบองค์กรอาชญากรรม และอาชญากรรมข้ามชาติ เป็นการกระทิดที่มีการดำเนินการอย่างเป็นระบบ เป็นองค์กร มีเครือข่ายทั้งภายในและระหว่างประเทศ  รวมทั้งผู้กระทำผิดมัก ได้แก่ ผู้มีอิทธิพลหรือผู้มีอิทธิพลให้การสนับสนุนอยู่เบื้องหลัง เช่น ขบวนการค้าโสเภณีข้ามชาติ ขบวนการค้ามนุษย์ และการค้า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เป็นต้น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ลักษณะอาชญากรรมพิเศษ</a:t>
            </a:r>
          </a:p>
        </p:txBody>
      </p:sp>
    </p:spTree>
    <p:extLst>
      <p:ext uri="{BB962C8B-B14F-4D97-AF65-F5344CB8AC3E}">
        <p14:creationId xmlns:p14="http://schemas.microsoft.com/office/powerpoint/2010/main" val="26956478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927" y="1196752"/>
            <a:ext cx="2736304" cy="2438075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795825" y="3634826"/>
            <a:ext cx="7408333" cy="27465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sz="2500" b="1" dirty="0">
                <a:latin typeface="Angsana New" pitchFamily="18" charset="-34"/>
                <a:cs typeface="Angsana New" pitchFamily="18" charset="-34"/>
              </a:rPr>
              <a:t>สำนักงาน </a:t>
            </a:r>
            <a:r>
              <a:rPr lang="th-TH" sz="2500" b="1" dirty="0" err="1">
                <a:latin typeface="Angsana New" pitchFamily="18" charset="-34"/>
                <a:cs typeface="Angsana New" pitchFamily="18" charset="-34"/>
              </a:rPr>
              <a:t>ป.ป.ง</a:t>
            </a:r>
            <a:r>
              <a:rPr lang="th-TH" sz="2500" b="1" dirty="0">
                <a:latin typeface="Angsana New" pitchFamily="18" charset="-34"/>
                <a:cs typeface="Angsana New" pitchFamily="18" charset="-34"/>
              </a:rPr>
              <a:t>. 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เป็นส่วนราชการระดับกรมสังกัดกระทรวงยุติธรรมจัดตั้งขึ้นตามพระราชบัญญัติป้องกันและปราบปรามการฟอกเงินพ.ศ. 2542 มีเลขาธิการ </a:t>
            </a:r>
            <a:r>
              <a:rPr lang="th-TH" sz="2500" dirty="0" err="1">
                <a:latin typeface="Angsana New" pitchFamily="18" charset="-34"/>
                <a:cs typeface="Angsana New" pitchFamily="18" charset="-34"/>
              </a:rPr>
              <a:t>ป.ป.ง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. เป็นข้าราชการ</a:t>
            </a:r>
            <a:r>
              <a:rPr lang="th-TH" sz="2500" dirty="0" err="1">
                <a:latin typeface="Angsana New" pitchFamily="18" charset="-34"/>
                <a:cs typeface="Angsana New" pitchFamily="18" charset="-34"/>
              </a:rPr>
              <a:t>พลเรือน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สามัญ ซึ่งพระบาทสมเด็จพระเจ้าอยู่หัวทรงพระกรุณาโปรดเกล้าแต่งตั้งขึ้นตามคำแนะนำของคณะรัฐมนตรีและได้รับความเห็นชอบจากสภาผู้แทนราษฎรและวุฒิสภา</a:t>
            </a:r>
          </a:p>
          <a:p>
            <a:pPr marL="0" indent="0">
              <a:buNone/>
            </a:pPr>
            <a:r>
              <a:rPr lang="th-TH" sz="2500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sz="2500" b="1" dirty="0">
                <a:latin typeface="Angsana New" pitchFamily="18" charset="-34"/>
                <a:cs typeface="Angsana New" pitchFamily="18" charset="-34"/>
              </a:rPr>
              <a:t>คณะกรรมการป้องกันและปราบปรามการฟอกเงิน (คณะกรรมการ </a:t>
            </a:r>
            <a:r>
              <a:rPr lang="th-TH" sz="2500" b="1" dirty="0" err="1">
                <a:latin typeface="Angsana New" pitchFamily="18" charset="-34"/>
                <a:cs typeface="Angsana New" pitchFamily="18" charset="-34"/>
              </a:rPr>
              <a:t>ป.ป.ง</a:t>
            </a:r>
            <a:r>
              <a:rPr lang="th-TH" sz="2500" b="1" dirty="0">
                <a:latin typeface="Angsana New" pitchFamily="18" charset="-34"/>
                <a:cs typeface="Angsana New" pitchFamily="18" charset="-34"/>
              </a:rPr>
              <a:t>. </a:t>
            </a:r>
            <a:r>
              <a:rPr lang="th-TH" sz="2500" dirty="0">
                <a:latin typeface="Angsana New" pitchFamily="18" charset="-34"/>
                <a:cs typeface="Angsana New" pitchFamily="18" charset="-34"/>
              </a:rPr>
              <a:t>) มีอำนาจหน้าที่กำกับดูแลให้เป็นไปตามพระราชบัญญัติป้องกันและปราบปรามการฟอกเงินพ.ศ. 2542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สำนักงานป้องกันและปราบปรามการฟอกเงิน (</a:t>
            </a:r>
            <a:r>
              <a:rPr lang="th-TH" b="1" dirty="0" err="1">
                <a:latin typeface="Angsana New" pitchFamily="18" charset="-34"/>
                <a:cs typeface="Angsana New" pitchFamily="18" charset="-34"/>
              </a:rPr>
              <a:t>ป.ป.ง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8116378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1. 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การวางหลักเกณฑ์ 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และดูแลให้มีการปฏิบัติตามกฎหมายว่าด้วยการป้องกันและปราบปรามการฟอกเงินรวมทั้งตรวจสอบวิเคราะห์ข้อมูลทางการเงินและที่เกี่ยวข้องกับการฟอกเงินในหน้าที่ของหน่วยงานวางหลักเกณฑ์</a:t>
            </a:r>
          </a:p>
          <a:p>
            <a:pPr marL="0" indent="0"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en-US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ในฐานะเป็นฝ่ายเลขานุการ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ของคณะกรรมการปอปองหน้าที่ในการศึกษาหามาตรการในการป้องกันและปราบปรามการฟอกเงินส่วนในฐานะของหน่วยงานผู้บังคับใช้กฎหมายสำนักงานปอปองมีอำนาจหน้าที่ในการตรวจสอบและดำเนินการเกี่ยวกับธุรกรรมทรัพย์สินที่เกี่ยวข้องกับการกระทำความผิดฟอกเงินตามมติของคณะกรรมการธุรกรรมตลอดจนดูแลให้ผู้มีส่วนเกี่ยวข้องปฏิบัติตามกฎหมายว่าด้วยการป้องกันและปราบปรามการฟอกเงินดังกล่าว</a:t>
            </a:r>
            <a:endParaRPr lang="th-TH" b="1" dirty="0">
              <a:solidFill>
                <a:srgbClr val="00206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บทบาทและหน้าที่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36746913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836712"/>
            <a:ext cx="7408333" cy="5289451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การฟอกเงิน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หมายถึง การเปลี่ยนแปลงเงินหรือทรัพย์สินที่ได้มาจากกระทำความผิดมูลฐานให้กลายเป็นเงินหรือทรัพย์สินที่ดูเสมือนหนึ่งว่าได้มาโดยชอบด้วยกฎหมายหรือพิสูจน์ไม่ได้ว่าได้มาโดยมิชอบซึ่งสามารถทำได้หลายวิธีเช่นการนำเงินออกไปนอกประเทศการฝากเงินกับสถาบันการเงินการตั้งบริษัทเลิกกิจการขึ้นบังหน้าการซื้อขายที่ดินการแลกเปลี่ยนเงินตราสกุลอื่นการให้ผู้อื่นถือเงินหรือทรัพย์สินไว้แทน</a:t>
            </a:r>
          </a:p>
          <a:p>
            <a:pPr marL="0" indent="0"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สาเหตุที่ต้องมีการฟอกเงิน 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เนื่องจากการที่เงินที่ได้มาจากธุรกิจผิดกฎหมายไม่สามารถอ้างอิงแหล่งที่มา</a:t>
            </a:r>
          </a:p>
          <a:p>
            <a:pPr marL="0" indent="0"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แหล่งที่มาของการฟอกเงิน 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จะมีหลังใหญ่ที่สำคัญ เช่น เงินจากการค้า</a:t>
            </a:r>
            <a:r>
              <a:rPr lang="th-TH" dirty="0" err="1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งินจากวงการเมืองเงินที่ได้จากการฉ้อโกงประชาชนเงินจากวงการพนันเงินสินบนเงินจากบริษัทเงินส่วนตัวที่ต้องปกปิดเงินจากกลุ่มเศรษฐีเงินจากรัฐและเงินนอกระบบอื่นๆ </a:t>
            </a:r>
          </a:p>
          <a:p>
            <a:pPr marL="0" indent="0"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ฯลฯ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907" y="4797152"/>
            <a:ext cx="29146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820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628800"/>
            <a:ext cx="7408333" cy="4281339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มีดังนี้ 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ความผิดเกี่ยวกับ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ตามกฎหมายว่าด้วยการป้องกันและปราบปราม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หรือกฎหมายว่าด้วยมาตรการในการปราบปรามผู้กระทำความผิดเกี่ยวกับ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endParaRPr lang="th-TH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เกี่ยวกับเพศตามประมวลกฎหมายอาญาเฉพาะที่เกี่ยวกับการเป็นธุระจัดหาล่อไปหรือพาไปเพื่อการอนาจารหญิงและเด็กเพื่อสนองความใคร่ของผู้อื่นและความผิดฐานพรากเด็กและผู้เยาความผิดตามกฎหมายว่าด้วยมาตรการในการป้องกันและปราบปรามการค้าหญิง และเด็กเด็กความผิดตามกฎหมายว่าด้วยการป้องกันและปราบปรามการค้าประเวณีเฉพาะที่เกี่ยวกับการเป็นธุระจัดหาล่อไปหรือชักพาไปเพื่อให้บุคคลนั้นกระทำการค้าประเวณีหรือความผิดเกี่ยวกับการเป็นเจ้าของกิจการการค้าประเวณีผู้ดูแลหรือผู้จัดการกิจการค้าประเวณีหรือสถานการค้าประเวณีหรือเป็นผู้ควบคุมผู้กระทำการค้าประเวณีในสถานการค้าประเวณี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ความผิดมูลฐานตามกฎหมายการฟอกเงิน</a:t>
            </a:r>
          </a:p>
        </p:txBody>
      </p:sp>
    </p:spTree>
    <p:extLst>
      <p:ext uri="{BB962C8B-B14F-4D97-AF65-F5344CB8AC3E}">
        <p14:creationId xmlns:p14="http://schemas.microsoft.com/office/powerpoint/2010/main" val="11108606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ความผิดเกี่ยวกับการฉ้อโกงประชาชนตามประมวลกฎหมายอาญาหรือความผิดตามกฎหมายว่าด้วยการ กู้ยืมเงินที่เป็นการฉ้อโกงประชาชน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เกี่ยวกับการยักยอกฉ้อโกงหรือประทุษร้ายต่อทรัพย์หรือกระทำโดยทุจริตตามกฎหมายว่าด้วยการธนาคารพาณิชย์ กฎหมายว่าด้วยการประกอบธุรกิจเงินทุนธุรกิจหลักทรัพย์และธุรกิจเครดิตฟองซิเอร์ หรือกฎหมายว่าด้วยหลักทรัพย์และตลาดหลักทรัพย์ซึ่งกระทำโดยกรรมการผู้จัดการหรือบุคคลใดซึ่งรับผิดชอบหรือมีประโยชน์เกี่ยวข้องในการดำเนินงานของสถาบันการเงินนั้น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5.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ความผิดต่อตำแหน่งหน้าที่ราชการหรือความผิดต่อตำแหน่งหน้าที่ในการ ยุติธรรมหรือทุจริตต่อหน้าที่ตามกฎหมายกำหนด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6.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ความผิดเกี่ยวกับการกรรโชกหรือรีดเอาซับที่กระทำโดยอ้างอำนาจอั้งยี่ หรือซ่องโจรตามประมวลกฎหมายอาญา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7.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ความผิดเกี่ยวกับการลักลอบหนีศุลกากรตามกฎหมายว่าด้วยศุลกากร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886936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692696"/>
            <a:ext cx="7408333" cy="543346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8.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ความผิดเกี่ยวกับการก่อการร้ายตามประมวลกฎหมายอาญา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9.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เกี่ยวกับการพนันเป็นผู้จัดให้มีการเล่นการพนันโดยไม่ได้รับอนุญาตและมีจำนวนผู้เข้าเล่นหรือเข้าพนันในการเล่นแต่ละครั้งเกินกว่า 100 คนหรือมีวงเงินในการกระทำความผิดร่วมกันมีมูลค่าเกินกว่า 10 ล้านบาทขึ้นไป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10.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ความผิดจากการค้ามนุษย์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ความผิดจากการเลือกตั้งทางการเมืองเช่นสมาชิกสภาผู้แทนราษฎรสมาชิกวุฒิสภา</a:t>
            </a:r>
          </a:p>
          <a:p>
            <a:pPr marL="0" indent="0">
              <a:buNone/>
            </a:pP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501008"/>
            <a:ext cx="4386221" cy="245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795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858" y="1916832"/>
            <a:ext cx="2880126" cy="2880126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4365104"/>
            <a:ext cx="7408333" cy="1761058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เป็นหน่วยงานสังกัดสำนัก นายกรัฐมนตรีจากสภาพปัญหา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ซึ่งเป็นปัญหาสำคัญของประเทศมีผลกระทบต่อความมั่นคงทั้งทางด้านเศรษฐกิจสังคมการเมืองความสงบเรียบร้อยและศีลธรรมอันดีของประชาชนเป็นอย่างมากจึงได้มีการตราพระราชบัญญัติป้องกันและปราบปราม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พ.ศ. 2519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395536" y="338327"/>
            <a:ext cx="8229600" cy="1712145"/>
          </a:xfrm>
        </p:spPr>
        <p:txBody>
          <a:bodyPr>
            <a:normAutofit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สำนักงานคณะกรรมการป้องกันและปราบปราม</a:t>
            </a:r>
            <a:br>
              <a:rPr lang="th-TH" b="1" dirty="0">
                <a:latin typeface="Angsana New" pitchFamily="18" charset="-34"/>
                <a:cs typeface="Angsana New" pitchFamily="18" charset="-34"/>
              </a:rPr>
            </a:br>
            <a:r>
              <a:rPr lang="th-TH" b="1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 (</a:t>
            </a:r>
            <a:r>
              <a:rPr lang="th-TH" b="1" dirty="0" err="1">
                <a:latin typeface="Angsana New" pitchFamily="18" charset="-34"/>
                <a:cs typeface="Angsana New" pitchFamily="18" charset="-34"/>
              </a:rPr>
              <a:t>ป.ป.ส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231800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556792"/>
            <a:ext cx="7408333" cy="4569371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ตามพระราชบัญญัติป้องกันและปราบปราม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พ.ศ. 2519 มาตรา 14 วรรคหนึ่ง (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1) – (7)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มีดังนี้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ข้าไปในเคหะสถานหรือสถานที่เพื่อตรวจค้นเมื่อมีเหตุอันควรสงสัยตามควรว่ามีบุคคลที่มีเหตุควรสงสัยว่า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ลบซ่อนอยู่หรือมีทรัพย์สินซึ่งมีไว้เป็นความผิดหรือได้มาโดยการกระทำความผิดหรือได้ใช้หรือจะใช้ในการ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รือซึ่งอาจใช้เป็นพยานหลักฐานได้ประกอบกับมีเหตุอันควรเชื่อว่าเนื่องจากการเนินช้ากว่าจะเอาหมายค้นมาได้บุคคลนั้นจะหลบหนีไปหรือทรัพย์สินนั้นจะถูกโยกย้ายซุกซ่อนทำลายหรือทำให้เปลี่ยนสภาพไปจากเดิม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คนบุคคลหรือยานพาหนะใดใดที่มีเหตุอันควรสงสัยตามสมควรว่ามี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ซุกซ่อนอยู่โดยไม่ชอบด้วย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กฏหมาย</a:t>
            </a: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บทบาทและหน้าที่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39657078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340768"/>
            <a:ext cx="7732381" cy="478539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จับกุมบุคคลใดใดที่กระทำความผิดเกี่ยวกับ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ยึดหรืออายัด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ที่มีไว้โดยไม่ชอบด้วยกฎหมายหรือทรัพย์สินอื่นใดที่ได้ใช้หรือจะใช้ในการกระทำความผิดเกี่ยวกับ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หรือที่อาจใช้เป็นพยานหลักฐานได้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5.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ค้นตามบทบัญญัติแห่งประมวลกฎหมาย วิธีพิจารณาความอาญา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6.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สอบสวนผู้ต้องหาในคดีความผิดเกี่ยวกับ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7.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มีหนังสือสอบถามหรือเรียกบุคคลใดใดหรือเจ้าหน้าที่ของหน่วยราชการใดใดมาให้ถ้อยคำหรือให้ส่งบัญชีเอกสารหรือวัตถุใดใดเพื่อตรวจสอบหรือประกอบการพิจารณา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010503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620688"/>
            <a:ext cx="7408333" cy="5505475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sz="2800" b="1" dirty="0">
                <a:solidFill>
                  <a:schemeClr val="bg1"/>
                </a:solidFill>
                <a:latin typeface="Angsana New" pitchFamily="18" charset="-34"/>
                <a:cs typeface="Angsana New" pitchFamily="18" charset="-34"/>
              </a:rPr>
              <a:t>อำนาจอื่นๆในการป้องกันและปราบปรามผู้กระทำความผิด</a:t>
            </a:r>
            <a:r>
              <a:rPr lang="th-TH" sz="2800" b="1" dirty="0" err="1">
                <a:solidFill>
                  <a:schemeClr val="bg1"/>
                </a:solidFill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sz="2800" b="1" dirty="0">
                <a:solidFill>
                  <a:schemeClr val="bg1"/>
                </a:solidFill>
                <a:latin typeface="Angsana New" pitchFamily="18" charset="-34"/>
                <a:cs typeface="Angsana New" pitchFamily="18" charset="-34"/>
              </a:rPr>
              <a:t>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ดังนี้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กรณีที่จำเป็นและมีเหตุอันควรเชื่อได้ว่าบุคคลหรือกลุ่มบุคคลใดเสพ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ในเคหะสถานสถานที่ใดใดหรือยานพาหนะเจ้าพนักงาน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ป.ป.ส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.มีอำนาจตรวจหรือทดสอบหรือสั่งให้รับการตรวจหรือทดสอบว่ามีสารเสพติดอยู่ในร่างกายหรือไม่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การพิบัติหน้าที่ของเจ้าพนักงานปอปอศอในการปราบปรามผู้กระทำความผิดเกี่ยวกับ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เจ้าพนักงาน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ป.ป.ส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.สามารถขอให้บุคคลได้ช่วยเหลือการพิบัติหน้าที่ได้โดยให้ถือว่าบุคคลนั้นมีอำนาจช่วย การปฏิบัติงานของเจ้าพนักงาน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ป.ป.ส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.ได้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เจ้าพนักงาน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ป.ป.ส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มีอำนาจในการเข้าถึงข้อมูลข่าวสารกรณีมีเหตุอันควรเชื่อได้ว่าเอกสารหรือข้อมูลข่าวสารอื่นใดซึ่งส่งทางไปรษณีย์โทรเลขโทรศัพท์โทรสารคอมพิวเตอร์เครื่องมือหรืออุปกรณ์ในการสื่อสารสื่ออิเล็กทรอนิกส์หรือสื่อทางเทคโนโลยีสาระสนเทศถูกใช้หรืออาจถูกใช้เพื่อประโยชน์ในการ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ได้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endParaRPr lang="th-TH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219660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เจ้าพนักงาน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ป.ป.ส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.มีอำนาจตรวจตราสถานประกอบการเกี่ยวกับมาตรการบุคคลหรือสถานที่รวมทั้งการกระทำความผิดเกี่ยวกับ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ตามมาตรการป้องกันและปราบปราม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จากนั้นเจ้าพนักงานมีหน้าที่ดำเนินการจัดทำรายงานการต่อต้านดังกล่าวเสนอคณะอนุกรรมการกันกอง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ในสถานประกอบการเพื่อพิจารณาให้ความเห็นก่อนที่จะนำเสนอคณะกรรมการป้องกันและปราบปราม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ิจารณาว่าควรมีความสั่งปิดชั่วคราวหรือสั่งพักใช้ใบอนุญาตประกอบการในกรณีที่พบว่ามีการ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การปฏิบัติหน้าที่ปราบปราม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ให้ถือว่าเจ้าพนักงาน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ป.ป.ส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.ซึ่งได้รับมอบหมายให้มีอำนาจในการจับกุมบุคคลใดใดที่กระทำความผิดเกี่ยวกับ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อำนาจหน้าที่เช่นเดียวกับพนักงานสอบสวนตามประมวลกฎหมายวิธีพิจารณาความอาญาได้ทั่วราชอาณาจักรและให้มีอำนาจควบคุมผู้ถูกจับไว้เพื่อทำการสอบสวนได้ไม่เกินสามวันเวลาดังกล่าว เดี๋ยวก่อนนั้นตามที่เห็นสมควรให้ส่งตัวผู้ถูกจับไปยังพนักงานสอบสวนตามประมวลกฎหมายวิธีพิจารณาความอาญาเพื่อดำเนินการต่อไปทั้งนี้โดยมิให้ถือว่าการควบคุมผู้ถูกจับดังกล่าวเป็นการควบคุมของพนักงานสอบสวนตามมูล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กฏหมาย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วิธีพิจารณาความอาญา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623271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3789039"/>
            <a:ext cx="7408333" cy="2337123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คณะกรรมการฯ มีหน่วยเลขานุการของคณะกรรมการที่เป็นอิสระมีฐานะเป็นกรมตามกฎหมายว่าด้วยระเบียบบริหารราชการแผ่นดิน เรียกว่า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สำนักงานคณะกรรมการป้องกันและปราบปรามการทุจริตแห่งชาติ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เลขาธิการคณะกรรมการป้องกันและปราบปรามการทุจริตแห่งชาติเป็นผู้บังคับบัญชาซึ่งตรงต่อประธานกรรมการป้องกันและปราบปรามการ จริตแห่งชาติการแต่งตั้งเลขาธิการคณะกรรมการต้องได้รับความเห็นชอบของคณะกรรมการป้องกันและปราบปรามการทุจริตแห่งชาติและวุฒิสภา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สำนักงานคณะกรรมการป้องกันและปราบปรามการทุจริตแห่งชาติ (ป.ป.ช.)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844110"/>
            <a:ext cx="3960440" cy="189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246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556792"/>
            <a:ext cx="7408333" cy="4569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ไต่สวนและวินิจฉัยว่าเจ้าหน้าที่ของรัฐร่ำรวยผิดปกติกระทำความผิดฐานทุจริตต่อหน้าที่หรือความผิดต่อตำแหน่งหน้าที่ราชการหรือต่อตำแหน่งหน้าที่ในการยุติธรรม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การตรวจสอบทรัพย์สินและหนี้สินตามกฎหมายประกอบรัฐธรรมนูญกำหนดหลักเกณฑ์เกี่ยวกับการกำหนดตำแหน่งและ ชั้นหรือระดับของเจ้าหน้าที่ของรัฐที่จะต้องยื่นบัญชีแสดงรายการทรัพย์สินและหนี้สิน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ไต่สวนข้อเท็จจริงและสรุปสำนวนพร้อมทั้งทำความเห็นส่งไปยังอัยการสูงสุดหรือฟ้องคดีต่อศาลฎีกาแผนกคดีอาญาของผู้ดำรงตำแหน่งทางการเมืองเกี่ยวกับการดำเนินคดีอาญากับผู้ดำรงตำแหน่งทางการเมือง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ไต่สวนข้อเท็จจริงและสรุปสำนวน พร้อมทั้งทำความเห็นเสนอต่อวุฒิสภาเกี่ยวกับการถอดถอนจากตำแหน่ง</a:t>
            </a:r>
          </a:p>
          <a:p>
            <a:pPr marL="0" indent="0">
              <a:buNone/>
            </a:pP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อำนาจและหน้าที่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1000012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1412776"/>
            <a:ext cx="7408333" cy="4968552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5. กำหนดหลักเกณฑ์และวิธีการยื่นบัญชีแสดงรายการทรัพย์สินและหนี้สินของเจ้าหน้าที่รัฐและการเปิดเผยบัญชีแสดงรายการทรัพย์สินและหนี้สินของผู้ดำรงตำแหน่งนายกรัฐมนตรีและรัฐมนตรี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6.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รายงานผลการตรวจสอบผลการปฏิบัติหน้าที่และข้อสังเกตต่อคณะรัฐมนตรีสภาผู้แทนราษฎรและวุฒิสภาทุกปีและนำรายงานออกเผยแพร่เสนอมาตรการความเห็นหรือข้อเสนอแนะต่อคณะรัฐมนตรีรัฐสภาศาลหรือคณะกรรมการตรวจเงินแผ่นดินเพื่อให้มีการปรับปรุงการปฏิบัติราชการหรือวางแผนงานโครงกา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รข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องส่วนราชการรัฐวิสากิจหรือหน่วยงานของรัฐเพื่อป้องกันหรือ ปราบปรามการทุจริตต่อหน้าที่การกระทำความผิดต่อตำแหน่งหน้าที่ราชการหรือการกระทำความผิดต่อตำแหน่งหน้าที่ในการยุติธรรม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786541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764705"/>
            <a:ext cx="7408333" cy="3240360"/>
          </a:xfrm>
        </p:spPr>
        <p:txBody>
          <a:bodyPr/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7. ดำเนินการส่งเรื่องให้หน่วยงานที่เกี่ยวข้องเพื่อขอให้ศาลมีคำสั่งหรือคำพิพากษาให้ยกเลิกหรือเพิกถอนสิทธิ หรือเอกสารสิทธิที่เจ้าหน้าที่ของรัฐได้อนุมัติหรืออนุญาตให้สิทธิ์ที่ประโยชน์หรือออกเอกสารสิทธิแก่บุคคลใดไปโดยไม่ชอบด้วยกฎหมายหรือระเบียบของทางราชการอันเป็นเหตุให้เสียหายแก่ทางราชการ</a:t>
            </a:r>
          </a:p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8. ดำเนินการเพื่อป้องกันการทุจริตและเสริมสร้างทัศนคติและค่านิยมเกี่ยวกับความซื่อสัตย์สุจริตให้ความเห็นชอบในการแต่งตั้งเลขาธิการแต่งตั้งบุคคลหรือ คณะบุคคลเพื่อปฏิบัติหน้าที่ตามที่ได้รับมอบหมาย</a:t>
            </a: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645024"/>
            <a:ext cx="5328592" cy="285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368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68" y="1517220"/>
            <a:ext cx="2143125" cy="2143125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3501008"/>
            <a:ext cx="7408333" cy="26251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สำนัก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งานป.ป.ท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.จัดตั้งขึ้นตามพระราชบัญญัติมาตรการของฝ่ายบริหารในการป้องกันและปราบปรามการผลิตพ.ศ. 2551 ที่กำหนดให้สำนักงานปอปอทอเป็นส่วนราชการระดับกรมสังกัดกระทรวงยุติธรรมมีภารกิจในการ ป้องกันและปราบปรามการทุจริตของบุคลากรในภาคราชการเนื่องจากรัฐธรรมนูญแห่งราชอาณาจักรไทยพ.ศ. 2551 ได้กำหนดให้คณะกรรมการ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ป.ป.ท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.มีอำนาจหน้าที่เฉพาะไต่สวนและวินิจฉัยการกระทำทุจริตของเจ้าหน้าที่ของรัฐดำรงตำแหน่งตั้งแต่ผู้บริหารระดับสูงหรือข้าราชการที่ดำรงตำแหน่ง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สำนักงานคณะกรรมการป้องกันและปราบปรามการทุจริตในภาครัฐ(</a:t>
            </a:r>
            <a:r>
              <a:rPr lang="th-TH" b="1" dirty="0" err="1">
                <a:latin typeface="Angsana New" pitchFamily="18" charset="-34"/>
                <a:cs typeface="Angsana New" pitchFamily="18" charset="-34"/>
              </a:rPr>
              <a:t>ป.ป.ท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0859029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908720"/>
            <a:ext cx="7408333" cy="4209331"/>
          </a:xfrm>
        </p:spPr>
        <p:txBody>
          <a:bodyPr/>
          <a:lstStyle/>
          <a:p>
            <a:pPr marL="301943" lvl="1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sz="2400" dirty="0">
                <a:latin typeface="Angsana New" pitchFamily="18" charset="-34"/>
                <a:cs typeface="Angsana New" pitchFamily="18" charset="-34"/>
              </a:rPr>
              <a:t>ตั้งแต่ผู้อำนวยการกองหรือเทียบเท่าขึ้นไปร่ำรวยผิดปกติกระทำความผิดฐาน ทุจริตต่อหน้าที่หรือกระทำความผิดต่อตำแหน่งหน้าที่ราชการหรือความผิดต่อตำแหน่งหน้าที่ในการยุติธรรมหรือกับผู้ดำรงตำแหน่งทางการเมือง ส่วนการกระทำทุจริตของเจ้าหน้าที่ของรัฐที่ดำรงตำแหน่งต่ำกว่าผู้บริหารระดับสูงและข้าราชการที่ดำรงตำแหน่งต่ำกว่าผู้อำนวยการกองไม่อยู่ในอำนาจ</a:t>
            </a:r>
            <a:r>
              <a:rPr lang="th-TH" sz="2400" dirty="0" err="1">
                <a:latin typeface="Angsana New" pitchFamily="18" charset="-34"/>
                <a:cs typeface="Angsana New" pitchFamily="18" charset="-34"/>
              </a:rPr>
              <a:t>ของป.ป.ท</a:t>
            </a:r>
            <a:r>
              <a:rPr lang="th-TH" sz="2400" dirty="0">
                <a:latin typeface="Angsana New" pitchFamily="18" charset="-34"/>
                <a:cs typeface="Angsana New" pitchFamily="18" charset="-34"/>
              </a:rPr>
              <a:t>.และยังไม่มีหน่วยงานใดรับผิดชอบกระทรวงยุติธรรมจึงได้จัดตั้งองค์กรนี้ขึ้นมาดำเนินการ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645024"/>
            <a:ext cx="4752527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434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556792"/>
            <a:ext cx="7408333" cy="456937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มีอำนาจหน้าที่รับผิดชอบในงานธุรการของคณะกรรมการปอปอทอตลอดทั้งการสนับสนุนและอำนวยความสะดวกให้การปฏิบัติหน้าที่ของคณะกรรมการปอปอทอเป็นไปอย่างมีประสิทธิภาพ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ระสานงานและให้ความร่วมมือกับหน่วยงานของรัฐอื่นๆที่เกี่ยวข้องกับการป้องกันและแก้ไขปัญหาการทุจริต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ระสานงานและให้ความร่วมมือระหว่างประเทศที่เกี่ยวกับการเมืองและปราบปรามการทุจริตรวบรวมและเผยแพร่ข้อมูลเกี่ยวกับการทุจริต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ประสานงานกับหน่วยงานของรัฐที่เกี่ยวข้องทั้งหมดในการป้องกันและแก้ไขปัญหาการทุจริต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บทบาทและหน้าที่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11320286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052735"/>
            <a:ext cx="2367705" cy="1935659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2924943"/>
            <a:ext cx="7408333" cy="32012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เป็นหน่วยงานฐานะเทียบเท่ากรม สังกัดกระทรวงยุติธรรม ตามรัฐธรรมนูญแห่งราชอาณาจักรไทย บัญญัติให้รัฐดูแลให้มีการปฏิบัติตามกฎหมายคุ้มครองสิทธิและเสรีภาพของบุคคลอำนวยความยุติธรรมแก่ประชาชนได้อย่างรวดเร็วและเท่าเทียมกัน งานด้านนิติวิทยาศาสตร์มีความสำคัญอย่างยิ่งในกระบวนการยุติธรรมที่ต้องมีการนำตัวผู้กระทำความผิดมาลงโทษ หากมีระบบการตรวจเก็บหลักฐานทางวิทยาศาสตร์ที่มีคุณภาพน่าเชื่อถือจะทำให้มีความถูกต้องน่าเชื่อถือมากกว่าพยานบุคคลจะทำให้กระบวนการยุติธรรมมีประสิทธิภาพผู้กระทำความผิดก็จะถูกลงโทษตามกฎหมายสังคมจะมีความสงบเรียบร้อยขึ้นประกอบกับงานบริการด้านนิติวิทยาศาสตร์กระจัดกระจายอยู่ในหลายหน่วยงาน เช่น สำนักงานตำรวจแห่งชาติ กระทรวงสาธารณสุข ฯลฯ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16917" y="30033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สถาบันนิติวิทยาศาสตร์</a:t>
            </a:r>
          </a:p>
        </p:txBody>
      </p:sp>
    </p:spTree>
    <p:extLst>
      <p:ext uri="{BB962C8B-B14F-4D97-AF65-F5344CB8AC3E}">
        <p14:creationId xmlns:p14="http://schemas.microsoft.com/office/powerpoint/2010/main" val="232637297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12776"/>
            <a:ext cx="7408333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      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นื่องจากสภาพปัจจุบันการกระทำความผิดมีความสลับซับซ้อนมากการตรวจเก็บหลักฐานทางนิติวิทยาศาสตร์ที่มีคุณภาพน่าเชื่อถือจึงจะทำให้กระบวนการยุติธรรมสามารถนำตัวผู้กระทำความผิดมาลงโทษได้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      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รับเรื่องราวร้องทุกข์ให้การบริการตรวจพิสูจน์เอกสารและการปลอมแปลงเช่นการตรวจพิสูจน์ลายมือเขียน  ลายมือชื่อ   ลายพิมพ์นิ้วมือในเอกสารต่างๆ ให้กับศาลทั่วประเทศหน่วยงานในสังกัดของกระทรวงยุติธรรมและหน่วยงานที่ขึ้นตรงต่อกระทรวงยุติธรรมด้านวิสาหกิจหรือเอกชนที่ร้องขอ เพื่อเป็นทางเลือกให้ประชาชนอันจะทำให้เกิดความโปร่งใสและมีการตรวจสอบได้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      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พัฒนางานด้านการพิสูจน์เอกลักษณ์บุคคลและสนับสนุนและพัฒนาหลักสูตรด้านนิติวิทยาศาสตร์ร่วมกับสถาบันการศึกษาต่างๆทั้งภายในและต่างประเทศเพื่อผลิตบุคลากรที่มีคุณภาพสามารถปฏิบัติหน้าที่ได้อย่างมีประสิทธิภาพและคุณภาพ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บทบาทและหน้าที่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42192475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4797152"/>
            <a:ext cx="2520280" cy="1876822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611560" y="1196752"/>
            <a:ext cx="7408333" cy="42813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กรมคุ้มครองสิทธิและเสรีภาพสังกัดกระทรวงยุติธรรมพ.ศ. 2545 เนื่องจากกระบวนการ ยุติธรรมทางอาญามีสภาพปัญหาหลายประการที่ขัดขวางมีให้ประชาชนได้มีโอกาสเข้าถึงความยุติธรรมเช่นการไม่มีความรู้และความเข้าใจบทบัญญัติทางกฎหมายและสิทธิเสรีภาพที่พึงมีพึงได้โดยชอบธรรมทำให้ประชาชนถูกเอารัดเอาเปรียบและล่วงละเมิดสิทธิจากบุคคลที่อยู่ในภาวะที่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เหนือก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ว่า   กระบวนการดำเนินคดีนั้นจะต้องจัดจ้างทนายเพื่อต่อสู้คดีทำให้ประชาชนยากจนไม่สามารถดำเนินการได้ประชาชนผู้เสียหายจากอาชญากรรมเป็นผู้บริสุทธิ์ไม่ได้รับความช่วยเหลือเยียวยาตามหลักสิทธิมนุษยชนหรือละเลยต่อผู้เสียหายต้องสูญเสียอิสรภาพในชีวิตร่างกายเกิดความพิการหรือสูญเสียชีวิตสร้างความเสียหายต่อสิทธิประโยชน์ที่พึงมีพึงได้รวมทั้งกระบวนการยุติธรรมขาดศักยภาพการพัฒนาทางเลือกให้กับประชาชนส่งผลให้ประชาชนต้องสูญเสียโอกาส ต่างๆมากมายสิ้นเปลืองเวลาค่าใช้จ่ายสูญเสียอิสรภาพโดยมิควรและปิดกั้นโอกาสของผู้ยากจนไม่สามารถเข้าถึงความยุติธรรมได้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521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กรมคุ้มครองสิทธิและเสรีภาพ</a:t>
            </a:r>
          </a:p>
        </p:txBody>
      </p:sp>
    </p:spTree>
    <p:extLst>
      <p:ext uri="{BB962C8B-B14F-4D97-AF65-F5344CB8AC3E}">
        <p14:creationId xmlns:p14="http://schemas.microsoft.com/office/powerpoint/2010/main" val="710530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628800"/>
            <a:ext cx="7408333" cy="464137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จัดระบบการบริหารจัดการด้านคุ้มครองสิทธิและเสรีภาพของประชาชน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ส่งเสริมและพัฒนาคุ้มครองสิทธิและเสรีภาพของประชาชน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ส่งเสริมและพัฒนากลไกการระงับข้อพิพาทในสังคม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ประสานงานคุ้มครองสิทธิเสรีภาพกับภาครัฐเอกชนทั้งในและต่างประเทศ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5.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ช่วยเหลือประชาชนที่เป็นเหยื่ออาชญากรรมรวมทั้งจำเลยที่ถูกดำเนินคดีอาญาโดยมิได้เป็นผู้กระทำความผิดตามกฎหมายว่าด้วยค่าตอบแทนผู้เสียหายและค่าทดแทนและค่าใช้จ่ายแก่จำเลยในคดีอาญา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24835471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764704"/>
            <a:ext cx="7408333" cy="536145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6.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ติดตามและประเมินผลการดำเนินการด้านการคุ้มครองสิทธิและเสรีภาพ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7.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ดำเนินการคุ้มครองพยานตามกฎหมายว่าด้วยการคุ้มครองพยานในคดีอาญา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8.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ส่งเสริมคุ้มครองและสร้างหลักประกันสิทธิเสรีภาพและสิทธิมนุษยชนเช่นประชาชนสามารถปกป้องคุ้มครองสิทธิตนเองและไม่ละเมิดสิทธิผู้อื่นได้รับการส่งเสริมความรู้ด้านสิทธิและเสรีภาพได้รับความช่วยเหลือและคุ้มครองสิทธิและเสรีภาพประชาชนสร้างหลักประกันสิทธิและเสรีภาพและสิทธิมนุษยชนมีความเป็นสากล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356992"/>
            <a:ext cx="3901976" cy="259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9442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3284983"/>
            <a:ext cx="7516357" cy="2841179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เป็นหน่วยงานสังกัดกระทรวงยุติธรรม เมื่อมีการประกาศใช้รัฐธรรมนูญ 2540 ซึ่งมีผลทำให้สถานพินิจและคุ้มครองเด็กและเยาวชน  ซึ่งเดิมอยู่ภายใต้การบังคับบัญชาของศาลเยาวชนและครอบครัว มาอยู่ภายใต้สังกัดของกระทรวงยุติธรรมได้รับการยกฐานะเป็นกรมพินิจและคุ้มครองเด็กและเยาวชน  ปัจจุบันสถานพินิจประกอบด้วย  สถานพินิจและคุ้มครองเด็กและเยาวชนกลาง  สถานพินิจและคุ้มครองเด็กและเยาวชนจังหวัด   และสถานพินิจและคุ้มครองเด็กและเยาวชนของแผนกคดีเยาวชนและครอบครัวของศาลจังหวัด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34961" y="188640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กรมพินิจและคุ้มครองเด็กและเยาวชน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11" y="1124744"/>
            <a:ext cx="20955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405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772816"/>
            <a:ext cx="7408333" cy="435334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ส่งเสริมการพิทักษ์คุ้มครองสิทธิและ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สวัสดิ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ภาพเด็กและเยาวชน ส่งเสริมความมั่นคงของสถาบันครอบครัวและชุมชนโดยใช้กระบวนการยุติธรรมเชิงสมานฉันท์ การหันเหคดีออกจากกระบวนการยุติธรรมและมาตรการอื่นๆ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ดำเนินการคดีอาญาคดีครอบครัวกำกับการปกครองและกำกับแก้ไขฟื้นฟูป้องกันพัฒนาและสงเคราะห์ตลอดจนติดตามและประเมินผล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3.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ประสานความร่วมมือและสร้างเครือข่ายกับชุมชนองค์กรภาครัฐและเอกชนทั้งภายในและต่างประเทศเพื่อสนับสนุนกระบวนการยุติธรรมสำหรับเด็กและเยาวช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4.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ศึกษาวิเคราะห์วิจัยและพัฒนากฎหมายการพิทักษ์คุ้มครองสิทธิเด็กและเยาวชนรวมทั้งระบบรูปแบบวิธีการปฏิบัติเกี่ยวกับงานคดีและการปฏิบัติต่อเด็กและเยาวช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5.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พัฒนาบุคลากรและระบบการบริหารจัดการเข้าสู่มาตรฐานการบริหารจัดการภาครัฐ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บทบาทหน้าที่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11445811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052736"/>
            <a:ext cx="7408333" cy="507342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6.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สืบเสาะและพินิจตลอดจนทำรายงานเสนอต่อศาลเกี่ยวกับประวัติสิ่งแวดล้อมและสาเหตุของการกระทำผิดของเด็กและเยาวชนเพื่อเสนอต่อผู้อำนวยการสถานพินิจและสอดส่องเด็กและเยาวชนที่ศาลมีคำพิพากษาให้คุมประพฤติหรือกำหนดเงื่อนไขให้ปฏิบัติ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7.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ควบคุมตัวเด็กและเยาวชนไว้ระหว่างการพิจารณาคดีตามคำสั่งศาล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8.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ศึกษาค้นคว้าถึงสาเหตุของการกระทำความผิดของเด็กและเยาวชน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227607"/>
            <a:ext cx="5998046" cy="337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532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052736"/>
            <a:ext cx="3177704" cy="2292077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3068960"/>
            <a:ext cx="7408333" cy="3489250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h-TH" sz="34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	เป็นองค์กรอิสระ ตามรัฐธรรมนูญฉบับพ.ศ. 2540  คณะกรรมการประกอบด้วยประธานกรรมการคนหนึ่งและกรรมการอื่นอีกสิบคนซึ่งพระมหากษัตริย์ทรงแต่งตั้งตามคำแนะนำของวุฒิสภาจากผู้มีความรู้หรือประสบการณ์ด้านคุ้มครองสิทธิเสรีภาพประชาชนมีวาระการดำรงตำแหน่งหกปีนับแต่วันที่พระมหากษัตริย์ทรงแต่งตั้งและให้ดำรงตำแหน่งได้เพียงวาระเดียวประเทศไทยเข้าเป็นภาคีสนธิสัญญาด้านสิทธิมนุษยชนสหประชาชาติและต้องปฏิบัติตามพันธกรณีระหว่างประเทศเกี่ยวกับสิทธิมนุษยชนจำนวน 7 ฉบับ ได้แก่ อนุสัญญาว่าด้วยสิทธิเด็ก การขจัดการเลือกปฏิบัติต่อสตรี สิทธิพลเมืองและสิทธิทางการเมือง สิทธิทางเศรษฐกิจสังคมและวัฒนธรรม การขจัดการเลือกปฏิบัติทางเชื้อชาติ การต่อต้าน การทรมานและการปฏิบัติหรือการลงโทษที่โหดร้ายไร้มนุษยธรรม </a:t>
            </a:r>
          </a:p>
          <a:p>
            <a:pPr marL="0" indent="0">
              <a:spcBef>
                <a:spcPts val="0"/>
              </a:spcBef>
              <a:buNone/>
            </a:pPr>
            <a:r>
              <a:rPr lang="th-TH" sz="34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หรือย่ำยีศักดิ์ศรีและว่าด้วยสิทธิของคนพิการ</a:t>
            </a:r>
            <a:br>
              <a:rPr lang="th-TH" dirty="0"/>
            </a:b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1876" y="188640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คณะกรรมการสิทธิมนุษยชนแห่งชาติ</a:t>
            </a:r>
          </a:p>
        </p:txBody>
      </p:sp>
    </p:spTree>
    <p:extLst>
      <p:ext uri="{BB962C8B-B14F-4D97-AF65-F5344CB8AC3E}">
        <p14:creationId xmlns:p14="http://schemas.microsoft.com/office/powerpoint/2010/main" val="6139600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1. ตรวจสอบ   รายงานการกระทำหรือการละเลยการกระทำอันเป็นการละเมิดสิทธิมนุษยชนตามพันธกรณีระหว่างประเทศเกี่ยวกับสิทธิมนุษยชนที่ประเทศไทยเป็นภาคีและเสนอมาตรการการแก้ไขที่เหมาะสมต่อบุคคลหรือหน่วยงานที่กระทำในกรณีที่ปรากฏว่าไม่มีการดำเนินการตามที่เสนอให้รายงานต่อรัฐสภาเพื่อดำเนินการต่อไป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2. เสนอแนะนโยบายและข้อเสนอในการปรับปรุงกฎหมาย กฎ ข้อบังคับ ต่อรัฐสภาและคณะรัฐมนตรีเพื่อส่งเสริมเผยแพร่ความรู้และคุ้มครองสิทธิมนุษยชน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3 ส่งเสริมความร่วมมือและการประสานงานระหว่างหน่วยราชการ องค์กรเอกชนและองค์กรอื่นในด้านสิทธิมนุษยชน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4 จัดทำรายงานประจำปีเพื่อประเมินสถานการณ์ด้านสิทธิมนุษยชนภายในประเทศและเสนอต่อรัฐสภา</a:t>
            </a:r>
          </a:p>
          <a:p>
            <a:pPr marL="0" indent="0">
              <a:buNone/>
            </a:pP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อำนาจหน้าที่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8092265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3789040"/>
            <a:ext cx="7408333" cy="2808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กรมทรัพย์สินทางปัญญา  สังกัดกระทรวงพาณิชย์ก่อตั้งเมื่อวันที่ 3 พฤษภาคม 2535 หน้าจากประเทศไทยเป็นประเทศเกษตรกรรมงานเครื่องหมายการค้าเป็นเรื่องที่เกี่ยวกับอุตสาหกรรมการผลิตเครื่องหมายการค้าจึงไม่มีบทบาทมากนักต่อมาในสมัยกรุงรัตนโกสินทร์ประเทศไทยมีการติดต่อค้าขายกับต่างชาติมากขึ้นรัชกาลที่หกจึงมีพระบรมราชโองการให้ตั้งกรมทะเบียน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การค้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า  ขึ้นเมื่อปีพ.ศ. 2466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กรมทรัพย์สินทางปัญญา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36" y="148478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445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755576" y="548680"/>
            <a:ext cx="7408333" cy="4785395"/>
          </a:xfrm>
        </p:spPr>
        <p:txBody>
          <a:bodyPr>
            <a:normAutofit/>
          </a:bodyPr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โดยมีงานรับจดทะเบียนเครื่องหมายการค้า และงานช่างตวงวัด ต่อมางานด้านทรัพย์สินทางปัญญาที่นับวันจะยิ่งมีบทบาทและทวีความสำคัญมากขึ้นในระบบเศรษฐกิจการค้าระหว่างประเทศ และในภาวะการค้าเสรีของโลกปัจจุบันการแข่งขันและการกีดกันการค้าทวีความรุนแรงมากขึ้นประเทศมหาอำนาจได้นำเรื่องทรัพย์สินทางปัญญามาเป็นเครื่องต่อรองในเวทีการค้าโลก จึงได้รวบรวมงานที่เกี่ยวข้องกับ ทรัพย์สินทางปัญญามารวมอยู่ด้วยกัน โดยได้นำงานด้านสิทธิบัตรและเครื่องหมายการค้าที่อยู่ในความรับผิดชอบของกรมทะเบียนการค้า   กระทรวงพาณิชย์และงานลิขสิทธิ์ที่อยู่ในความรับผิดชอบของกรมศิลปากร  กระทรวงศึกษาธิการมารวมกันในหน่วยงานเดียวกัน คือ กรมทรัพย์สินทางปัญญา</a:t>
            </a: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573016"/>
            <a:ext cx="4392488" cy="27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688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ดำเนินการเพื่อให้การบังคับใช้กฎหมายทรัพย์สินทางปัญญามีประสิทธิภาพ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ปกป้องและประสานการป้องปรามการละเมิดทรัพย์สินทางปัญญาตามกฎหมายเกี่ยวกับทรัพย์สินทางปัญญา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พัฒนาระบบการบังคับใช้กฎหมายทรัพย์สินทางปัญญา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ตามระเบียบสำนักนายกรัฐมนตรีและระเบียบกระทรวงพาณิชย์ว่าด้วยการบริหารกฎหมายที่เกี่ยวข้องกับการ ป้องปรามการละเมิดลิขสิทธิ์รวมทั้งทรัพย์สินทางปัญญาอื่นที่เกี่ยวข้อง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พัฒนากลยุทธ์ในการป้องปรามการละเมิดทรัพย์สินทางปัญญาและระบบป้องกันและระงับข้อพิพาทด้านทรัพย์สินทางปัญญา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th-TH" sz="4900" b="1" dirty="0">
                <a:latin typeface="Angsana New" pitchFamily="18" charset="-34"/>
                <a:cs typeface="Angsana New" pitchFamily="18" charset="-34"/>
              </a:rPr>
              <a:t>บทบาทหน้าที่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90785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268760"/>
            <a:ext cx="7408333" cy="485740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6.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ประสานงานป้องปรามการละเมิดทรัพย์สินทางปัญญาในประเทศและต่างประเทศ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7.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ดำเนินการอนุญาโตตุลาการด้านทรัพย์สินทางปัญญา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8.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ดำเนินการไกล่เกลี่ยให้มีการประนอมข้อพิพาทด้านทรัพย์สินทางปัญญา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9.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ดำเนินการเกี่ยวกับการขึ้นทะเบียนเป็นผู้ทรงคุณวุฒิด้านทรัพย์สินทางปัญญา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10.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ศึกษาวิเคราะห์เกี่ยวกับงานการป้องปรามการละเมิดทรัพย์สินทางปัญญาและระบบอนุญาโตตุลาการขององค์กรหรือหน่วยงานอื่นทั้งในประเทศและต่างประเทศ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11.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จัดฝึกอบรมพนักงานเจ้าหน้าที่รวมทั้งเจ้าหน้าที่ที่เกี่ยวข้องกับการป้องปรามการละเมิดทรัพย์สินทางปัญญาและอนุญาโตตุลาการ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12.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ปฏิบัติงานร่วมกับหรือสนับสนุนการปฏิบัติงานของหน่วยงานอื่นที่เกี่ยวข้อง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289935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462" y="980728"/>
            <a:ext cx="2143125" cy="2143125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3068960"/>
            <a:ext cx="7408333" cy="34506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h-TH" dirty="0"/>
              <a:t>	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เป็นส่วนราชการระดับกรมสังกัดกระทรวงการคลังก่อตั้งเมื่อวันที่ 4 กรกฎาคมพ.ศ. 2417 ในสมัยรัชกาลที่5 โดยมีชื่อว่า หอรัษฎากรพิพัฒน์ มีหน้าที่เก็บภาษีอากรขาเข้าและขาออกเป็นรายได้ของรัฐกิจการภาษี หรือการศุลกากรเนื่องจากมีการค้าขายกับต่างประเทศมากขึ้นเมื่อเข้าสู่ยุครัตนโกสินทร์ในรัชสมัยสมเด็จพระนั่งเก้าเจ้าอยู่หัวมีการประมูลผูกขาดการเรียกเก็บภาษีอากรเรียกว่าระบบเจ้าภาษีนายอากร. ส่วนสถานที่เก็บภาษีเรียกว่า โรงภาษี ต่อมามีการทำสนธิสัญญา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เบาว์ริง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ที่เกี่ยวกับศุลกากรคือยกเลิกการเก็บค่าธรรมเนียมปากเรือเปลี่ยนมาเป็นเก็บภาษีสินค้าขาเข้าที่เรียกว่าภาษี ร้อยชักสามส่วนสินค้าขาออกให้เก็บตามที่ระบุในท้ายสัญญาเป็นชนิดไปมีการตั้งโรงภาษีเรียกว่า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ศุลก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สถาน ขึ้นเป็นที่ทำการศุลกากรยุคใหม่หรือศุลกากรไทยเริ่มในปีพ.ศ. 2417 เมื่อรัชกาลที่5 ทรงจัดตั้งหอรัษฎากรพิพัฒน์เป็นสำนักงานกลางในการรวบรวมรายได้ของแผ่นดินคือการก่อตั้งกรมศุลกากร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32224" y="0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กรมศุลกากร</a:t>
            </a:r>
          </a:p>
        </p:txBody>
      </p:sp>
    </p:spTree>
    <p:extLst>
      <p:ext uri="{BB962C8B-B14F-4D97-AF65-F5344CB8AC3E}">
        <p14:creationId xmlns:p14="http://schemas.microsoft.com/office/powerpoint/2010/main" val="406946096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1628800"/>
            <a:ext cx="7452816" cy="4857403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ปฏิบัติตามกฎหมายศุลกากรและกฎหมายอื่นๆที่เกี่ยวข้องเช่น การจัดเก็บรายได้เช่น การเก็บภาษีต่างๆเช่น ภาษีเงินได้ ภาษีอากรต่างๆ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ปกป้องสังคมจากสินค้าที่ไม่พึงประสงค์เช่นสินค้าที่ไม่ได้มาตรฐาน</a:t>
            </a:r>
            <a:r>
              <a:rPr lang="th-TH" dirty="0" err="1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ยาเสพติด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ซึ่งจะมีการตรวจสอบอย่างละเอียดมาให้นำเข้ามาแพร่กระจายในประเทศ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อำนวยความสะดวกทางการค้าและส่งเสริมการส่งออกการค้าระหว่างประเทศแก่ผู้นำเข้าและผู้ส่งออกและเพิ่มศักยภาพการแข่งขันทางการค้าของประเทศเช่นจัดเก็บภาษี ที่นำเข้าต่อ เมื่อมีการใช้ประโยชน์หรือบริโภคภายในประเทศแต่ถ้ายังไม่มีการใช้ประโยชน์หรือบริโภคในประเทศก็จะคืนภาษีที่เก็บให้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การป้องกันและปราบปรามเช่นการสืบสวนป้องกันการลักลอบการขนของหนีภาษีการหลีกเลี่ยงไม่ชำระภาษีหรือการสำแดงผิดกับจำนวนที่แจ้งชำระราคาภาษีและการกระทำผิดกฎหมายศุลกากรอื่นๆ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6456"/>
          </a:xfrm>
        </p:spPr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 อำนาจหน้าที่</a:t>
            </a:r>
            <a:br>
              <a:rPr lang="th-TH" dirty="0"/>
            </a:b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2963201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124744"/>
            <a:ext cx="7408333" cy="5145435"/>
          </a:xfrm>
        </p:spPr>
        <p:txBody>
          <a:bodyPr/>
          <a:lstStyle/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sz="22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5.</a:t>
            </a:r>
            <a:r>
              <a:rPr lang="th-TH" sz="22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เสนอแนะนโยบายหรือโครงสร้างภาษีศุลกากรเพื่อกำหนดนโยบายการจัดเก็บภาษีอากรต่อกระทรวง</a:t>
            </a:r>
          </a:p>
          <a:p>
            <a:pPr marL="0" lvl="0" indent="0" fontAlgn="base">
              <a:spcBef>
                <a:spcPts val="0"/>
              </a:spcBef>
              <a:buClr>
                <a:srgbClr val="31B6FD"/>
              </a:buClr>
              <a:buNone/>
            </a:pPr>
            <a:r>
              <a:rPr lang="en-US" sz="22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6.  </a:t>
            </a:r>
            <a:r>
              <a:rPr lang="th-TH" sz="2200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อำนวยความสะดวกด้านการค้าระหว่างประเทศแก่ผู้นำเข้าและผู้ส่งออกและเพิ่มศักยภาพการแข่งขันทางการค้าของประเทศและจัดเก็บภาษีสินค้านำเข้าและส่งออกแทนหน่วยงานราชการอื่นๆ</a:t>
            </a: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140968"/>
            <a:ext cx="4447742" cy="295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0696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3789040"/>
            <a:ext cx="7408333" cy="2520280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ป็นหน่วยงานที่สังกัดกระทรวงการคลังมีภารกิจเกี่ยวกับการบริหารจัดเก็บภาษีตามกฎหมายว่าด้วยภาษีสรรพสามิตเช่นสุรายาสูบไพ่ กฎหมายว่าด้วยตรวจสอบการป้องกันและปราบปรามการกระทำความผิดตามกฎหมายสรรพสามิต ว่าด้วยสุรายาสูบและไพ่ เป็นต้น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กรมสรรพสามิต</a:t>
            </a:r>
            <a:br>
              <a:rPr lang="th-TH" dirty="0"/>
            </a:br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628800"/>
            <a:ext cx="5289177" cy="150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0774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2708920"/>
            <a:ext cx="1890142" cy="2333625"/>
          </a:xfrm>
          <a:prstGeom prst="rect">
            <a:avLst/>
          </a:prstGeom>
        </p:spPr>
      </p:pic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467544" y="1484784"/>
            <a:ext cx="7408333" cy="4497363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ดำเนินการตามกฎหมายว่าด้วยภาษีสรรพสามิตกฎหมายว่าด้วยพิกัดอัตราภาษีสรรพสามิต กฎหมายว่าด้วยสุรากฎหมายว่าด้วยยาสูบกฎ หมายว่าด้วยไพ่กฎหมาย ว่าด้วยการจัดสรรเงินภาษีสรรพสามิต กฎหมายว่าด้วยการกำหนดแผนและขั้นตอนการกระจายอำนาจให้แก่องค์กรปกครองส่วนท้องถิ่น และกฎหมายอื่นที่เกี่ยวข้อง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ตรวจสอบป้องกันและปราบปรามการหลีกเลี่ยงภาษีที่กรมจัดเก็บ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เสนอแนะนโยบายการจัดเก็บภาษีที่อยู่ในอำนาจหน้าที่ของกรมต่อกระทรวง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เกี่ยวกับการประสานแผนงานกำกับเร่งรัดติดตามและประเมินผลการปฏิบัติงานของหน่วยงานในสังกัดและงานสารสนเทศของกรม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บริหารกิจการขององค์การสุราและโรงไพ่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ปฏิบัติงานร่วมกับหรือสนับสนุนการปฏิบัติงานของหน่วยงานอื่นที่เกี่ยวข้อง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ดำเนินการเกี่ยวกับนิติกรรมและสัญญางานเกี่ยวกับความลับผิดทางแพ่งอาญางานคดีปกครองและงานคดีอื่นที่อยู่ในอำนาจหน้าที่ของกรม</a:t>
            </a:r>
          </a:p>
          <a:p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บทบาทและหน้าที่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85821218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3568" y="1340768"/>
            <a:ext cx="7772400" cy="1780108"/>
          </a:xfrm>
        </p:spPr>
        <p:txBody>
          <a:bodyPr>
            <a:normAutofit/>
          </a:bodyPr>
          <a:lstStyle/>
          <a:p>
            <a:r>
              <a:rPr lang="th-TH" sz="5400" b="1" dirty="0">
                <a:latin typeface="Angsana New" pitchFamily="18" charset="-34"/>
                <a:cs typeface="Angsana New" pitchFamily="18" charset="-34"/>
              </a:rPr>
              <a:t>บทที่ </a:t>
            </a:r>
            <a:r>
              <a:rPr lang="en-US" sz="5400" b="1" dirty="0">
                <a:latin typeface="Angsana New" pitchFamily="18" charset="-34"/>
                <a:cs typeface="Angsana New" pitchFamily="18" charset="-34"/>
              </a:rPr>
              <a:t>7</a:t>
            </a:r>
            <a:br>
              <a:rPr lang="th-TH" sz="5400" b="1" dirty="0">
                <a:latin typeface="Angsana New" pitchFamily="18" charset="-34"/>
                <a:cs typeface="Angsana New" pitchFamily="18" charset="-34"/>
              </a:rPr>
            </a:br>
            <a:r>
              <a:rPr lang="th-TH" sz="5400" b="1" dirty="0">
                <a:latin typeface="Angsana New" pitchFamily="18" charset="-34"/>
                <a:cs typeface="Angsana New" pitchFamily="18" charset="-34"/>
              </a:rPr>
              <a:t>ระบบศาลไทย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321999"/>
            <a:ext cx="2511723" cy="251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4493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1628800"/>
            <a:ext cx="7408333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กฎหมายเป็นเครื่องมือของรัฐที่ใช้บังคับแก่ประชาชนเพื่อให้สังคมอยู่อย่างสงบสุขโดยการลงโทษผู้กระทำผิดการที่ได้ตัวผู้กระทำผิดมาลงโทษตลอดจนการดำเนินการพิพากษาคดีว่าผู้กระทำผิดจะถูกลงโทษมากน้อยเพียงใดนับว่าเป็นเรื่องยุ่งยากไม่น้อยเพราะไม่สามารถที่จะกระทำได้เพ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ียง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คนเดียว จะต้องใช้บุคลากรและองค์การของรัฐเป็นผู้ดำเนินการจำนวนมากและมีขั้นตอนหลายอย่างดังนั้นการศึกษาให้รู้ถึงกระบวนการยุติธรรมจึงเป็นเรื่องสำคัญเรื่องหนึ่ง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พัฒนาการของระบบศาลไทยในปัจจุบันมีความเกี่ยวข้องอย่างไม่อาจแยกออกจากกันได้ กับการปฏิรูปครั้งใหญ่ในสมัยรัชกาลที่ห้าแน่นอนว่าการปรับปรุงระบบกระบวนการยุติธรรม ให้มีความทันสมัยย่อมทำให้ต่างชาติยอมรับและสามารถอำนวยความยุติธรรมให้แก่ประชาชนได้อย่างมีประสิทธิภาพมากยิ่งขึ้นโดยปัจจุบันไทยใช้ระบบศาลคู่ซึ่งมีศาลปกครองแยกจากศาลยุติธรรม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ระบบศาลไทย</a:t>
            </a:r>
          </a:p>
        </p:txBody>
      </p:sp>
    </p:spTree>
    <p:extLst>
      <p:ext uri="{BB962C8B-B14F-4D97-AF65-F5344CB8AC3E}">
        <p14:creationId xmlns:p14="http://schemas.microsoft.com/office/powerpoint/2010/main" val="97133303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มีดังนี้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ศาลยุติธรรม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มีอำนาจพิจารณาคดีทั้งปวงเว้นแต่คดีที่อยู่ในอำนาจของศาลรัฐธรรมนูญศาลปกครองศาลทหาร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ศาลรัฐธรรมนูญ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มีหน้าที่วินิจฉัยคดีที่เกี่ยวข้องกับรัฐธรรมนูญ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ศาลปกครอง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หน้าที่พิจารณาคดีพิพากษาคดีที่เป็นข้อพิพาทระหว่างทางราชการกับเอกชนเกี่ยวกับการใช้อำนาจปกครอง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ศาลทหาร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มีหน้าที่พิจารณา พิพากษาคดีเฉพาะคดีอาญาทหารและคดีที่มีลักษณะพิเศษทางอาญาเช่นคดีอาญาที่ทหารตกเป็นจำเลยหรือคดีที่เกิดขึ้นในสภาวะสงครามหรือประกาศกฎอัยการศึก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ศาลไทยในปัจจุบัน</a:t>
            </a:r>
          </a:p>
        </p:txBody>
      </p:sp>
    </p:spTree>
    <p:extLst>
      <p:ext uri="{BB962C8B-B14F-4D97-AF65-F5344CB8AC3E}">
        <p14:creationId xmlns:p14="http://schemas.microsoft.com/office/powerpoint/2010/main" val="3897741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บทบาทของศาลยุติธรรมนั้นนอกจากจะทำหน้าที่พิจารณาคดีทั้งทางแพ่งและอาญาแล้วปัจจุบันยังมีสารที่ถูกตั้งขึ้นเพื่อทำคดีเฉพาะได้แก่ศาลภาษีอากรศาลล้มละลายศาลทรัพย์สินทางปัญญาและการค้าระหว่างประเทศศาลแรงงานและศาลเยาวชนและครอบครัวอีกทั้งรัฐธรรมนูญยังได้ตั้งแผนกคดีอาญาของผู้ดำรงตำแหน่งทางการเมืองในศาลฎีกา เพื่อทำหน้าที่พิจารณาคดีการเมืองเช่นคดีนายกรัฐมนตรีรัฐมนตรี สมาชิกสภาผู้แทนราษฎรสมาชิกวุฒิสภาถูกกล่าวหาว่าร่ำรวยผิดปกติโดยผู้พิพากษาศาลฎีกาเก้าคนซึ่งได้รับเลือกโดยที่ประชุมใหญ่ศาลฎีกา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ระบบศาลยุติธรรมของไทยแบ่งออกเป็น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3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ขั้น ( มาตรา 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1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พระธรรมนูญศาลยุติธรรม)ได้แก่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ศาลยุติธรรม</a:t>
            </a:r>
          </a:p>
        </p:txBody>
      </p:sp>
    </p:spTree>
    <p:extLst>
      <p:ext uri="{BB962C8B-B14F-4D97-AF65-F5344CB8AC3E}">
        <p14:creationId xmlns:p14="http://schemas.microsoft.com/office/powerpoint/2010/main" val="378769189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ศาลชั้นต้น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ศาลที่มีอำนาจพิจารณาพิพากษาคดีในชั้นต้นได้แก่  ศาลแขวง   ศาลจังหวัดศาลอาญา   ศาลแพ่ง  ศาลชำนัญพิเศษ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ศาลอุทธรณ์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โดยหลักมีอำนาจพิจารณาพิพากษาที่อุทธรณ์คำพิพากษาของศาลชั้นต้น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ศาลฎีกา 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-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ศาลสูงสุดมีอำนาจพิจารณาพิพากษาเฉพาะคดีที่ศาลฎีกาอนุญาตให้มีการอุทธรณ์คำพิพากษาของศาลอุทรใต้เท่านั้นมีศาลเดียวตั้งอยู่ในกรุงเทพมหานคร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	  -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ำพิพากษาของศาลฎีกาถือว่าสิ้นสุดจะฟ้องร้องต่อไปอีกไม่ได้ส่วนการที่ผู้ได้รับโทษทางอาญาถวายเรื่องต่อพระมหากษัตริย์เพื่อรับพระมหากรุณาที่คุณพระราชทานอภัยโทษ เป็นพระราชอำนาจของพระมหากษัตริย์ตามรัฐธรรมนูญ ไม่ใช่การพิพากษาใหม่และไม่ใช่การขัดแย้งกับคำพิพากษาของศาลฎีกา</a:t>
            </a:r>
          </a:p>
        </p:txBody>
      </p:sp>
    </p:spTree>
    <p:extLst>
      <p:ext uri="{BB962C8B-B14F-4D97-AF65-F5344CB8AC3E}">
        <p14:creationId xmlns:p14="http://schemas.microsoft.com/office/powerpoint/2010/main" val="354162569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556792"/>
            <a:ext cx="7408333" cy="4569371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ประกอบด้วย</a:t>
            </a:r>
          </a:p>
          <a:p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ศาลแพ่ง 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มีอำนาจพิจารณาคดีแพ่งทั้งปวง</a:t>
            </a:r>
          </a:p>
          <a:p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ศาลอาญา 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มีอำนาจพิพากษาคดีอาญาทั้งปวง</a:t>
            </a:r>
          </a:p>
          <a:p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ศาลจังหวัด 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ป็นศาลชั้นต้นที่ตั้งประจำในตัวจังหวัดหรือในบางอำเภอมีเหตุตามที่พระราชบัญญัติจัดตั้งศาลนั้นกำหนดไว้มีอำนาจพิจารณาพิพากษาคดีแพ่งและคดีอาญาทั้งปวงที่มิได้อยู่ในอำนาจของศาลยุติธรรมอื่น(มาตรา 15 พระธรรมนูญศาลยุติธรรม)</a:t>
            </a:r>
          </a:p>
          <a:p>
            <a:r>
              <a:rPr lang="th-TH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ศาลแขวง    </a:t>
            </a:r>
            <a:r>
              <a:rPr lang="en-US" b="1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-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พิพากษาคดีแพ่งที่มีทุนทรัพย์ไม่เกิน 300,000 บาทและ คดีอาญาที่มีอัตราโทษที่กฎหมายกำหนดให้จำคุกไม่เกิน</a:t>
            </a:r>
            <a:r>
              <a:rPr lang="en-US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3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ปีหรือปรับไม่เกิน 60,000 บาทหรือทั้งจำทั้งปรับแต่จะลงโทษจำคุกเกิน</a:t>
            </a:r>
            <a:r>
              <a:rPr lang="en-US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 6 </a:t>
            </a:r>
            <a:r>
              <a:rPr lang="th-TH" dirty="0">
                <a:solidFill>
                  <a:srgbClr val="002060"/>
                </a:solidFill>
                <a:latin typeface="Angsana New" pitchFamily="18" charset="-34"/>
                <a:cs typeface="Angsana New" pitchFamily="18" charset="-34"/>
              </a:rPr>
              <a:t>เดือนหรือปรับเกิน 10,000 บาทหรือทั้งจำทั้งปรับ ซึ่งโทษจำคุกหรือทั้งสองอย่างเกินอัตราดังกล่าวแล้วไม่ได้  (มาตรา 17 ประกอบ  มาตรา 25 พระธรรมนูญศาลยุติธรรม)</a:t>
            </a:r>
          </a:p>
          <a:p>
            <a:pPr marL="0" indent="0">
              <a:buNone/>
            </a:pP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ศาลชั้นต้น</a:t>
            </a:r>
          </a:p>
        </p:txBody>
      </p:sp>
    </p:spTree>
    <p:extLst>
      <p:ext uri="{BB962C8B-B14F-4D97-AF65-F5344CB8AC3E}">
        <p14:creationId xmlns:p14="http://schemas.microsoft.com/office/powerpoint/2010/main" val="167961396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1268760"/>
            <a:ext cx="7408333" cy="521744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     -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ป็นสารที่มีอำนาจพิจารณาพิพากษาคดีและมีอำนาจไต่สวนหรือมีคำสั่งใดใดซึ่งผู้พิพากษาคนเดียวมีอำนาจตามหลักเกณฑ์เงื่อนไขในพระธรรมนูญศาลยุติธรรม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     -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ศาลแขวงไม่มีอำนาจพิจารณาคดีไม่มีข้อพิพาทเช่นคดีร้องขอเป็นผู้จัดการมรดก</a:t>
            </a:r>
          </a:p>
          <a:p>
            <a:pPr marL="0" indent="0">
              <a:buNone/>
            </a:pPr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ศาลเยาวชนและครอบครัว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ศาลยุติธรรมชั้นต้นซึ่งมีอำนาจพิจารณาพิพากษาหรือมีคำสั่งในคดีอาญาที่มีข้อหาว่าเด็กบุคคลอายุยังไม่เกิน 15 ปีบริบูรณ์หรือเยาวชนบุคคลอายุเกิน 15 ปีบริบูรณ์แต่ยังไม่ถึง 18 ปีบริบูรณ์กระทำความผิดรวมถึงคดีครอบครัวอันได้แก่คดีแพ่งที่ฟ้องหรือร้องขอต่อศาลหรือกระทำการใดใดในทางศาลเกี่ยวกับผู้เยาหรือครอบครัวแล้วแต่กรณีซึ่งจะต้องบังคับตามประมวลกฎหมายแพ่งและพาณิชย์ทั้งนี้ศาลเยาวชนและครอบครัวจะมีสถานพินิจและคุ้มครองเด็กและเยาวชนทำงานควบคู่ไปด้วย</a:t>
            </a:r>
          </a:p>
        </p:txBody>
      </p:sp>
    </p:spTree>
    <p:extLst>
      <p:ext uri="{BB962C8B-B14F-4D97-AF65-F5344CB8AC3E}">
        <p14:creationId xmlns:p14="http://schemas.microsoft.com/office/powerpoint/2010/main" val="233556245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ศาลล้มละลาย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พิพากษาคดีล้มละลายเกี่ยวกับลูกหนี้ที่มีหนี้สินล้นพ้นตัว</a:t>
            </a:r>
          </a:p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ศาลทรัพย์สินทางปัญญาและการค้าระหว่างประเทศ   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ิพากษาคดีแพ่งและคดีอาญาเกี่ยวกับทรัพย์สินทางปัญญาเช่นคดีเกี่ยวกับลิขสิทธิ์สิทธิบัตรเครื่องหมายการค้าและคดีแพ่งเกี่ยวกับการค้าระหว่างประเทศ</a:t>
            </a:r>
          </a:p>
          <a:p>
            <a:r>
              <a:rPr lang="th-TH" b="1" dirty="0">
                <a:solidFill>
                  <a:srgbClr val="073E87"/>
                </a:solidFill>
                <a:latin typeface="Angsana New" pitchFamily="18" charset="-34"/>
                <a:cs typeface="Angsana New" pitchFamily="18" charset="-34"/>
              </a:rPr>
              <a:t> ศาลแรงงาน   </a:t>
            </a:r>
            <a:r>
              <a:rPr lang="th-TH" dirty="0">
                <a:solidFill>
                  <a:srgbClr val="073E87"/>
                </a:solidFill>
                <a:latin typeface="Angsana New" pitchFamily="18" charset="-34"/>
                <a:cs typeface="Angsana New" pitchFamily="18" charset="-34"/>
              </a:rPr>
              <a:t>พิพากษาคดีแรงงานระหว่างนายจ้างและลูกจ้างมาตราแปดพ.ร.บ.จัดตั้งศาลแรงงานและวิธีพิจารณาคดีแรงงานพ.ศ. 2522</a:t>
            </a:r>
            <a:endParaRPr lang="th-TH" dirty="0">
              <a:latin typeface="Angsana New" pitchFamily="18" charset="-34"/>
              <a:cs typeface="Angsana New" pitchFamily="18" charset="-34"/>
            </a:endParaRPr>
          </a:p>
          <a:p>
            <a:pPr marL="0" lvl="0" indent="0">
              <a:buClr>
                <a:srgbClr val="31B6FD"/>
              </a:buClr>
              <a:buNone/>
            </a:pPr>
            <a:r>
              <a:rPr lang="th-TH" b="1" dirty="0">
                <a:solidFill>
                  <a:srgbClr val="073E87"/>
                </a:solidFill>
                <a:latin typeface="Angsana New" pitchFamily="18" charset="-34"/>
                <a:cs typeface="Angsana New" pitchFamily="18" charset="-34"/>
              </a:rPr>
              <a:t>      ศาลภาษีอากร   </a:t>
            </a:r>
            <a:r>
              <a:rPr lang="th-TH" dirty="0">
                <a:solidFill>
                  <a:srgbClr val="073E87"/>
                </a:solidFill>
                <a:latin typeface="Angsana New" pitchFamily="18" charset="-34"/>
                <a:cs typeface="Angsana New" pitchFamily="18" charset="-34"/>
              </a:rPr>
              <a:t>พิพากษาคดีแพ่งในส่วนที่เกี่ยวกับภาษีอากรเช่นรัฐ ฟ้องเรียกหนี้ค่าภาษี </a:t>
            </a:r>
          </a:p>
          <a:p>
            <a:pPr marL="0" lvl="0" indent="0">
              <a:buClr>
                <a:srgbClr val="31B6FD"/>
              </a:buClr>
              <a:buNone/>
            </a:pPr>
            <a:r>
              <a:rPr lang="th-TH" dirty="0">
                <a:solidFill>
                  <a:srgbClr val="073E87"/>
                </a:solidFill>
                <a:latin typeface="Angsana New" pitchFamily="18" charset="-34"/>
                <a:cs typeface="Angsana New" pitchFamily="18" charset="-34"/>
              </a:rPr>
              <a:t>     อากร  (มาตราเจ็ดพ.ร.บ.จัดตั้งศาลภาษีอากรและวิธีพิจารณาคดีภาษีอากรพ.ศ. 2528)</a:t>
            </a:r>
          </a:p>
          <a:p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1666323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ศาลอุทธรณ์มีอำนาจพิจารณาพิพากษาคดีทั้งทางแพ่งและทางอาญาที่ถูกอุทรมาจากศาลชั้นต้นในกรณีที่คู่ความไม่พอใจในคำพิพากษาหรือคำสั่งของศาลชั้นต้นนั้นนั้นศาลอุทธรณ์มีองค์คณะผู้พิพากษาอย่างน้อย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3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คน   มาตรา 28 พระธรรมนูญศาลยุติธรรมปัจจุบันศาลอุทรแบ่งออกเป็นศาลอุทธรณ์กลางและศาลอุทธรณ์ภาคโดยศาลอุทธรณ์ภาคแบ่งออกเป็นศาลอุทธรณ์ภาค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1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ถึง ภาค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9</a:t>
            </a:r>
            <a:endParaRPr lang="th-TH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ศาลอุทธรณ์</a:t>
            </a:r>
          </a:p>
        </p:txBody>
      </p:sp>
    </p:spTree>
    <p:extLst>
      <p:ext uri="{BB962C8B-B14F-4D97-AF65-F5344CB8AC3E}">
        <p14:creationId xmlns:p14="http://schemas.microsoft.com/office/powerpoint/2010/main" val="173276604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2276872"/>
            <a:ext cx="7408333" cy="3450696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ศาลฎีกาเป็นศาลสูงสุดมีเพียงศาลเดียวโดยหลักศาลฎีกามีหน้าที่วินิจฉัยคดีอุทธรณ์คำพิพากษาหรือคำสั่งของศาลอุทธรณ์และศาลชั้นต้นแต่ในคดีบางประเภทกฎหมายก็กำหนดให้เริ่มคดีที่ศาลฎีกา เช่น คดีอาญาของผู้ดำรงตำแหน่งทางการเมืองโดยหลักองค์คณะผู้พิพากษาในศาลฎีกามีอย่างน้อยสามคนมาตรา 27 พระธรรมนูญศาลยุติธรรม เว้นแต่ในกรณีพิเศษอื่นๆ  เช่น  ในคดีอาญาของผู้ดำรงตำแหน่งทางการเมืองใช้องค์คณะ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 9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คน </a:t>
            </a:r>
            <a:r>
              <a:rPr lang="en-US" b="1" dirty="0">
                <a:latin typeface="Angsana New" pitchFamily="18" charset="-34"/>
                <a:cs typeface="Angsana New" pitchFamily="18" charset="-34"/>
              </a:rPr>
              <a:t>(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มาตรา 14 พระราชบัญญัติประกอบรัฐธรรมนูญว่าด้วยวิธีพิจารณาคดีอาญาของผู้ดำรงตำแหน่งทางการเมืองพ.ศ. 2560)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ศาลฎีกา</a:t>
            </a:r>
          </a:p>
        </p:txBody>
      </p:sp>
    </p:spTree>
    <p:extLst>
      <p:ext uri="{BB962C8B-B14F-4D97-AF65-F5344CB8AC3E}">
        <p14:creationId xmlns:p14="http://schemas.microsoft.com/office/powerpoint/2010/main" val="248243122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755576" y="980728"/>
            <a:ext cx="7408333" cy="4065315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ศาลรัฐธรรมนูญของประเทศไทยถูกจัดตั้งขึ้นครั้งแรกตามรัฐธรรมนูญแห่งราชอาณาจักรไทยพุทธศักราช 2540 โดยศาลดังกล่าวมีหน้าที่หลักในการควบคุมกฎหมายไม่ให้ขัดหรือแย้งกับรัฐธรรมนูญซึ่งคำว่ากฎหมายในที่นี้ได้แก่พระราชบัญญัติประกอบรัฐธรรมนูญพระราชบัญญัติพระราชกำหนดและ กฎหมายอื่นที่มีค่าระดับพระราชบัญญัติสำหรับอำนาจหน้าที่ดังกล่าวของศาลรัฐธรรมนูญมีรากฐานมาจากความคิดของ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ฮันส์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เคล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เซ่น(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Hans </a:t>
            </a:r>
            <a:r>
              <a:rPr lang="en-US" dirty="0" err="1">
                <a:latin typeface="Angsana New" pitchFamily="18" charset="-34"/>
                <a:cs typeface="Angsana New" pitchFamily="18" charset="-34"/>
              </a:rPr>
              <a:t>kelsen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) </a:t>
            </a:r>
            <a:r>
              <a:rPr lang="th-TH" dirty="0" err="1">
                <a:latin typeface="Angsana New" pitchFamily="18" charset="-34"/>
                <a:cs typeface="Angsana New" pitchFamily="18" charset="-34"/>
              </a:rPr>
              <a:t>เคล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เซ่น ให้ความสำคัญกับแนว ความคิดเรื่องลำดับศักดิ์แห่งกฎหมาย ซึ่งโดยทั่วไปถือว่ารัฐธรรมนูญลายลักษณ์อักษรมีสถานะสูงสุดเหนือกว่ากฎหมายระดับพระราชบัญญัติดังนั้นการควบคุมตรวจสอบโดยศาลรัฐธรรมนูญจึงมีความสำคัญในการรักษาไว้ซึ่งหลักความเป็นกฎหมายสูงสุดของรัฐธรรมนูญมีให้ถูกก้าวล่วงโดยกฎหมายที่มีศักดิ์สถานะต่ำกว่า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252728"/>
          </a:xfrm>
        </p:spPr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ศาลรัฐธรรมนูญ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255" y="4437112"/>
            <a:ext cx="3287812" cy="202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0513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2132856"/>
            <a:ext cx="7408333" cy="3993307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ศาลปกครองมีอำนาจพิจารณาพิพากษาคดีที่เป็นข้อพิพาทระหว่างราชการกับเอกชนซึ่งเป็น ข้อพิพาทอันเนื่องมาจากการกระทำหรือละเว้นการกระทำที่ต้องปฏิบัติตามกฎหมายหรือต้องรับผิดชอบในการพิบัติหน้าที่ตามที่กฎหมายบัญญัติ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ปัจจุบันศาลปกครองมี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2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ชั้นได้แก่   ศาลปกครองชั้นต้น   และศาลปกครองสูงสุด  (ศาลปกครองชั้นอุทธรณ์สามารถมีได้ตามรัฐธรรมนูญแต่ปัจจุบันประเทศไทยยังไม่มี)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ศาลปกครอง</a:t>
            </a:r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4221088"/>
            <a:ext cx="4010496" cy="206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527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052736"/>
            <a:ext cx="7408333" cy="5073427"/>
          </a:xfrm>
        </p:spPr>
        <p:txBody>
          <a:bodyPr/>
          <a:lstStyle/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ศาลปกครองชั้นต้น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ศาลปกครองชั้นต้น  ได้แก่ ศาลปกครองกลาง และศาลปกครองในภูมิภาค มาตรา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7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(/)พ.ร.บ.จัดตั้งศาลปกครองและวิธีพิจารณาคดีปกครองพ.ศ. 2542 จะมีตุลาการในศาล ปกครองชั้นต้นอย่างน้อยสามคนเป็นองค์คณะพิจารณาพิพากษามาตรา 52 วรรคสองพ.ร.บ.จัดตั้งศาลปกครองและวิธีพิจารณาคดีปกครองพ.ศ. 2542</a:t>
            </a:r>
          </a:p>
          <a:p>
            <a:pPr marL="0" indent="0">
              <a:buNone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ศาลปกครองสูงสุด</a:t>
            </a:r>
          </a:p>
          <a:p>
            <a:pPr marL="0" indent="0">
              <a:buNone/>
            </a:pPr>
            <a:r>
              <a:rPr lang="th-TH" b="1" dirty="0">
                <a:latin typeface="Angsana New" pitchFamily="18" charset="-34"/>
                <a:cs typeface="Angsana New" pitchFamily="18" charset="-34"/>
              </a:rPr>
              <a:t>	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ศาลปกครองสูงสุดมีเพียงแห่งเดียวตั้งอยู่ในกรุงเทพมหานคร มาตรา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7 (1)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พ.ร.บ. จัดตั้งศาลปกครองและวิธีพิจารณาคดีศาลปกครองพ.ศ. 2542 จะมีตุลาการในศาลปกครองสูงสุดอย่างน้อยห้าคนเป็นองค์คณะพิจารณาพิพากษา (มาตรา 54 วรรคแรก พ.ร.บ.จัดตั้งศาลปกครองและวิธีพิจารณาคดีปกครองพ.ศ. 2542)</a:t>
            </a:r>
          </a:p>
        </p:txBody>
      </p:sp>
    </p:spTree>
    <p:extLst>
      <p:ext uri="{BB962C8B-B14F-4D97-AF65-F5344CB8AC3E}">
        <p14:creationId xmlns:p14="http://schemas.microsoft.com/office/powerpoint/2010/main" val="208121345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908720"/>
            <a:ext cx="7408333" cy="5217443"/>
          </a:xfrm>
        </p:spPr>
        <p:txBody>
          <a:bodyPr/>
          <a:lstStyle/>
          <a:p>
            <a:pPr marL="0" indent="0">
              <a:buNone/>
            </a:pPr>
            <a:r>
              <a:rPr lang="th-TH" b="1" dirty="0">
                <a:latin typeface="Angsana New" pitchFamily="18" charset="-34"/>
                <a:cs typeface="Angsana New" pitchFamily="18" charset="-34"/>
              </a:rPr>
              <a:t>	อำนาจในการพิจารณาพิพากษาหรือมีคำสั่งของศาลปกครองมาตรา </a:t>
            </a:r>
            <a:r>
              <a:rPr lang="en-US" b="1" dirty="0">
                <a:latin typeface="Angsana New" pitchFamily="18" charset="-34"/>
                <a:cs typeface="Angsana New" pitchFamily="18" charset="-34"/>
              </a:rPr>
              <a:t>9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พ.ร.บ.จัดตั้งศาลปกครองและวิธีพิจารณาคดีศาลปกครองพ.ศ. 2542</a:t>
            </a:r>
          </a:p>
          <a:p>
            <a:pPr marL="0" indent="0">
              <a:buNone/>
            </a:pPr>
            <a:r>
              <a:rPr lang="en-US" b="1" dirty="0">
                <a:latin typeface="Angsana New" pitchFamily="18" charset="-34"/>
                <a:cs typeface="Angsana New" pitchFamily="18" charset="-34"/>
              </a:rPr>
              <a:t>1.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ดีพิพาทที่ทางราชการกระทำโดยไม่ชอบด้วยกฎหมายไม่ว่าจะเป็นการออกกฎคำสั่งหรือกระทำการอื่นใดโดยไม่มีอำนาจหรือนอกเหนืออำนาจหรือไม่ถูกต้องตามกฎหมายหรือรูปแบบขั้นตอนหรือวิธีการอันเป็นสาระสำคัญที่กำหนดไว้สำหรับการกระทำนั้นหรือกระทำโดยไม่สุจริตหรือหรือมีลักษณะเป็นการเลือกปฏิบัติที่ไม่ชอบธรรมหรือมีลักษณะเป็นสร้างขั้นตอนโดยไม่จำเป็นหรือสร้างภาระให้เกิดกับประชาชนเกินสมควรหรือ เป็นใช้ดุลพินิจโดยมิชอบ(มาตรา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9 (1)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พ.ร.บ.จัดตั้งศาลปกครองและวิธีพิจารณาคดีศาลปกครองพ.ศ. 2542) เช่น การใช้อำนาจขององค์กรปกครองส่วนท้องถิ่นโดยทั่วไปจะมีอำนาจจำกัดอยู่เฉพาะในเขตพื้นที่ของตนแต่หากองค์การบริหารส่วนท้องถิ่นแห่งหนึ่งใช้อำนาจวงเล็บ(ออกกฎ (ข้อบัญญัติต่างๆ) หรือ คำสั่งทางปกครองมีผลใช้บังคับในพื้นที่การปกครองขององค์กรปกครองส่วนท้องถิ่นนั้นย่อมเป็นการกระทำนอกเหนืออำนาจ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1260369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72067" y="1412776"/>
            <a:ext cx="7408333" cy="471338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2.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คดีพิพาทที่ทางราชการละเลยต่อหน้าที่ตามที่กฎหมายกำหนดให้ต้องปฏิบัติหรือปฏิบัติหน้าที่ดังกล่าวล่าช้าเกินสมควร(มาตรา9(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2)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พ.ร.บ. จัดตั้งศาลปกครองและวิธีพิจารณาคดีปกครองพ.ศ. 2542)  เช่น ตามกฎหมายแล้วหน่วยงานของรัฐมีหน้าที่รับจดทะเบียนนิติกรรมบางประเภทหากหน่วยงานของรัฐดังกล่าวรับคำขอจดทะเบียนเอาไว้แต่กลับไม่พิจารณาคำขอว่าสมควรดำเนินการจดทะเบียนให้หรือไม่ก็เป็นการละเลยต่อหน้าที่ตามกฎหมาย</a:t>
            </a:r>
          </a:p>
          <a:p>
            <a:pPr marL="0" indent="0">
              <a:buNone/>
            </a:pPr>
            <a:r>
              <a:rPr lang="en-US" dirty="0">
                <a:latin typeface="Angsana New" pitchFamily="18" charset="-34"/>
                <a:cs typeface="Angsana New" pitchFamily="18" charset="-34"/>
              </a:rPr>
              <a:t>3.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คดีพิพาทเกี่ยวกับการกระทำละเมิด หรือความรับผิดอย่างอื่นของทางราชการอันเกิดจากการใช้อำนาจตามกฎหมาย กฎ หรือคำสั่ง หรือจากการละเลยต่อหน้าที่ หรือปฏิบัติหน้าที่ล่าช้าเกินสมควร(มาตรา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9(3)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 พ.ร.บ.จัดตั้งศาลปกครองและวิธีพิจารณาคดีปกครอง พ.ศ. 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2542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171193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99592" y="836712"/>
            <a:ext cx="7408333" cy="5001419"/>
          </a:xfrm>
        </p:spPr>
        <p:txBody>
          <a:bodyPr/>
          <a:lstStyle/>
          <a:p>
            <a:r>
              <a:rPr lang="th-TH" dirty="0">
                <a:latin typeface="Angsana New" pitchFamily="18" charset="-34"/>
                <a:cs typeface="Angsana New" pitchFamily="18" charset="-34"/>
              </a:rPr>
              <a:t>4. คดีพิพาทเกี่ยวกับสัญญาทางปกครอง(มาตรา 9 (4) พ.ร.บ.จัดตั้งศาลปกครองและวิธีพิจารณาคดีปกครอง พ.ศ. 2542)  โดยสัญญาทางปกครองเป็นสัญญาที่คู่สัญญาอย่างน้อยฝ่ายหนึ่งต้องเป็นหน่วยงานทางปกครองหรือเป็นบุคคลซึ่งได้รับมอบหมายให้กระทำการแทนรัฐประเภทของสัญญาทางปกครอง</a:t>
            </a:r>
          </a:p>
          <a:p>
            <a:r>
              <a:rPr lang="en-US" dirty="0">
                <a:latin typeface="Angsana New" pitchFamily="18" charset="-34"/>
                <a:cs typeface="Angsana New" pitchFamily="18" charset="-34"/>
              </a:rPr>
              <a:t>5. 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คดีที่มีกฎหมายกำหนดให้ทางราชการฟ้องคดีต่อศาล เพื่อบังคับให้บุคคลต้องกระทำ หรือละเว้นการกระทำ(มาตรา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 9(5)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พ.ร.บ. จัดตั้งศาลปกครองและวิธีพิจารณาคดีปกครอง พ.ศ.</a:t>
            </a:r>
            <a:r>
              <a:rPr lang="en-US" dirty="0">
                <a:latin typeface="Angsana New" pitchFamily="18" charset="-34"/>
                <a:cs typeface="Angsana New" pitchFamily="18" charset="-34"/>
              </a:rPr>
              <a:t>2542</a:t>
            </a:r>
            <a:r>
              <a:rPr lang="th-TH" dirty="0">
                <a:latin typeface="Angsana New" pitchFamily="18" charset="-34"/>
                <a:cs typeface="Angsana New" pitchFamily="18" charset="-34"/>
              </a:rPr>
              <a:t>)</a:t>
            </a:r>
          </a:p>
          <a:p>
            <a:endParaRPr lang="th-TH" dirty="0"/>
          </a:p>
        </p:txBody>
      </p:sp>
      <p:pic>
        <p:nvPicPr>
          <p:cNvPr id="4" name="รูปภาพ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501008"/>
            <a:ext cx="4032448" cy="302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6240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/>
          <p:cNvSpPr>
            <a:spLocks noGrp="1"/>
          </p:cNvSpPr>
          <p:nvPr>
            <p:ph idx="1"/>
          </p:nvPr>
        </p:nvSpPr>
        <p:spPr>
          <a:xfrm>
            <a:off x="827584" y="1988840"/>
            <a:ext cx="7408333" cy="435334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การดำเนินการเกี่ยวกับวินัยทหาร</a:t>
            </a:r>
          </a:p>
          <a:p>
            <a:pPr marL="457200" indent="-457200">
              <a:buAutoNum type="arabicPeriod"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การดำเนินการของคณะกรรมการตุลาการตามกฎหมายว่าด้วยระเบียบข้าราชการฝ่ายตุลาการ</a:t>
            </a:r>
          </a:p>
          <a:p>
            <a:pPr marL="457200" indent="-457200">
              <a:buAutoNum type="arabicPeriod"/>
            </a:pPr>
            <a:r>
              <a:rPr lang="th-TH" dirty="0">
                <a:latin typeface="Angsana New" pitchFamily="18" charset="-34"/>
                <a:cs typeface="Angsana New" pitchFamily="18" charset="-34"/>
              </a:rPr>
              <a:t>คดีที่อยู่ในอำนาจของศาลเยาวชนและครอบครัว ศาลแรงงาน ศาลภาษีอากร ศาลทรัพย์สินทางปัญญาและการค้าระหว่างประเทศ ศาลล้มละลาย หรือศาลชำนาญพิเศษอื่น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>
                <a:latin typeface="Angsana New" pitchFamily="18" charset="-34"/>
                <a:cs typeface="Angsana New" pitchFamily="18" charset="-34"/>
              </a:rPr>
              <a:t>เรื่องที่ไม่อยู่ในอำนาจของศาลปกครอง</a:t>
            </a:r>
          </a:p>
        </p:txBody>
      </p:sp>
    </p:spTree>
    <p:extLst>
      <p:ext uri="{BB962C8B-B14F-4D97-AF65-F5344CB8AC3E}">
        <p14:creationId xmlns:p14="http://schemas.microsoft.com/office/powerpoint/2010/main" val="2738048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รูปคลื่น">
  <a:themeElements>
    <a:clrScheme name="รูปคลื่น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รูปคลื่น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รูปคลื่น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653</TotalTime>
  <Words>9325</Words>
  <Application>Microsoft Office PowerPoint</Application>
  <PresentationFormat>On-screen Show (4:3)</PresentationFormat>
  <Paragraphs>611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8" baseType="lpstr">
      <vt:lpstr>Angsana New</vt:lpstr>
      <vt:lpstr>Arial</vt:lpstr>
      <vt:lpstr>Candara</vt:lpstr>
      <vt:lpstr>KodchiangUPC</vt:lpstr>
      <vt:lpstr>Symbol</vt:lpstr>
      <vt:lpstr>รูปคลื่น</vt:lpstr>
      <vt:lpstr>PowerPoint Presentation</vt:lpstr>
      <vt:lpstr>ผู้ช่วยศาสตราจารย์ พ.ต.ต.ดร.สมดุลย์  ดำทองสุก </vt:lpstr>
      <vt:lpstr>PowerPoint Presentation</vt:lpstr>
      <vt:lpstr>บทที่5 กฎหมายว่าด้วยการทะเบียนราษฎร </vt:lpstr>
      <vt:lpstr>กฎหมายว่าด้วยการทะเบียนราษฎร</vt:lpstr>
      <vt:lpstr>การแจ้งเกิด</vt:lpstr>
      <vt:lpstr>PowerPoint Presentation</vt:lpstr>
      <vt:lpstr>PowerPoint Presentation</vt:lpstr>
      <vt:lpstr>PowerPoint Presentation</vt:lpstr>
      <vt:lpstr> สรุปหลักเกณฑ์ในการแจ้งเกิด </vt:lpstr>
      <vt:lpstr>PowerPoint Presentation</vt:lpstr>
      <vt:lpstr>PowerPoint Presentation</vt:lpstr>
      <vt:lpstr>PowerPoint Presentation</vt:lpstr>
      <vt:lpstr>การแจ้งตาย</vt:lpstr>
      <vt:lpstr>PowerPoint Presentation</vt:lpstr>
      <vt:lpstr>การย้ายที่อยู่ </vt:lpstr>
      <vt:lpstr>PowerPoint Presentation</vt:lpstr>
      <vt:lpstr>PowerPoint Presentation</vt:lpstr>
      <vt:lpstr>การแจ้งย้ายเข้าอยู่ในบ้าน</vt:lpstr>
      <vt:lpstr>PowerPoint Presentation</vt:lpstr>
      <vt:lpstr>PowerPoint Presentation</vt:lpstr>
      <vt:lpstr>การแจ้งย้ายที่อยู่ของคนที่ออกไปจากบ้านเป็นเวลานาน และไม่รู้ว่าอยู่ที่ใด</vt:lpstr>
      <vt:lpstr>การทะเบียนบ้าน</vt:lpstr>
      <vt:lpstr>ลักษณะของทะเบียนบ้าน</vt:lpstr>
      <vt:lpstr>เจ้าบ้านและการมอบหมาย </vt:lpstr>
      <vt:lpstr>การจำหน่ายชื่อและรายการบุคคลออกจากทะเบียนบ้าน </vt:lpstr>
      <vt:lpstr>บัตรประจำตัวประชาชน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ส่วนที่  3 กระบวนการยุติธรรมและระบบศาลไทย</vt:lpstr>
      <vt:lpstr>บทที่6 กระบวนการยุติธรรม </vt:lpstr>
      <vt:lpstr>กระบวนการยุติธรรม</vt:lpstr>
      <vt:lpstr>ความหมายของกระบวนการยุติธรรม </vt:lpstr>
      <vt:lpstr>กระบวนการยุติธรรมในทางอาญา</vt:lpstr>
      <vt:lpstr>กระบวนการยุติธรรมในทางแพ่ง</vt:lpstr>
      <vt:lpstr>สิทธิในกระบวนการยุติธรรม</vt:lpstr>
      <vt:lpstr>PowerPoint Presentation</vt:lpstr>
      <vt:lpstr>PowerPoint Presentation</vt:lpstr>
      <vt:lpstr>PowerPoint Presentation</vt:lpstr>
      <vt:lpstr>กระบวนการดำเนินงานขององค์กรในกระบวน การยุติธรรมทางอาญา</vt:lpstr>
      <vt:lpstr>PowerPoint Presentation</vt:lpstr>
      <vt:lpstr>หน่วยงานในกระบวนการยุติธรรม</vt:lpstr>
      <vt:lpstr>อำนาจหน้าที่ของตำรวจ </vt:lpstr>
      <vt:lpstr>หลักการปฏิบัติหน้าที่สากลของตำรวจ </vt:lpstr>
      <vt:lpstr>PowerPoint Presentation</vt:lpstr>
      <vt:lpstr>กระบวนการดำเนินงานของตำรวจ</vt:lpstr>
      <vt:lpstr>PowerPoint Presentation</vt:lpstr>
      <vt:lpstr>PowerPoint Presentation</vt:lpstr>
      <vt:lpstr>PowerPoint Presentation</vt:lpstr>
      <vt:lpstr>PowerPoint Presentation</vt:lpstr>
      <vt:lpstr>อัยการ</vt:lpstr>
      <vt:lpstr>อำนาจหน้าที่ </vt:lpstr>
      <vt:lpstr>PowerPoint Presentation</vt:lpstr>
      <vt:lpstr>PowerPoint Presentation</vt:lpstr>
      <vt:lpstr>กระบวนการดำเนินงานของอัยการ </vt:lpstr>
      <vt:lpstr>ศาล</vt:lpstr>
      <vt:lpstr>อำนาจหน้าที่</vt:lpstr>
      <vt:lpstr>กระบวนการดำเนินงานของศาล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คุมประพฤติ</vt:lpstr>
      <vt:lpstr>PowerPoint Presentation</vt:lpstr>
      <vt:lpstr>อำนาจหน้าที่</vt:lpstr>
      <vt:lpstr>PowerPoint Presentation</vt:lpstr>
      <vt:lpstr>ราชทัณฑ์</vt:lpstr>
      <vt:lpstr>อำนาจหน้าที่</vt:lpstr>
      <vt:lpstr>กระบวนการดำเนินงาน</vt:lpstr>
      <vt:lpstr>กรมสอบสวนคดีพิเศษ</vt:lpstr>
      <vt:lpstr>PowerPoint Presentation</vt:lpstr>
      <vt:lpstr>บทบาทและหน้าที่</vt:lpstr>
      <vt:lpstr>ลักษณะอาชญากรรมพิเศษ</vt:lpstr>
      <vt:lpstr>สำนักงานป้องกันและปราบปรามการฟอกเงิน (ป.ป.ง.)</vt:lpstr>
      <vt:lpstr>บทบาทและหน้าที่</vt:lpstr>
      <vt:lpstr>PowerPoint Presentation</vt:lpstr>
      <vt:lpstr>ความผิดมูลฐานตามกฎหมายการฟอกเงิน</vt:lpstr>
      <vt:lpstr>PowerPoint Presentation</vt:lpstr>
      <vt:lpstr>PowerPoint Presentation</vt:lpstr>
      <vt:lpstr>สำนักงานคณะกรรมการป้องกันและปราบปราม ยาเสพติด (ป.ป.ส.)</vt:lpstr>
      <vt:lpstr>บทบาทและหน้าที่</vt:lpstr>
      <vt:lpstr>PowerPoint Presentation</vt:lpstr>
      <vt:lpstr>PowerPoint Presentation</vt:lpstr>
      <vt:lpstr>PowerPoint Presentation</vt:lpstr>
      <vt:lpstr>สำนักงานคณะกรรมการป้องกันและปราบปรามการทุจริตแห่งชาติ (ป.ป.ช.)</vt:lpstr>
      <vt:lpstr>อำนาจและหน้าที่</vt:lpstr>
      <vt:lpstr>PowerPoint Presentation</vt:lpstr>
      <vt:lpstr>PowerPoint Presentation</vt:lpstr>
      <vt:lpstr>สำนักงานคณะกรรมการป้องกันและปราบปรามการทุจริตในภาครัฐ(ป.ป.ท.)</vt:lpstr>
      <vt:lpstr>PowerPoint Presentation</vt:lpstr>
      <vt:lpstr>บทบาทและหน้าที่</vt:lpstr>
      <vt:lpstr>สถาบันนิติวิทยาศาสตร์</vt:lpstr>
      <vt:lpstr>บทบาทและหน้าที่</vt:lpstr>
      <vt:lpstr>กรมคุ้มครองสิทธิและเสรีภาพ</vt:lpstr>
      <vt:lpstr>อำนาจหน้าที่</vt:lpstr>
      <vt:lpstr>PowerPoint Presentation</vt:lpstr>
      <vt:lpstr>กรมพินิจและคุ้มครองเด็กและเยาวชน</vt:lpstr>
      <vt:lpstr>บทบาทหน้าที่</vt:lpstr>
      <vt:lpstr>PowerPoint Presentation</vt:lpstr>
      <vt:lpstr>คณะกรรมการสิทธิมนุษยชนแห่งชาติ</vt:lpstr>
      <vt:lpstr>อำนาจหน้าที่</vt:lpstr>
      <vt:lpstr>กรมทรัพย์สินทางปัญญา</vt:lpstr>
      <vt:lpstr>PowerPoint Presentation</vt:lpstr>
      <vt:lpstr>บทบาทหน้าที่ </vt:lpstr>
      <vt:lpstr>PowerPoint Presentation</vt:lpstr>
      <vt:lpstr>กรมศุลกากร</vt:lpstr>
      <vt:lpstr> อำนาจหน้าที่ </vt:lpstr>
      <vt:lpstr>PowerPoint Presentation</vt:lpstr>
      <vt:lpstr>กรมสรรพสามิต </vt:lpstr>
      <vt:lpstr> บทบาทและหน้าที่</vt:lpstr>
      <vt:lpstr>บทที่ 7 ระบบศาลไทย</vt:lpstr>
      <vt:lpstr>ระบบศาลไทย</vt:lpstr>
      <vt:lpstr>ศาลไทยในปัจจุบัน</vt:lpstr>
      <vt:lpstr>ศาลยุติธรรม</vt:lpstr>
      <vt:lpstr>PowerPoint Presentation</vt:lpstr>
      <vt:lpstr>ศาลชั้นต้น</vt:lpstr>
      <vt:lpstr>PowerPoint Presentation</vt:lpstr>
      <vt:lpstr>PowerPoint Presentation</vt:lpstr>
      <vt:lpstr>ศาลอุทธรณ์</vt:lpstr>
      <vt:lpstr>ศาลฎีกา</vt:lpstr>
      <vt:lpstr>ศาลรัฐธรรมนูญ</vt:lpstr>
      <vt:lpstr>ศาลปกครอง</vt:lpstr>
      <vt:lpstr>PowerPoint Presentation</vt:lpstr>
      <vt:lpstr>PowerPoint Presentation</vt:lpstr>
      <vt:lpstr>PowerPoint Presentation</vt:lpstr>
      <vt:lpstr>PowerPoint Presentation</vt:lpstr>
      <vt:lpstr>เรื่องที่ไม่อยู่ในอำนาจของศาลปกครอง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บทที่5 กฎหมายว่าด้วยการทะเบียนราษฎร</dc:title>
  <dc:creator>son</dc:creator>
  <cp:lastModifiedBy>This PC</cp:lastModifiedBy>
  <cp:revision>65</cp:revision>
  <dcterms:created xsi:type="dcterms:W3CDTF">2018-06-04T06:29:39Z</dcterms:created>
  <dcterms:modified xsi:type="dcterms:W3CDTF">2018-06-11T16:40:58Z</dcterms:modified>
</cp:coreProperties>
</file>